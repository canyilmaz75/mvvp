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12192000" cy="6858000" type="wide"/>
  <p:notesSz cx="6858000" cy="9144000"/>
  <p:defaultTextStyle>
    <a:defPPr>
      <a:defRPr lang="de-DE">
        <a:latin typeface="Helvetica"/>
      </a:defRPr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E8E8EC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60" autoAdjust="0"/>
  </p:normalViewPr>
  <p:slideViewPr>
    <p:cSldViewPr>
      <p:cViewPr varScale="1">
        <p:scale>
          <a:sx n="100" d="100"/>
          <a:sy n="100" d="100"/>
        </p:scale>
        <p:origin x="0" y="0"/>
      </p:cViewPr>
      <p:guideLst/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AREVO 01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yout accent"/>
          <p:cNvSpPr/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3" name="Title Placeholder"/>
          <p:cNvSpPr>
            <a:spLocks noGrp="1"/>
          </p:cNvSpPr>
          <p:nvPr>
            <p:ph type="ctrTitle" idx="1"/>
          </p:nvPr>
        </p:nvSpPr>
        <p:spPr>
          <a:xfrm>
            <a:off x="685800" y="1828800"/>
            <a:ext cx="6583680" cy="731520"/>
          </a:xfrm>
          <a:prstGeom prst="rect">
            <a:avLst/>
          </a:prstGeom>
          <a:noFill/>
          <a:ln w="5080">
            <a:solidFill>
              <a:srgbClr val="E8E8EC"/>
            </a:solidFill>
          </a:ln>
        </p:spPr>
        <p:txBody>
          <a:bodyPr wrap="square" anchor="ctr" lIns="36576" rIns="36576" tIns="36576" bIns="36576"/>
          <a:lstStyle/>
          <a:p>
            <a:pPr algn="ctr"/>
            <a:r>
              <a:rPr lang="de-DE" sz="2200" dirty="0">
                <a:solidFill>
                  <a:srgbClr val="9B9BA8"/>
                </a:solidFill>
                <a:latin typeface="Helvetica"/>
              </a:rPr>
              <a:t>Cover Title</a:t>
            </a:r>
            <a:endParaRPr lang="de-DE" sz="2200" dirty="0">
              <a:solidFill>
                <a:srgbClr val="9B9BA8"/>
              </a:solidFill>
              <a:latin typeface="Helvetica"/>
            </a:endParaRPr>
          </a:p>
        </p:txBody>
      </p:sp>
      <p:sp>
        <p:nvSpPr>
          <p:cNvPr id="4" name="Subtitle Placeholder"/>
          <p:cNvSpPr>
            <a:spLocks noGrp="1"/>
          </p:cNvSpPr>
          <p:nvPr>
            <p:ph type="subTitle" idx="2"/>
          </p:nvPr>
        </p:nvSpPr>
        <p:spPr>
          <a:xfrm>
            <a:off x="685800" y="2697480"/>
            <a:ext cx="5669280" cy="411480"/>
          </a:xfrm>
          <a:prstGeom prst="rect">
            <a:avLst/>
          </a:prstGeom>
          <a:noFill/>
          <a:ln w="5080">
            <a:solidFill>
              <a:srgbClr val="E8E8EC"/>
            </a:solidFill>
          </a:ln>
        </p:spPr>
        <p:txBody>
          <a:bodyPr wrap="square" anchor="ctr" lIns="36576" rIns="36576" tIns="36576" bIns="36576"/>
          <a:lstStyle/>
          <a:p>
            <a:pPr algn="ctr"/>
            <a:r>
              <a:rPr lang="de-DE" sz="1200" dirty="0">
                <a:solidFill>
                  <a:srgbClr val="9B9BA8"/>
                </a:solidFill>
                <a:latin typeface="Helvetica"/>
              </a:rPr>
              <a:t>Subtitle</a:t>
            </a:r>
            <a:endParaRPr lang="de-DE" sz="1200" dirty="0">
              <a:solidFill>
                <a:srgbClr val="9B9BA8"/>
              </a:solidFill>
              <a:latin typeface="Helvetica"/>
            </a:endParaRPr>
          </a:p>
        </p:txBody>
      </p:sp>
      <p:sp>
        <p:nvSpPr>
          <p:cNvPr id="90" name="Layout label"/>
          <p:cNvSpPr txBox="1"/>
          <p:nvPr/>
        </p:nvSpPr>
        <p:spPr>
          <a:xfrm>
            <a:off x="566928" y="6510528"/>
            <a:ext cx="493776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lang="de-DE" sz="650" dirty="0">
                <a:solidFill>
                  <a:srgbClr val="9B9BA8"/>
                </a:solidFill>
                <a:latin typeface="Courier"/>
              </a:rPr>
              <a:t>CAREVO 01 Cover</a:t>
            </a:r>
            <a:endParaRPr lang="de-DE" sz="650" dirty="0">
              <a:solidFill>
                <a:srgbClr val="9B9BA8"/>
              </a:solidFill>
              <a:latin typeface="Courier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AREVO 02 Section Divider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yout accent"/>
          <p:cNvSpPr/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3" name="Section Title"/>
          <p:cNvSpPr>
            <a:spLocks noGrp="1"/>
          </p:cNvSpPr>
          <p:nvPr>
            <p:ph type="title" idx="1"/>
          </p:nvPr>
        </p:nvSpPr>
        <p:spPr>
          <a:xfrm>
            <a:off x="713232" y="1920240"/>
            <a:ext cx="7315200" cy="1097280"/>
          </a:xfrm>
          <a:prstGeom prst="rect">
            <a:avLst/>
          </a:prstGeom>
          <a:noFill/>
          <a:ln w="5080">
            <a:solidFill>
              <a:srgbClr val="E8E8EC"/>
            </a:solidFill>
          </a:ln>
        </p:spPr>
        <p:txBody>
          <a:bodyPr wrap="square" anchor="ctr" lIns="36576" rIns="36576" tIns="36576" bIns="36576"/>
          <a:lstStyle/>
          <a:p>
            <a:pPr algn="ctr"/>
            <a:r>
              <a:rPr lang="de-DE" sz="2600" dirty="0">
                <a:solidFill>
                  <a:srgbClr val="9B9BA8"/>
                </a:solidFill>
                <a:latin typeface="Helvetica"/>
              </a:rPr>
              <a:t>Section Divider</a:t>
            </a:r>
            <a:endParaRPr lang="de-DE" sz="2600" dirty="0">
              <a:solidFill>
                <a:srgbClr val="9B9BA8"/>
              </a:solidFill>
              <a:latin typeface="Helvetica"/>
            </a:endParaRPr>
          </a:p>
        </p:txBody>
      </p:sp>
      <p:sp>
        <p:nvSpPr>
          <p:cNvPr id="90" name="Layout label"/>
          <p:cNvSpPr txBox="1"/>
          <p:nvPr/>
        </p:nvSpPr>
        <p:spPr>
          <a:xfrm>
            <a:off x="566928" y="6510528"/>
            <a:ext cx="493776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lang="de-DE" sz="650" dirty="0">
                <a:solidFill>
                  <a:srgbClr val="9B9BA8"/>
                </a:solidFill>
                <a:latin typeface="Courier"/>
              </a:rPr>
              <a:t>CAREVO 02 Section Divider</a:t>
            </a:r>
            <a:endParaRPr lang="de-DE" sz="650" dirty="0">
              <a:solidFill>
                <a:srgbClr val="9B9BA8"/>
              </a:solidFill>
              <a:latin typeface="Courier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AREVO 03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yout accent"/>
          <p:cNvSpPr/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3" name="Headline"/>
          <p:cNvSpPr>
            <a:spLocks noGrp="1"/>
          </p:cNvSpPr>
          <p:nvPr>
            <p:ph type="title" idx="1"/>
          </p:nvPr>
        </p:nvSpPr>
        <p:spPr>
          <a:xfrm>
            <a:off x="566928" y="749808"/>
            <a:ext cx="9692640" cy="530352"/>
          </a:xfrm>
          <a:prstGeom prst="rect">
            <a:avLst/>
          </a:prstGeom>
          <a:noFill/>
          <a:ln w="5080">
            <a:solidFill>
              <a:srgbClr val="E8E8EC"/>
            </a:solidFill>
          </a:ln>
        </p:spPr>
        <p:txBody>
          <a:bodyPr wrap="square" anchor="ctr" lIns="36576" rIns="36576" tIns="36576" bIns="36576"/>
          <a:lstStyle/>
          <a:p>
            <a:pPr algn="ctr"/>
            <a:r>
              <a:rPr lang="de-DE" sz="1600" dirty="0">
                <a:solidFill>
                  <a:srgbClr val="9B9BA8"/>
                </a:solidFill>
                <a:latin typeface="Helvetica"/>
              </a:rPr>
              <a:t>Slide Headline</a:t>
            </a:r>
            <a:endParaRPr lang="de-DE" sz="1600" dirty="0">
              <a:solidFill>
                <a:srgbClr val="9B9BA8"/>
              </a:solidFill>
              <a:latin typeface="Helvetica"/>
            </a:endParaRPr>
          </a:p>
        </p:txBody>
      </p:sp>
      <p:sp>
        <p:nvSpPr>
          <p:cNvPr id="4" name="Big Message"/>
          <p:cNvSpPr>
            <a:spLocks noGrp="1"/>
          </p:cNvSpPr>
          <p:nvPr>
            <p:ph type="body" idx="2"/>
          </p:nvPr>
        </p:nvSpPr>
        <p:spPr>
          <a:xfrm>
            <a:off x="749808" y="1600200"/>
            <a:ext cx="5760720" cy="1280160"/>
          </a:xfrm>
          <a:prstGeom prst="rect">
            <a:avLst/>
          </a:prstGeom>
          <a:noFill/>
          <a:ln w="5080">
            <a:solidFill>
              <a:srgbClr val="E8E8EC"/>
            </a:solidFill>
          </a:ln>
        </p:spPr>
        <p:txBody>
          <a:bodyPr wrap="square" anchor="ctr" lIns="36576" rIns="36576" tIns="36576" bIns="36576"/>
          <a:lstStyle/>
          <a:p>
            <a:pPr algn="ctr"/>
            <a:r>
              <a:rPr lang="de-DE" sz="1800" dirty="0">
                <a:solidFill>
                  <a:srgbClr val="9B9BA8"/>
                </a:solidFill>
                <a:latin typeface="Helvetica"/>
              </a:rPr>
              <a:t>Key message</a:t>
            </a:r>
            <a:endParaRPr lang="de-DE" sz="1800" dirty="0">
              <a:solidFill>
                <a:srgbClr val="9B9BA8"/>
              </a:solidFill>
              <a:latin typeface="Helvetica"/>
            </a:endParaRPr>
          </a:p>
        </p:txBody>
      </p:sp>
      <p:sp>
        <p:nvSpPr>
          <p:cNvPr id="5" name="Support"/>
          <p:cNvSpPr>
            <a:spLocks noGrp="1"/>
          </p:cNvSpPr>
          <p:nvPr>
            <p:ph type="body" idx="3"/>
          </p:nvPr>
        </p:nvSpPr>
        <p:spPr>
          <a:xfrm>
            <a:off x="6903720" y="1600200"/>
            <a:ext cx="3474720" cy="2011680"/>
          </a:xfrm>
          <a:prstGeom prst="rect">
            <a:avLst/>
          </a:prstGeom>
          <a:noFill/>
          <a:ln w="5080">
            <a:solidFill>
              <a:srgbClr val="E8E8EC"/>
            </a:solidFill>
          </a:ln>
        </p:spPr>
        <p:txBody>
          <a:bodyPr wrap="square" anchor="ctr" lIns="36576" rIns="36576" tIns="36576" bIns="36576"/>
          <a:lstStyle/>
          <a:p>
            <a:pPr algn="ctr"/>
            <a:r>
              <a:rPr lang="de-DE" sz="1200" dirty="0">
                <a:solidFill>
                  <a:srgbClr val="9B9BA8"/>
                </a:solidFill>
                <a:latin typeface="Helvetica"/>
              </a:rPr>
              <a:t>Supporting proof</a:t>
            </a:r>
            <a:endParaRPr lang="de-DE" sz="1200" dirty="0">
              <a:solidFill>
                <a:srgbClr val="9B9BA8"/>
              </a:solidFill>
              <a:latin typeface="Helvetica"/>
            </a:endParaRPr>
          </a:p>
        </p:txBody>
      </p:sp>
      <p:sp>
        <p:nvSpPr>
          <p:cNvPr id="90" name="Layout label"/>
          <p:cNvSpPr txBox="1"/>
          <p:nvPr/>
        </p:nvSpPr>
        <p:spPr>
          <a:xfrm>
            <a:off x="566928" y="6510528"/>
            <a:ext cx="493776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lang="de-DE" sz="650" dirty="0">
                <a:solidFill>
                  <a:srgbClr val="9B9BA8"/>
                </a:solidFill>
                <a:latin typeface="Courier"/>
              </a:rPr>
              <a:t>CAREVO 03 Executive Summary</a:t>
            </a:r>
            <a:endParaRPr lang="de-DE" sz="650" dirty="0">
              <a:solidFill>
                <a:srgbClr val="9B9BA8"/>
              </a:solidFill>
              <a:latin typeface="Courier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AREVO 04 Statement / Big Numb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yout accent"/>
          <p:cNvSpPr/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3" name="Headline"/>
          <p:cNvSpPr>
            <a:spLocks noGrp="1"/>
          </p:cNvSpPr>
          <p:nvPr>
            <p:ph type="title" idx="1"/>
          </p:nvPr>
        </p:nvSpPr>
        <p:spPr>
          <a:xfrm>
            <a:off x="566928" y="749808"/>
            <a:ext cx="9692640" cy="530352"/>
          </a:xfrm>
          <a:prstGeom prst="rect">
            <a:avLst/>
          </a:prstGeom>
          <a:noFill/>
          <a:ln w="5080">
            <a:solidFill>
              <a:srgbClr val="E8E8EC"/>
            </a:solidFill>
          </a:ln>
        </p:spPr>
        <p:txBody>
          <a:bodyPr wrap="square" anchor="ctr" lIns="36576" rIns="36576" tIns="36576" bIns="36576"/>
          <a:lstStyle/>
          <a:p>
            <a:pPr algn="ctr"/>
            <a:r>
              <a:rPr lang="de-DE" sz="1600" dirty="0">
                <a:solidFill>
                  <a:srgbClr val="9B9BA8"/>
                </a:solidFill>
                <a:latin typeface="Helvetica"/>
              </a:rPr>
              <a:t>Slide Headline</a:t>
            </a:r>
            <a:endParaRPr lang="de-DE" sz="1600" dirty="0">
              <a:solidFill>
                <a:srgbClr val="9B9BA8"/>
              </a:solidFill>
              <a:latin typeface="Helvetica"/>
            </a:endParaRPr>
          </a:p>
        </p:txBody>
      </p:sp>
      <p:sp>
        <p:nvSpPr>
          <p:cNvPr id="4" name="Big Message"/>
          <p:cNvSpPr>
            <a:spLocks noGrp="1"/>
          </p:cNvSpPr>
          <p:nvPr>
            <p:ph type="body" idx="2"/>
          </p:nvPr>
        </p:nvSpPr>
        <p:spPr>
          <a:xfrm>
            <a:off x="749808" y="1600200"/>
            <a:ext cx="5760720" cy="1280160"/>
          </a:xfrm>
          <a:prstGeom prst="rect">
            <a:avLst/>
          </a:prstGeom>
          <a:noFill/>
          <a:ln w="5080">
            <a:solidFill>
              <a:srgbClr val="E8E8EC"/>
            </a:solidFill>
          </a:ln>
        </p:spPr>
        <p:txBody>
          <a:bodyPr wrap="square" anchor="ctr" lIns="36576" rIns="36576" tIns="36576" bIns="36576"/>
          <a:lstStyle/>
          <a:p>
            <a:pPr algn="ctr"/>
            <a:r>
              <a:rPr lang="de-DE" sz="1800" dirty="0">
                <a:solidFill>
                  <a:srgbClr val="9B9BA8"/>
                </a:solidFill>
                <a:latin typeface="Helvetica"/>
              </a:rPr>
              <a:t>Key message</a:t>
            </a:r>
            <a:endParaRPr lang="de-DE" sz="1800" dirty="0">
              <a:solidFill>
                <a:srgbClr val="9B9BA8"/>
              </a:solidFill>
              <a:latin typeface="Helvetica"/>
            </a:endParaRPr>
          </a:p>
        </p:txBody>
      </p:sp>
      <p:sp>
        <p:nvSpPr>
          <p:cNvPr id="5" name="Support"/>
          <p:cNvSpPr>
            <a:spLocks noGrp="1"/>
          </p:cNvSpPr>
          <p:nvPr>
            <p:ph type="body" idx="3"/>
          </p:nvPr>
        </p:nvSpPr>
        <p:spPr>
          <a:xfrm>
            <a:off x="6903720" y="1600200"/>
            <a:ext cx="3474720" cy="2011680"/>
          </a:xfrm>
          <a:prstGeom prst="rect">
            <a:avLst/>
          </a:prstGeom>
          <a:noFill/>
          <a:ln w="5080">
            <a:solidFill>
              <a:srgbClr val="E8E8EC"/>
            </a:solidFill>
          </a:ln>
        </p:spPr>
        <p:txBody>
          <a:bodyPr wrap="square" anchor="ctr" lIns="36576" rIns="36576" tIns="36576" bIns="36576"/>
          <a:lstStyle/>
          <a:p>
            <a:pPr algn="ctr"/>
            <a:r>
              <a:rPr lang="de-DE" sz="1200" dirty="0">
                <a:solidFill>
                  <a:srgbClr val="9B9BA8"/>
                </a:solidFill>
                <a:latin typeface="Helvetica"/>
              </a:rPr>
              <a:t>Supporting proof</a:t>
            </a:r>
            <a:endParaRPr lang="de-DE" sz="1200" dirty="0">
              <a:solidFill>
                <a:srgbClr val="9B9BA8"/>
              </a:solidFill>
              <a:latin typeface="Helvetica"/>
            </a:endParaRPr>
          </a:p>
        </p:txBody>
      </p:sp>
      <p:sp>
        <p:nvSpPr>
          <p:cNvPr id="90" name="Layout label"/>
          <p:cNvSpPr txBox="1"/>
          <p:nvPr/>
        </p:nvSpPr>
        <p:spPr>
          <a:xfrm>
            <a:off x="566928" y="6510528"/>
            <a:ext cx="493776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lang="de-DE" sz="650" dirty="0">
                <a:solidFill>
                  <a:srgbClr val="9B9BA8"/>
                </a:solidFill>
                <a:latin typeface="Courier"/>
              </a:rPr>
              <a:t>CAREVO 04 Statement / Big Number</a:t>
            </a:r>
            <a:endParaRPr lang="de-DE" sz="650" dirty="0">
              <a:solidFill>
                <a:srgbClr val="9B9BA8"/>
              </a:solidFill>
              <a:latin typeface="Courier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AREVO 05 Two-Column Analysi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yout accent"/>
          <p:cNvSpPr/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3" name="Headline"/>
          <p:cNvSpPr>
            <a:spLocks noGrp="1"/>
          </p:cNvSpPr>
          <p:nvPr>
            <p:ph type="title" idx="1"/>
          </p:nvPr>
        </p:nvSpPr>
        <p:spPr>
          <a:xfrm>
            <a:off x="566928" y="749808"/>
            <a:ext cx="9692640" cy="530352"/>
          </a:xfrm>
          <a:prstGeom prst="rect">
            <a:avLst/>
          </a:prstGeom>
          <a:noFill/>
          <a:ln w="5080">
            <a:solidFill>
              <a:srgbClr val="E8E8EC"/>
            </a:solidFill>
          </a:ln>
        </p:spPr>
        <p:txBody>
          <a:bodyPr wrap="square" anchor="ctr" lIns="36576" rIns="36576" tIns="36576" bIns="36576"/>
          <a:lstStyle/>
          <a:p>
            <a:pPr algn="ctr"/>
            <a:r>
              <a:rPr lang="de-DE" sz="1600" dirty="0">
                <a:solidFill>
                  <a:srgbClr val="9B9BA8"/>
                </a:solidFill>
                <a:latin typeface="Helvetica"/>
              </a:rPr>
              <a:t>Slide Headline</a:t>
            </a:r>
            <a:endParaRPr lang="de-DE" sz="1600" dirty="0">
              <a:solidFill>
                <a:srgbClr val="9B9BA8"/>
              </a:solidFill>
              <a:latin typeface="Helvetica"/>
            </a:endParaRPr>
          </a:p>
        </p:txBody>
      </p:sp>
      <p:sp>
        <p:nvSpPr>
          <p:cNvPr id="4" name="Left Content"/>
          <p:cNvSpPr>
            <a:spLocks noGrp="1"/>
          </p:cNvSpPr>
          <p:nvPr>
            <p:ph type="body" idx="2"/>
          </p:nvPr>
        </p:nvSpPr>
        <p:spPr>
          <a:xfrm>
            <a:off x="749808" y="1554480"/>
            <a:ext cx="4663440" cy="3474720"/>
          </a:xfrm>
          <a:prstGeom prst="rect">
            <a:avLst/>
          </a:prstGeom>
          <a:noFill/>
          <a:ln w="5080">
            <a:solidFill>
              <a:srgbClr val="E8E8EC"/>
            </a:solidFill>
          </a:ln>
        </p:spPr>
        <p:txBody>
          <a:bodyPr wrap="square" anchor="ctr" lIns="36576" rIns="36576" tIns="36576" bIns="36576"/>
          <a:lstStyle/>
          <a:p>
            <a:pPr algn="ctr"/>
            <a:r>
              <a:rPr lang="de-DE" sz="1200" dirty="0">
                <a:solidFill>
                  <a:srgbClr val="9B9BA8"/>
                </a:solidFill>
                <a:latin typeface="Helvetica"/>
              </a:rPr>
              <a:t>Left content</a:t>
            </a:r>
            <a:endParaRPr lang="de-DE" sz="1200" dirty="0">
              <a:solidFill>
                <a:srgbClr val="9B9BA8"/>
              </a:solidFill>
              <a:latin typeface="Helvetica"/>
            </a:endParaRPr>
          </a:p>
        </p:txBody>
      </p:sp>
      <p:sp>
        <p:nvSpPr>
          <p:cNvPr id="5" name="Right Content"/>
          <p:cNvSpPr>
            <a:spLocks noGrp="1"/>
          </p:cNvSpPr>
          <p:nvPr>
            <p:ph type="body" idx="3"/>
          </p:nvPr>
        </p:nvSpPr>
        <p:spPr>
          <a:xfrm>
            <a:off x="5806440" y="1554480"/>
            <a:ext cx="4663440" cy="3474720"/>
          </a:xfrm>
          <a:prstGeom prst="rect">
            <a:avLst/>
          </a:prstGeom>
          <a:noFill/>
          <a:ln w="5080">
            <a:solidFill>
              <a:srgbClr val="E8E8EC"/>
            </a:solidFill>
          </a:ln>
        </p:spPr>
        <p:txBody>
          <a:bodyPr wrap="square" anchor="ctr" lIns="36576" rIns="36576" tIns="36576" bIns="36576"/>
          <a:lstStyle/>
          <a:p>
            <a:pPr algn="ctr"/>
            <a:r>
              <a:rPr lang="de-DE" sz="1200" dirty="0">
                <a:solidFill>
                  <a:srgbClr val="9B9BA8"/>
                </a:solidFill>
                <a:latin typeface="Helvetica"/>
              </a:rPr>
              <a:t>Right content</a:t>
            </a:r>
            <a:endParaRPr lang="de-DE" sz="1200" dirty="0">
              <a:solidFill>
                <a:srgbClr val="9B9BA8"/>
              </a:solidFill>
              <a:latin typeface="Helvetica"/>
            </a:endParaRPr>
          </a:p>
        </p:txBody>
      </p:sp>
      <p:sp>
        <p:nvSpPr>
          <p:cNvPr id="90" name="Layout label"/>
          <p:cNvSpPr txBox="1"/>
          <p:nvPr/>
        </p:nvSpPr>
        <p:spPr>
          <a:xfrm>
            <a:off x="566928" y="6510528"/>
            <a:ext cx="493776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lang="de-DE" sz="650" dirty="0">
                <a:solidFill>
                  <a:srgbClr val="9B9BA8"/>
                </a:solidFill>
                <a:latin typeface="Courier"/>
              </a:rPr>
              <a:t>CAREVO 05 Two-Column Analysis</a:t>
            </a:r>
            <a:endParaRPr lang="de-DE" sz="650" dirty="0">
              <a:solidFill>
                <a:srgbClr val="9B9BA8"/>
              </a:solidFill>
              <a:latin typeface="Courier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AREVO 06 Three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yout accent"/>
          <p:cNvSpPr/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3" name="Headline"/>
          <p:cNvSpPr>
            <a:spLocks noGrp="1"/>
          </p:cNvSpPr>
          <p:nvPr>
            <p:ph type="title" idx="1"/>
          </p:nvPr>
        </p:nvSpPr>
        <p:spPr>
          <a:xfrm>
            <a:off x="566928" y="749808"/>
            <a:ext cx="9692640" cy="530352"/>
          </a:xfrm>
          <a:prstGeom prst="rect">
            <a:avLst/>
          </a:prstGeom>
          <a:noFill/>
          <a:ln w="5080">
            <a:solidFill>
              <a:srgbClr val="E8E8EC"/>
            </a:solidFill>
          </a:ln>
        </p:spPr>
        <p:txBody>
          <a:bodyPr wrap="square" anchor="ctr" lIns="36576" rIns="36576" tIns="36576" bIns="36576"/>
          <a:lstStyle/>
          <a:p>
            <a:pPr algn="ctr"/>
            <a:r>
              <a:rPr lang="de-DE" sz="1600" dirty="0">
                <a:solidFill>
                  <a:srgbClr val="9B9BA8"/>
                </a:solidFill>
                <a:latin typeface="Helvetica"/>
              </a:rPr>
              <a:t>Slide Headline</a:t>
            </a:r>
            <a:endParaRPr lang="de-DE" sz="1600" dirty="0">
              <a:solidFill>
                <a:srgbClr val="9B9BA8"/>
              </a:solidFill>
              <a:latin typeface="Helvetica"/>
            </a:endParaRPr>
          </a:p>
        </p:txBody>
      </p:sp>
      <p:sp>
        <p:nvSpPr>
          <p:cNvPr id="4" name="Card 1"/>
          <p:cNvSpPr>
            <a:spLocks noGrp="1"/>
          </p:cNvSpPr>
          <p:nvPr>
            <p:ph type="body" idx="2"/>
          </p:nvPr>
        </p:nvSpPr>
        <p:spPr>
          <a:xfrm>
            <a:off x="749808" y="1627632"/>
            <a:ext cx="2743200" cy="960120"/>
          </a:xfrm>
          <a:prstGeom prst="rect">
            <a:avLst/>
          </a:prstGeom>
          <a:noFill/>
          <a:ln w="5080">
            <a:solidFill>
              <a:srgbClr val="E8E8EC"/>
            </a:solidFill>
          </a:ln>
        </p:spPr>
        <p:txBody>
          <a:bodyPr wrap="square" anchor="ctr" lIns="36576" rIns="36576" tIns="36576" bIns="36576"/>
          <a:lstStyle/>
          <a:p>
            <a:pPr algn="ctr"/>
            <a:r>
              <a:rPr lang="de-DE" sz="1000" dirty="0">
                <a:solidFill>
                  <a:srgbClr val="9B9BA8"/>
                </a:solidFill>
                <a:latin typeface="Helvetica"/>
              </a:rPr>
              <a:t>Card 1</a:t>
            </a:r>
            <a:endParaRPr lang="de-DE" sz="1000" dirty="0">
              <a:solidFill>
                <a:srgbClr val="9B9BA8"/>
              </a:solidFill>
              <a:latin typeface="Helvetica"/>
            </a:endParaRPr>
          </a:p>
        </p:txBody>
      </p:sp>
      <p:sp>
        <p:nvSpPr>
          <p:cNvPr id="5" name="Card 2"/>
          <p:cNvSpPr>
            <a:spLocks noGrp="1"/>
          </p:cNvSpPr>
          <p:nvPr>
            <p:ph type="body" idx="3"/>
          </p:nvPr>
        </p:nvSpPr>
        <p:spPr>
          <a:xfrm>
            <a:off x="3904488" y="1627632"/>
            <a:ext cx="2743200" cy="960120"/>
          </a:xfrm>
          <a:prstGeom prst="rect">
            <a:avLst/>
          </a:prstGeom>
          <a:noFill/>
          <a:ln w="5080">
            <a:solidFill>
              <a:srgbClr val="E8E8EC"/>
            </a:solidFill>
          </a:ln>
        </p:spPr>
        <p:txBody>
          <a:bodyPr wrap="square" anchor="ctr" lIns="36576" rIns="36576" tIns="36576" bIns="36576"/>
          <a:lstStyle/>
          <a:p>
            <a:pPr algn="ctr"/>
            <a:r>
              <a:rPr lang="de-DE" sz="1000" dirty="0">
                <a:solidFill>
                  <a:srgbClr val="9B9BA8"/>
                </a:solidFill>
                <a:latin typeface="Helvetica"/>
              </a:rPr>
              <a:t>Card 2</a:t>
            </a:r>
            <a:endParaRPr lang="de-DE" sz="1000" dirty="0">
              <a:solidFill>
                <a:srgbClr val="9B9BA8"/>
              </a:solidFill>
              <a:latin typeface="Helvetica"/>
            </a:endParaRPr>
          </a:p>
        </p:txBody>
      </p:sp>
      <p:sp>
        <p:nvSpPr>
          <p:cNvPr id="6" name="Card 3"/>
          <p:cNvSpPr>
            <a:spLocks noGrp="1"/>
          </p:cNvSpPr>
          <p:nvPr>
            <p:ph type="body" idx="4"/>
          </p:nvPr>
        </p:nvSpPr>
        <p:spPr>
          <a:xfrm>
            <a:off x="7059168" y="1627632"/>
            <a:ext cx="2743200" cy="960120"/>
          </a:xfrm>
          <a:prstGeom prst="rect">
            <a:avLst/>
          </a:prstGeom>
          <a:noFill/>
          <a:ln w="5080">
            <a:solidFill>
              <a:srgbClr val="E8E8EC"/>
            </a:solidFill>
          </a:ln>
        </p:spPr>
        <p:txBody>
          <a:bodyPr wrap="square" anchor="ctr" lIns="36576" rIns="36576" tIns="36576" bIns="36576"/>
          <a:lstStyle/>
          <a:p>
            <a:pPr algn="ctr"/>
            <a:r>
              <a:rPr lang="de-DE" sz="1000" dirty="0">
                <a:solidFill>
                  <a:srgbClr val="9B9BA8"/>
                </a:solidFill>
                <a:latin typeface="Helvetica"/>
              </a:rPr>
              <a:t>Card 3</a:t>
            </a:r>
            <a:endParaRPr lang="de-DE" sz="1000" dirty="0">
              <a:solidFill>
                <a:srgbClr val="9B9BA8"/>
              </a:solidFill>
              <a:latin typeface="Helvetica"/>
            </a:endParaRPr>
          </a:p>
        </p:txBody>
      </p:sp>
      <p:sp>
        <p:nvSpPr>
          <p:cNvPr id="90" name="Layout label"/>
          <p:cNvSpPr txBox="1"/>
          <p:nvPr/>
        </p:nvSpPr>
        <p:spPr>
          <a:xfrm>
            <a:off x="566928" y="6510528"/>
            <a:ext cx="493776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lang="de-DE" sz="650" dirty="0">
                <a:solidFill>
                  <a:srgbClr val="9B9BA8"/>
                </a:solidFill>
                <a:latin typeface="Courier"/>
              </a:rPr>
              <a:t>CAREVO 06 Three-Column Cards</a:t>
            </a:r>
            <a:endParaRPr lang="de-DE" sz="650" dirty="0">
              <a:solidFill>
                <a:srgbClr val="9B9BA8"/>
              </a:solidFill>
              <a:latin typeface="Courier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AREVO 07 Data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yout accent"/>
          <p:cNvSpPr/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3" name="Headline"/>
          <p:cNvSpPr>
            <a:spLocks noGrp="1"/>
          </p:cNvSpPr>
          <p:nvPr>
            <p:ph type="title" idx="1"/>
          </p:nvPr>
        </p:nvSpPr>
        <p:spPr>
          <a:xfrm>
            <a:off x="566928" y="749808"/>
            <a:ext cx="9692640" cy="530352"/>
          </a:xfrm>
          <a:prstGeom prst="rect">
            <a:avLst/>
          </a:prstGeom>
          <a:noFill/>
          <a:ln w="5080">
            <a:solidFill>
              <a:srgbClr val="E8E8EC"/>
            </a:solidFill>
          </a:ln>
        </p:spPr>
        <p:txBody>
          <a:bodyPr wrap="square" anchor="ctr" lIns="36576" rIns="36576" tIns="36576" bIns="36576"/>
          <a:lstStyle/>
          <a:p>
            <a:pPr algn="ctr"/>
            <a:r>
              <a:rPr lang="de-DE" sz="1600" dirty="0">
                <a:solidFill>
                  <a:srgbClr val="9B9BA8"/>
                </a:solidFill>
                <a:latin typeface="Helvetica"/>
              </a:rPr>
              <a:t>Slide Headline</a:t>
            </a:r>
            <a:endParaRPr lang="de-DE" sz="1600" dirty="0">
              <a:solidFill>
                <a:srgbClr val="9B9BA8"/>
              </a:solidFill>
              <a:latin typeface="Helvetica"/>
            </a:endParaRPr>
          </a:p>
        </p:txBody>
      </p:sp>
      <p:sp>
        <p:nvSpPr>
          <p:cNvPr id="4" name="Data Area"/>
          <p:cNvSpPr>
            <a:spLocks noGrp="1"/>
          </p:cNvSpPr>
          <p:nvPr>
            <p:ph type="body" idx="2"/>
          </p:nvPr>
        </p:nvSpPr>
        <p:spPr>
          <a:xfrm>
            <a:off x="749808" y="1554480"/>
            <a:ext cx="9509760" cy="3840480"/>
          </a:xfrm>
          <a:prstGeom prst="rect">
            <a:avLst/>
          </a:prstGeom>
          <a:noFill/>
          <a:ln w="5080">
            <a:solidFill>
              <a:srgbClr val="E8E8EC"/>
            </a:solidFill>
          </a:ln>
        </p:spPr>
        <p:txBody>
          <a:bodyPr wrap="square" anchor="ctr" lIns="36576" rIns="36576" tIns="36576" bIns="36576"/>
          <a:lstStyle/>
          <a:p>
            <a:pPr algn="ctr"/>
            <a:r>
              <a:rPr lang="de-DE" sz="1200" dirty="0">
                <a:solidFill>
                  <a:srgbClr val="9B9BA8"/>
                </a:solidFill>
                <a:latin typeface="Helvetica"/>
              </a:rPr>
              <a:t>Chart / Table Area</a:t>
            </a:r>
            <a:endParaRPr lang="de-DE" sz="1200" dirty="0">
              <a:solidFill>
                <a:srgbClr val="9B9BA8"/>
              </a:solidFill>
              <a:latin typeface="Helvetica"/>
            </a:endParaRPr>
          </a:p>
        </p:txBody>
      </p:sp>
      <p:sp>
        <p:nvSpPr>
          <p:cNvPr id="90" name="Layout label"/>
          <p:cNvSpPr txBox="1"/>
          <p:nvPr/>
        </p:nvSpPr>
        <p:spPr>
          <a:xfrm>
            <a:off x="566928" y="6510528"/>
            <a:ext cx="493776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lang="de-DE" sz="650" dirty="0">
                <a:solidFill>
                  <a:srgbClr val="9B9BA8"/>
                </a:solidFill>
                <a:latin typeface="Courier"/>
              </a:rPr>
              <a:t>CAREVO 07 Data Chart</a:t>
            </a:r>
            <a:endParaRPr lang="de-DE" sz="650" dirty="0">
              <a:solidFill>
                <a:srgbClr val="9B9BA8"/>
              </a:solidFill>
              <a:latin typeface="Courier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AREVO 08 KPI Dashbo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yout accent"/>
          <p:cNvSpPr/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3" name="Headline"/>
          <p:cNvSpPr>
            <a:spLocks noGrp="1"/>
          </p:cNvSpPr>
          <p:nvPr>
            <p:ph type="title" idx="1"/>
          </p:nvPr>
        </p:nvSpPr>
        <p:spPr>
          <a:xfrm>
            <a:off x="566928" y="749808"/>
            <a:ext cx="9692640" cy="530352"/>
          </a:xfrm>
          <a:prstGeom prst="rect">
            <a:avLst/>
          </a:prstGeom>
          <a:noFill/>
          <a:ln w="5080">
            <a:solidFill>
              <a:srgbClr val="E8E8EC"/>
            </a:solidFill>
          </a:ln>
        </p:spPr>
        <p:txBody>
          <a:bodyPr wrap="square" anchor="ctr" lIns="36576" rIns="36576" tIns="36576" bIns="36576"/>
          <a:lstStyle/>
          <a:p>
            <a:pPr algn="ctr"/>
            <a:r>
              <a:rPr lang="de-DE" sz="1600" dirty="0">
                <a:solidFill>
                  <a:srgbClr val="9B9BA8"/>
                </a:solidFill>
                <a:latin typeface="Helvetica"/>
              </a:rPr>
              <a:t>Slide Headline</a:t>
            </a:r>
            <a:endParaRPr lang="de-DE" sz="1600" dirty="0">
              <a:solidFill>
                <a:srgbClr val="9B9BA8"/>
              </a:solidFill>
              <a:latin typeface="Helvetica"/>
            </a:endParaRPr>
          </a:p>
        </p:txBody>
      </p:sp>
      <p:sp>
        <p:nvSpPr>
          <p:cNvPr id="4" name="Card 1"/>
          <p:cNvSpPr>
            <a:spLocks noGrp="1"/>
          </p:cNvSpPr>
          <p:nvPr>
            <p:ph type="body" idx="2"/>
          </p:nvPr>
        </p:nvSpPr>
        <p:spPr>
          <a:xfrm>
            <a:off x="749808" y="1627632"/>
            <a:ext cx="2743200" cy="960120"/>
          </a:xfrm>
          <a:prstGeom prst="rect">
            <a:avLst/>
          </a:prstGeom>
          <a:noFill/>
          <a:ln w="5080">
            <a:solidFill>
              <a:srgbClr val="E8E8EC"/>
            </a:solidFill>
          </a:ln>
        </p:spPr>
        <p:txBody>
          <a:bodyPr wrap="square" anchor="ctr" lIns="36576" rIns="36576" tIns="36576" bIns="36576"/>
          <a:lstStyle/>
          <a:p>
            <a:pPr algn="ctr"/>
            <a:r>
              <a:rPr lang="de-DE" sz="1000" dirty="0">
                <a:solidFill>
                  <a:srgbClr val="9B9BA8"/>
                </a:solidFill>
                <a:latin typeface="Helvetica"/>
              </a:rPr>
              <a:t>Card 1</a:t>
            </a:r>
            <a:endParaRPr lang="de-DE" sz="1000" dirty="0">
              <a:solidFill>
                <a:srgbClr val="9B9BA8"/>
              </a:solidFill>
              <a:latin typeface="Helvetica"/>
            </a:endParaRPr>
          </a:p>
        </p:txBody>
      </p:sp>
      <p:sp>
        <p:nvSpPr>
          <p:cNvPr id="5" name="Card 2"/>
          <p:cNvSpPr>
            <a:spLocks noGrp="1"/>
          </p:cNvSpPr>
          <p:nvPr>
            <p:ph type="body" idx="3"/>
          </p:nvPr>
        </p:nvSpPr>
        <p:spPr>
          <a:xfrm>
            <a:off x="3904488" y="1627632"/>
            <a:ext cx="2743200" cy="960120"/>
          </a:xfrm>
          <a:prstGeom prst="rect">
            <a:avLst/>
          </a:prstGeom>
          <a:noFill/>
          <a:ln w="5080">
            <a:solidFill>
              <a:srgbClr val="E8E8EC"/>
            </a:solidFill>
          </a:ln>
        </p:spPr>
        <p:txBody>
          <a:bodyPr wrap="square" anchor="ctr" lIns="36576" rIns="36576" tIns="36576" bIns="36576"/>
          <a:lstStyle/>
          <a:p>
            <a:pPr algn="ctr"/>
            <a:r>
              <a:rPr lang="de-DE" sz="1000" dirty="0">
                <a:solidFill>
                  <a:srgbClr val="9B9BA8"/>
                </a:solidFill>
                <a:latin typeface="Helvetica"/>
              </a:rPr>
              <a:t>Card 2</a:t>
            </a:r>
            <a:endParaRPr lang="de-DE" sz="1000" dirty="0">
              <a:solidFill>
                <a:srgbClr val="9B9BA8"/>
              </a:solidFill>
              <a:latin typeface="Helvetica"/>
            </a:endParaRPr>
          </a:p>
        </p:txBody>
      </p:sp>
      <p:sp>
        <p:nvSpPr>
          <p:cNvPr id="6" name="Card 3"/>
          <p:cNvSpPr>
            <a:spLocks noGrp="1"/>
          </p:cNvSpPr>
          <p:nvPr>
            <p:ph type="body" idx="4"/>
          </p:nvPr>
        </p:nvSpPr>
        <p:spPr>
          <a:xfrm>
            <a:off x="7059168" y="1627632"/>
            <a:ext cx="2743200" cy="960120"/>
          </a:xfrm>
          <a:prstGeom prst="rect">
            <a:avLst/>
          </a:prstGeom>
          <a:noFill/>
          <a:ln w="5080">
            <a:solidFill>
              <a:srgbClr val="E8E8EC"/>
            </a:solidFill>
          </a:ln>
        </p:spPr>
        <p:txBody>
          <a:bodyPr wrap="square" anchor="ctr" lIns="36576" rIns="36576" tIns="36576" bIns="36576"/>
          <a:lstStyle/>
          <a:p>
            <a:pPr algn="ctr"/>
            <a:r>
              <a:rPr lang="de-DE" sz="1000" dirty="0">
                <a:solidFill>
                  <a:srgbClr val="9B9BA8"/>
                </a:solidFill>
                <a:latin typeface="Helvetica"/>
              </a:rPr>
              <a:t>Card 3</a:t>
            </a:r>
            <a:endParaRPr lang="de-DE" sz="1000" dirty="0">
              <a:solidFill>
                <a:srgbClr val="9B9BA8"/>
              </a:solidFill>
              <a:latin typeface="Helvetica"/>
            </a:endParaRPr>
          </a:p>
        </p:txBody>
      </p:sp>
      <p:sp>
        <p:nvSpPr>
          <p:cNvPr id="7" name="Card 4"/>
          <p:cNvSpPr>
            <a:spLocks noGrp="1"/>
          </p:cNvSpPr>
          <p:nvPr>
            <p:ph type="body" idx="5"/>
          </p:nvPr>
        </p:nvSpPr>
        <p:spPr>
          <a:xfrm>
            <a:off x="749808" y="2953512"/>
            <a:ext cx="2743200" cy="960120"/>
          </a:xfrm>
          <a:prstGeom prst="rect">
            <a:avLst/>
          </a:prstGeom>
          <a:noFill/>
          <a:ln w="5080">
            <a:solidFill>
              <a:srgbClr val="E8E8EC"/>
            </a:solidFill>
          </a:ln>
        </p:spPr>
        <p:txBody>
          <a:bodyPr wrap="square" anchor="ctr" lIns="36576" rIns="36576" tIns="36576" bIns="36576"/>
          <a:lstStyle/>
          <a:p>
            <a:pPr algn="ctr"/>
            <a:r>
              <a:rPr lang="de-DE" sz="1000" dirty="0">
                <a:solidFill>
                  <a:srgbClr val="9B9BA8"/>
                </a:solidFill>
                <a:latin typeface="Helvetica"/>
              </a:rPr>
              <a:t>Card 4</a:t>
            </a:r>
            <a:endParaRPr lang="de-DE" sz="1000" dirty="0">
              <a:solidFill>
                <a:srgbClr val="9B9BA8"/>
              </a:solidFill>
              <a:latin typeface="Helvetica"/>
            </a:endParaRPr>
          </a:p>
        </p:txBody>
      </p:sp>
      <p:sp>
        <p:nvSpPr>
          <p:cNvPr id="8" name="Card 5"/>
          <p:cNvSpPr>
            <a:spLocks noGrp="1"/>
          </p:cNvSpPr>
          <p:nvPr>
            <p:ph type="body" idx="6"/>
          </p:nvPr>
        </p:nvSpPr>
        <p:spPr>
          <a:xfrm>
            <a:off x="3904488" y="2953512"/>
            <a:ext cx="2743200" cy="960120"/>
          </a:xfrm>
          <a:prstGeom prst="rect">
            <a:avLst/>
          </a:prstGeom>
          <a:noFill/>
          <a:ln w="5080">
            <a:solidFill>
              <a:srgbClr val="E8E8EC"/>
            </a:solidFill>
          </a:ln>
        </p:spPr>
        <p:txBody>
          <a:bodyPr wrap="square" anchor="ctr" lIns="36576" rIns="36576" tIns="36576" bIns="36576"/>
          <a:lstStyle/>
          <a:p>
            <a:pPr algn="ctr"/>
            <a:r>
              <a:rPr lang="de-DE" sz="1000" dirty="0">
                <a:solidFill>
                  <a:srgbClr val="9B9BA8"/>
                </a:solidFill>
                <a:latin typeface="Helvetica"/>
              </a:rPr>
              <a:t>Card 5</a:t>
            </a:r>
            <a:endParaRPr lang="de-DE" sz="1000" dirty="0">
              <a:solidFill>
                <a:srgbClr val="9B9BA8"/>
              </a:solidFill>
              <a:latin typeface="Helvetica"/>
            </a:endParaRPr>
          </a:p>
        </p:txBody>
      </p:sp>
      <p:sp>
        <p:nvSpPr>
          <p:cNvPr id="9" name="Card 6"/>
          <p:cNvSpPr>
            <a:spLocks noGrp="1"/>
          </p:cNvSpPr>
          <p:nvPr>
            <p:ph type="body" idx="7"/>
          </p:nvPr>
        </p:nvSpPr>
        <p:spPr>
          <a:xfrm>
            <a:off x="7059168" y="2953512"/>
            <a:ext cx="2743200" cy="960120"/>
          </a:xfrm>
          <a:prstGeom prst="rect">
            <a:avLst/>
          </a:prstGeom>
          <a:noFill/>
          <a:ln w="5080">
            <a:solidFill>
              <a:srgbClr val="E8E8EC"/>
            </a:solidFill>
          </a:ln>
        </p:spPr>
        <p:txBody>
          <a:bodyPr wrap="square" anchor="ctr" lIns="36576" rIns="36576" tIns="36576" bIns="36576"/>
          <a:lstStyle/>
          <a:p>
            <a:pPr algn="ctr"/>
            <a:r>
              <a:rPr lang="de-DE" sz="1000" dirty="0">
                <a:solidFill>
                  <a:srgbClr val="9B9BA8"/>
                </a:solidFill>
                <a:latin typeface="Helvetica"/>
              </a:rPr>
              <a:t>Card 6</a:t>
            </a:r>
            <a:endParaRPr lang="de-DE" sz="1000" dirty="0">
              <a:solidFill>
                <a:srgbClr val="9B9BA8"/>
              </a:solidFill>
              <a:latin typeface="Helvetica"/>
            </a:endParaRPr>
          </a:p>
        </p:txBody>
      </p:sp>
      <p:sp>
        <p:nvSpPr>
          <p:cNvPr id="90" name="Layout label"/>
          <p:cNvSpPr txBox="1"/>
          <p:nvPr/>
        </p:nvSpPr>
        <p:spPr>
          <a:xfrm>
            <a:off x="566928" y="6510528"/>
            <a:ext cx="493776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lang="de-DE" sz="650" dirty="0">
                <a:solidFill>
                  <a:srgbClr val="9B9BA8"/>
                </a:solidFill>
                <a:latin typeface="Courier"/>
              </a:rPr>
              <a:t>CAREVO 08 KPI Dashboard</a:t>
            </a:r>
            <a:endParaRPr lang="de-DE" sz="650" dirty="0">
              <a:solidFill>
                <a:srgbClr val="9B9BA8"/>
              </a:solidFill>
              <a:latin typeface="Courier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AREVO 09 Table / Track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yout accent"/>
          <p:cNvSpPr/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3" name="Headline"/>
          <p:cNvSpPr>
            <a:spLocks noGrp="1"/>
          </p:cNvSpPr>
          <p:nvPr>
            <p:ph type="title" idx="1"/>
          </p:nvPr>
        </p:nvSpPr>
        <p:spPr>
          <a:xfrm>
            <a:off x="566928" y="749808"/>
            <a:ext cx="9692640" cy="530352"/>
          </a:xfrm>
          <a:prstGeom prst="rect">
            <a:avLst/>
          </a:prstGeom>
          <a:noFill/>
          <a:ln w="5080">
            <a:solidFill>
              <a:srgbClr val="E8E8EC"/>
            </a:solidFill>
          </a:ln>
        </p:spPr>
        <p:txBody>
          <a:bodyPr wrap="square" anchor="ctr" lIns="36576" rIns="36576" tIns="36576" bIns="36576"/>
          <a:lstStyle/>
          <a:p>
            <a:pPr algn="ctr"/>
            <a:r>
              <a:rPr lang="de-DE" sz="1600" dirty="0">
                <a:solidFill>
                  <a:srgbClr val="9B9BA8"/>
                </a:solidFill>
                <a:latin typeface="Helvetica"/>
              </a:rPr>
              <a:t>Slide Headline</a:t>
            </a:r>
            <a:endParaRPr lang="de-DE" sz="1600" dirty="0">
              <a:solidFill>
                <a:srgbClr val="9B9BA8"/>
              </a:solidFill>
              <a:latin typeface="Helvetica"/>
            </a:endParaRPr>
          </a:p>
        </p:txBody>
      </p:sp>
      <p:sp>
        <p:nvSpPr>
          <p:cNvPr id="4" name="Data Area"/>
          <p:cNvSpPr>
            <a:spLocks noGrp="1"/>
          </p:cNvSpPr>
          <p:nvPr>
            <p:ph type="body" idx="2"/>
          </p:nvPr>
        </p:nvSpPr>
        <p:spPr>
          <a:xfrm>
            <a:off x="749808" y="1554480"/>
            <a:ext cx="9509760" cy="3840480"/>
          </a:xfrm>
          <a:prstGeom prst="rect">
            <a:avLst/>
          </a:prstGeom>
          <a:noFill/>
          <a:ln w="5080">
            <a:solidFill>
              <a:srgbClr val="E8E8EC"/>
            </a:solidFill>
          </a:ln>
        </p:spPr>
        <p:txBody>
          <a:bodyPr wrap="square" anchor="ctr" lIns="36576" rIns="36576" tIns="36576" bIns="36576"/>
          <a:lstStyle/>
          <a:p>
            <a:pPr algn="ctr"/>
            <a:r>
              <a:rPr lang="de-DE" sz="1200" dirty="0">
                <a:solidFill>
                  <a:srgbClr val="9B9BA8"/>
                </a:solidFill>
                <a:latin typeface="Helvetica"/>
              </a:rPr>
              <a:t>Chart / Table Area</a:t>
            </a:r>
            <a:endParaRPr lang="de-DE" sz="1200" dirty="0">
              <a:solidFill>
                <a:srgbClr val="9B9BA8"/>
              </a:solidFill>
              <a:latin typeface="Helvetica"/>
            </a:endParaRPr>
          </a:p>
        </p:txBody>
      </p:sp>
      <p:sp>
        <p:nvSpPr>
          <p:cNvPr id="90" name="Layout label"/>
          <p:cNvSpPr txBox="1"/>
          <p:nvPr/>
        </p:nvSpPr>
        <p:spPr>
          <a:xfrm>
            <a:off x="566928" y="6510528"/>
            <a:ext cx="493776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lang="de-DE" sz="650" dirty="0">
                <a:solidFill>
                  <a:srgbClr val="9B9BA8"/>
                </a:solidFill>
                <a:latin typeface="Courier"/>
              </a:rPr>
              <a:t>CAREVO 09 Table / Tracker</a:t>
            </a:r>
            <a:endParaRPr lang="de-DE" sz="650" dirty="0">
              <a:solidFill>
                <a:srgbClr val="9B9BA8"/>
              </a:solidFill>
              <a:latin typeface="Courier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AREVO 10 Matrix 2x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yout accent"/>
          <p:cNvSpPr/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3" name="Headline"/>
          <p:cNvSpPr>
            <a:spLocks noGrp="1"/>
          </p:cNvSpPr>
          <p:nvPr>
            <p:ph type="title" idx="1"/>
          </p:nvPr>
        </p:nvSpPr>
        <p:spPr>
          <a:xfrm>
            <a:off x="566928" y="749808"/>
            <a:ext cx="9692640" cy="530352"/>
          </a:xfrm>
          <a:prstGeom prst="rect">
            <a:avLst/>
          </a:prstGeom>
          <a:noFill/>
          <a:ln w="5080">
            <a:solidFill>
              <a:srgbClr val="E8E8EC"/>
            </a:solidFill>
          </a:ln>
        </p:spPr>
        <p:txBody>
          <a:bodyPr wrap="square" anchor="ctr" lIns="36576" rIns="36576" tIns="36576" bIns="36576"/>
          <a:lstStyle/>
          <a:p>
            <a:pPr algn="ctr"/>
            <a:r>
              <a:rPr lang="de-DE" sz="1600" dirty="0">
                <a:solidFill>
                  <a:srgbClr val="9B9BA8"/>
                </a:solidFill>
                <a:latin typeface="Helvetica"/>
              </a:rPr>
              <a:t>Slide Headline</a:t>
            </a:r>
            <a:endParaRPr lang="de-DE" sz="1600" dirty="0">
              <a:solidFill>
                <a:srgbClr val="9B9BA8"/>
              </a:solidFill>
              <a:latin typeface="Helvetica"/>
            </a:endParaRPr>
          </a:p>
        </p:txBody>
      </p:sp>
      <p:sp>
        <p:nvSpPr>
          <p:cNvPr id="4" name="Matrix"/>
          <p:cNvSpPr>
            <a:spLocks noGrp="1"/>
          </p:cNvSpPr>
          <p:nvPr>
            <p:ph type="body" idx="2"/>
          </p:nvPr>
        </p:nvSpPr>
        <p:spPr>
          <a:xfrm>
            <a:off x="1143000" y="1600200"/>
            <a:ext cx="7680960" cy="3840480"/>
          </a:xfrm>
          <a:prstGeom prst="rect">
            <a:avLst/>
          </a:prstGeom>
          <a:noFill/>
          <a:ln w="5080">
            <a:solidFill>
              <a:srgbClr val="E8E8EC"/>
            </a:solidFill>
          </a:ln>
        </p:spPr>
        <p:txBody>
          <a:bodyPr wrap="square" anchor="ctr" lIns="36576" rIns="36576" tIns="36576" bIns="36576"/>
          <a:lstStyle/>
          <a:p>
            <a:pPr algn="ctr"/>
            <a:r>
              <a:rPr lang="de-DE" sz="1300" dirty="0">
                <a:solidFill>
                  <a:srgbClr val="9B9BA8"/>
                </a:solidFill>
                <a:latin typeface="Helvetica"/>
              </a:rPr>
              <a:t>2x2 Matrix</a:t>
            </a:r>
            <a:endParaRPr lang="de-DE" sz="1300" dirty="0">
              <a:solidFill>
                <a:srgbClr val="9B9BA8"/>
              </a:solidFill>
              <a:latin typeface="Helvetica"/>
            </a:endParaRPr>
          </a:p>
        </p:txBody>
      </p:sp>
      <p:sp>
        <p:nvSpPr>
          <p:cNvPr id="90" name="Layout label"/>
          <p:cNvSpPr txBox="1"/>
          <p:nvPr/>
        </p:nvSpPr>
        <p:spPr>
          <a:xfrm>
            <a:off x="566928" y="6510528"/>
            <a:ext cx="493776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lang="de-DE" sz="650" dirty="0">
                <a:solidFill>
                  <a:srgbClr val="9B9BA8"/>
                </a:solidFill>
                <a:latin typeface="Courier"/>
              </a:rPr>
              <a:t>CAREVO 10 Matrix 2x2</a:t>
            </a:r>
            <a:endParaRPr lang="de-DE" sz="650" dirty="0">
              <a:solidFill>
                <a:srgbClr val="9B9BA8"/>
              </a:solidFill>
              <a:latin typeface="Courier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AREVO 11 Timeline / Roadmap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yout accent"/>
          <p:cNvSpPr/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3" name="Headline"/>
          <p:cNvSpPr>
            <a:spLocks noGrp="1"/>
          </p:cNvSpPr>
          <p:nvPr>
            <p:ph type="title" idx="1"/>
          </p:nvPr>
        </p:nvSpPr>
        <p:spPr>
          <a:xfrm>
            <a:off x="566928" y="749808"/>
            <a:ext cx="9692640" cy="530352"/>
          </a:xfrm>
          <a:prstGeom prst="rect">
            <a:avLst/>
          </a:prstGeom>
          <a:noFill/>
          <a:ln w="5080">
            <a:solidFill>
              <a:srgbClr val="E8E8EC"/>
            </a:solidFill>
          </a:ln>
        </p:spPr>
        <p:txBody>
          <a:bodyPr wrap="square" anchor="ctr" lIns="36576" rIns="36576" tIns="36576" bIns="36576"/>
          <a:lstStyle/>
          <a:p>
            <a:pPr algn="ctr"/>
            <a:r>
              <a:rPr lang="de-DE" sz="1600" dirty="0">
                <a:solidFill>
                  <a:srgbClr val="9B9BA8"/>
                </a:solidFill>
                <a:latin typeface="Helvetica"/>
              </a:rPr>
              <a:t>Slide Headline</a:t>
            </a:r>
            <a:endParaRPr lang="de-DE" sz="1600" dirty="0">
              <a:solidFill>
                <a:srgbClr val="9B9BA8"/>
              </a:solidFill>
              <a:latin typeface="Helvetica"/>
            </a:endParaRPr>
          </a:p>
        </p:txBody>
      </p:sp>
      <p:sp>
        <p:nvSpPr>
          <p:cNvPr id="4" name="Timeline"/>
          <p:cNvSpPr>
            <a:spLocks noGrp="1"/>
          </p:cNvSpPr>
          <p:nvPr>
            <p:ph type="body" idx="2"/>
          </p:nvPr>
        </p:nvSpPr>
        <p:spPr>
          <a:xfrm>
            <a:off x="749808" y="1828800"/>
            <a:ext cx="9966960" cy="1005840"/>
          </a:xfrm>
          <a:prstGeom prst="rect">
            <a:avLst/>
          </a:prstGeom>
          <a:noFill/>
          <a:ln w="5080">
            <a:solidFill>
              <a:srgbClr val="E8E8EC"/>
            </a:solidFill>
          </a:ln>
        </p:spPr>
        <p:txBody>
          <a:bodyPr wrap="square" anchor="ctr" lIns="36576" rIns="36576" tIns="36576" bIns="36576"/>
          <a:lstStyle/>
          <a:p>
            <a:pPr algn="ctr"/>
            <a:r>
              <a:rPr lang="de-DE" sz="1200" dirty="0">
                <a:solidFill>
                  <a:srgbClr val="9B9BA8"/>
                </a:solidFill>
                <a:latin typeface="Helvetica"/>
              </a:rPr>
              <a:t>Timeline / Process</a:t>
            </a:r>
            <a:endParaRPr lang="de-DE" sz="1200" dirty="0">
              <a:solidFill>
                <a:srgbClr val="9B9BA8"/>
              </a:solidFill>
              <a:latin typeface="Helvetica"/>
            </a:endParaRPr>
          </a:p>
        </p:txBody>
      </p:sp>
      <p:sp>
        <p:nvSpPr>
          <p:cNvPr id="90" name="Layout label"/>
          <p:cNvSpPr txBox="1"/>
          <p:nvPr/>
        </p:nvSpPr>
        <p:spPr>
          <a:xfrm>
            <a:off x="566928" y="6510528"/>
            <a:ext cx="493776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lang="de-DE" sz="650" dirty="0">
                <a:solidFill>
                  <a:srgbClr val="9B9BA8"/>
                </a:solidFill>
                <a:latin typeface="Courier"/>
              </a:rPr>
              <a:t>CAREVO 11 Timeline / Roadmap</a:t>
            </a:r>
            <a:endParaRPr lang="de-DE" sz="650" dirty="0">
              <a:solidFill>
                <a:srgbClr val="9B9BA8"/>
              </a:solidFill>
              <a:latin typeface="Courier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AREVO 12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yout accent"/>
          <p:cNvSpPr/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3" name="Headline"/>
          <p:cNvSpPr>
            <a:spLocks noGrp="1"/>
          </p:cNvSpPr>
          <p:nvPr>
            <p:ph type="title" idx="1"/>
          </p:nvPr>
        </p:nvSpPr>
        <p:spPr>
          <a:xfrm>
            <a:off x="566928" y="749808"/>
            <a:ext cx="9692640" cy="530352"/>
          </a:xfrm>
          <a:prstGeom prst="rect">
            <a:avLst/>
          </a:prstGeom>
          <a:noFill/>
          <a:ln w="5080">
            <a:solidFill>
              <a:srgbClr val="E8E8EC"/>
            </a:solidFill>
          </a:ln>
        </p:spPr>
        <p:txBody>
          <a:bodyPr wrap="square" anchor="ctr" lIns="36576" rIns="36576" tIns="36576" bIns="36576"/>
          <a:lstStyle/>
          <a:p>
            <a:pPr algn="ctr"/>
            <a:r>
              <a:rPr lang="de-DE" sz="1600" dirty="0">
                <a:solidFill>
                  <a:srgbClr val="9B9BA8"/>
                </a:solidFill>
                <a:latin typeface="Helvetica"/>
              </a:rPr>
              <a:t>Slide Headline</a:t>
            </a:r>
            <a:endParaRPr lang="de-DE" sz="1600" dirty="0">
              <a:solidFill>
                <a:srgbClr val="9B9BA8"/>
              </a:solidFill>
              <a:latin typeface="Helvetica"/>
            </a:endParaRPr>
          </a:p>
        </p:txBody>
      </p:sp>
      <p:sp>
        <p:nvSpPr>
          <p:cNvPr id="4" name="Timeline"/>
          <p:cNvSpPr>
            <a:spLocks noGrp="1"/>
          </p:cNvSpPr>
          <p:nvPr>
            <p:ph type="body" idx="2"/>
          </p:nvPr>
        </p:nvSpPr>
        <p:spPr>
          <a:xfrm>
            <a:off x="749808" y="1828800"/>
            <a:ext cx="9966960" cy="1005840"/>
          </a:xfrm>
          <a:prstGeom prst="rect">
            <a:avLst/>
          </a:prstGeom>
          <a:noFill/>
          <a:ln w="5080">
            <a:solidFill>
              <a:srgbClr val="E8E8EC"/>
            </a:solidFill>
          </a:ln>
        </p:spPr>
        <p:txBody>
          <a:bodyPr wrap="square" anchor="ctr" lIns="36576" rIns="36576" tIns="36576" bIns="36576"/>
          <a:lstStyle/>
          <a:p>
            <a:pPr algn="ctr"/>
            <a:r>
              <a:rPr lang="de-DE" sz="1200" dirty="0">
                <a:solidFill>
                  <a:srgbClr val="9B9BA8"/>
                </a:solidFill>
                <a:latin typeface="Helvetica"/>
              </a:rPr>
              <a:t>Timeline / Process</a:t>
            </a:r>
            <a:endParaRPr lang="de-DE" sz="1200" dirty="0">
              <a:solidFill>
                <a:srgbClr val="9B9BA8"/>
              </a:solidFill>
              <a:latin typeface="Helvetica"/>
            </a:endParaRPr>
          </a:p>
        </p:txBody>
      </p:sp>
      <p:sp>
        <p:nvSpPr>
          <p:cNvPr id="90" name="Layout label"/>
          <p:cNvSpPr txBox="1"/>
          <p:nvPr/>
        </p:nvSpPr>
        <p:spPr>
          <a:xfrm>
            <a:off x="566928" y="6510528"/>
            <a:ext cx="493776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lang="de-DE" sz="650" dirty="0">
                <a:solidFill>
                  <a:srgbClr val="9B9BA8"/>
                </a:solidFill>
                <a:latin typeface="Courier"/>
              </a:rPr>
              <a:t>CAREVO 12 Process Flow</a:t>
            </a:r>
            <a:endParaRPr lang="de-DE" sz="650" dirty="0">
              <a:solidFill>
                <a:srgbClr val="9B9BA8"/>
              </a:solidFill>
              <a:latin typeface="Courier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AREVO 13 Product Work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yout accent"/>
          <p:cNvSpPr/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3" name="Headline"/>
          <p:cNvSpPr>
            <a:spLocks noGrp="1"/>
          </p:cNvSpPr>
          <p:nvPr>
            <p:ph type="title" idx="1"/>
          </p:nvPr>
        </p:nvSpPr>
        <p:spPr>
          <a:xfrm>
            <a:off x="566928" y="749808"/>
            <a:ext cx="9692640" cy="530352"/>
          </a:xfrm>
          <a:prstGeom prst="rect">
            <a:avLst/>
          </a:prstGeom>
          <a:noFill/>
          <a:ln w="5080">
            <a:solidFill>
              <a:srgbClr val="E8E8EC"/>
            </a:solidFill>
          </a:ln>
        </p:spPr>
        <p:txBody>
          <a:bodyPr wrap="square" anchor="ctr" lIns="36576" rIns="36576" tIns="36576" bIns="36576"/>
          <a:lstStyle/>
          <a:p>
            <a:pPr algn="ctr"/>
            <a:r>
              <a:rPr lang="de-DE" sz="1600" dirty="0">
                <a:solidFill>
                  <a:srgbClr val="9B9BA8"/>
                </a:solidFill>
                <a:latin typeface="Helvetica"/>
              </a:rPr>
              <a:t>Slide Headline</a:t>
            </a:r>
            <a:endParaRPr lang="de-DE" sz="1600" dirty="0">
              <a:solidFill>
                <a:srgbClr val="9B9BA8"/>
              </a:solidFill>
              <a:latin typeface="Helvetica"/>
            </a:endParaRPr>
          </a:p>
        </p:txBody>
      </p:sp>
      <p:sp>
        <p:nvSpPr>
          <p:cNvPr id="4" name="Left Content"/>
          <p:cNvSpPr>
            <a:spLocks noGrp="1"/>
          </p:cNvSpPr>
          <p:nvPr>
            <p:ph type="body" idx="2"/>
          </p:nvPr>
        </p:nvSpPr>
        <p:spPr>
          <a:xfrm>
            <a:off x="749808" y="1554480"/>
            <a:ext cx="4663440" cy="3474720"/>
          </a:xfrm>
          <a:prstGeom prst="rect">
            <a:avLst/>
          </a:prstGeom>
          <a:noFill/>
          <a:ln w="5080">
            <a:solidFill>
              <a:srgbClr val="E8E8EC"/>
            </a:solidFill>
          </a:ln>
        </p:spPr>
        <p:txBody>
          <a:bodyPr wrap="square" anchor="ctr" lIns="36576" rIns="36576" tIns="36576" bIns="36576"/>
          <a:lstStyle/>
          <a:p>
            <a:pPr algn="ctr"/>
            <a:r>
              <a:rPr lang="de-DE" sz="1200" dirty="0">
                <a:solidFill>
                  <a:srgbClr val="9B9BA8"/>
                </a:solidFill>
                <a:latin typeface="Helvetica"/>
              </a:rPr>
              <a:t>Left content</a:t>
            </a:r>
            <a:endParaRPr lang="de-DE" sz="1200" dirty="0">
              <a:solidFill>
                <a:srgbClr val="9B9BA8"/>
              </a:solidFill>
              <a:latin typeface="Helvetica"/>
            </a:endParaRPr>
          </a:p>
        </p:txBody>
      </p:sp>
      <p:sp>
        <p:nvSpPr>
          <p:cNvPr id="5" name="Right Content"/>
          <p:cNvSpPr>
            <a:spLocks noGrp="1"/>
          </p:cNvSpPr>
          <p:nvPr>
            <p:ph type="body" idx="3"/>
          </p:nvPr>
        </p:nvSpPr>
        <p:spPr>
          <a:xfrm>
            <a:off x="5806440" y="1554480"/>
            <a:ext cx="4663440" cy="3474720"/>
          </a:xfrm>
          <a:prstGeom prst="rect">
            <a:avLst/>
          </a:prstGeom>
          <a:noFill/>
          <a:ln w="5080">
            <a:solidFill>
              <a:srgbClr val="E8E8EC"/>
            </a:solidFill>
          </a:ln>
        </p:spPr>
        <p:txBody>
          <a:bodyPr wrap="square" anchor="ctr" lIns="36576" rIns="36576" tIns="36576" bIns="36576"/>
          <a:lstStyle/>
          <a:p>
            <a:pPr algn="ctr"/>
            <a:r>
              <a:rPr lang="de-DE" sz="1200" dirty="0">
                <a:solidFill>
                  <a:srgbClr val="9B9BA8"/>
                </a:solidFill>
                <a:latin typeface="Helvetica"/>
              </a:rPr>
              <a:t>Right content</a:t>
            </a:r>
            <a:endParaRPr lang="de-DE" sz="1200" dirty="0">
              <a:solidFill>
                <a:srgbClr val="9B9BA8"/>
              </a:solidFill>
              <a:latin typeface="Helvetica"/>
            </a:endParaRPr>
          </a:p>
        </p:txBody>
      </p:sp>
      <p:sp>
        <p:nvSpPr>
          <p:cNvPr id="90" name="Layout label"/>
          <p:cNvSpPr txBox="1"/>
          <p:nvPr/>
        </p:nvSpPr>
        <p:spPr>
          <a:xfrm>
            <a:off x="566928" y="6510528"/>
            <a:ext cx="493776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lang="de-DE" sz="650" dirty="0">
                <a:solidFill>
                  <a:srgbClr val="9B9BA8"/>
                </a:solidFill>
                <a:latin typeface="Courier"/>
              </a:rPr>
              <a:t>CAREVO 13 Product Workflow</a:t>
            </a:r>
            <a:endParaRPr lang="de-DE" sz="650" dirty="0">
              <a:solidFill>
                <a:srgbClr val="9B9BA8"/>
              </a:solidFill>
              <a:latin typeface="Courier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AREVO 14 Quote / Princip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yout accent"/>
          <p:cNvSpPr/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3" name="Headline"/>
          <p:cNvSpPr>
            <a:spLocks noGrp="1"/>
          </p:cNvSpPr>
          <p:nvPr>
            <p:ph type="title" idx="1"/>
          </p:nvPr>
        </p:nvSpPr>
        <p:spPr>
          <a:xfrm>
            <a:off x="566928" y="749808"/>
            <a:ext cx="9692640" cy="530352"/>
          </a:xfrm>
          <a:prstGeom prst="rect">
            <a:avLst/>
          </a:prstGeom>
          <a:noFill/>
          <a:ln w="5080">
            <a:solidFill>
              <a:srgbClr val="E8E8EC"/>
            </a:solidFill>
          </a:ln>
        </p:spPr>
        <p:txBody>
          <a:bodyPr wrap="square" anchor="ctr" lIns="36576" rIns="36576" tIns="36576" bIns="36576"/>
          <a:lstStyle/>
          <a:p>
            <a:pPr algn="ctr"/>
            <a:r>
              <a:rPr lang="de-DE" sz="1600" dirty="0">
                <a:solidFill>
                  <a:srgbClr val="9B9BA8"/>
                </a:solidFill>
                <a:latin typeface="Helvetica"/>
              </a:rPr>
              <a:t>Slide Headline</a:t>
            </a:r>
            <a:endParaRPr lang="de-DE" sz="1600" dirty="0">
              <a:solidFill>
                <a:srgbClr val="9B9BA8"/>
              </a:solidFill>
              <a:latin typeface="Helvetica"/>
            </a:endParaRPr>
          </a:p>
        </p:txBody>
      </p:sp>
      <p:sp>
        <p:nvSpPr>
          <p:cNvPr id="4" name="Big Message"/>
          <p:cNvSpPr>
            <a:spLocks noGrp="1"/>
          </p:cNvSpPr>
          <p:nvPr>
            <p:ph type="body" idx="2"/>
          </p:nvPr>
        </p:nvSpPr>
        <p:spPr>
          <a:xfrm>
            <a:off x="749808" y="1600200"/>
            <a:ext cx="5760720" cy="1280160"/>
          </a:xfrm>
          <a:prstGeom prst="rect">
            <a:avLst/>
          </a:prstGeom>
          <a:noFill/>
          <a:ln w="5080">
            <a:solidFill>
              <a:srgbClr val="E8E8EC"/>
            </a:solidFill>
          </a:ln>
        </p:spPr>
        <p:txBody>
          <a:bodyPr wrap="square" anchor="ctr" lIns="36576" rIns="36576" tIns="36576" bIns="36576"/>
          <a:lstStyle/>
          <a:p>
            <a:pPr algn="ctr"/>
            <a:r>
              <a:rPr lang="de-DE" sz="1800" dirty="0">
                <a:solidFill>
                  <a:srgbClr val="9B9BA8"/>
                </a:solidFill>
                <a:latin typeface="Helvetica"/>
              </a:rPr>
              <a:t>Key message</a:t>
            </a:r>
            <a:endParaRPr lang="de-DE" sz="1800" dirty="0">
              <a:solidFill>
                <a:srgbClr val="9B9BA8"/>
              </a:solidFill>
              <a:latin typeface="Helvetica"/>
            </a:endParaRPr>
          </a:p>
        </p:txBody>
      </p:sp>
      <p:sp>
        <p:nvSpPr>
          <p:cNvPr id="5" name="Support"/>
          <p:cNvSpPr>
            <a:spLocks noGrp="1"/>
          </p:cNvSpPr>
          <p:nvPr>
            <p:ph type="body" idx="3"/>
          </p:nvPr>
        </p:nvSpPr>
        <p:spPr>
          <a:xfrm>
            <a:off x="6903720" y="1600200"/>
            <a:ext cx="3474720" cy="2011680"/>
          </a:xfrm>
          <a:prstGeom prst="rect">
            <a:avLst/>
          </a:prstGeom>
          <a:noFill/>
          <a:ln w="5080">
            <a:solidFill>
              <a:srgbClr val="E8E8EC"/>
            </a:solidFill>
          </a:ln>
        </p:spPr>
        <p:txBody>
          <a:bodyPr wrap="square" anchor="ctr" lIns="36576" rIns="36576" tIns="36576" bIns="36576"/>
          <a:lstStyle/>
          <a:p>
            <a:pPr algn="ctr"/>
            <a:r>
              <a:rPr lang="de-DE" sz="1200" dirty="0">
                <a:solidFill>
                  <a:srgbClr val="9B9BA8"/>
                </a:solidFill>
                <a:latin typeface="Helvetica"/>
              </a:rPr>
              <a:t>Supporting proof</a:t>
            </a:r>
            <a:endParaRPr lang="de-DE" sz="1200" dirty="0">
              <a:solidFill>
                <a:srgbClr val="9B9BA8"/>
              </a:solidFill>
              <a:latin typeface="Helvetica"/>
            </a:endParaRPr>
          </a:p>
        </p:txBody>
      </p:sp>
      <p:sp>
        <p:nvSpPr>
          <p:cNvPr id="90" name="Layout label"/>
          <p:cNvSpPr txBox="1"/>
          <p:nvPr/>
        </p:nvSpPr>
        <p:spPr>
          <a:xfrm>
            <a:off x="566928" y="6510528"/>
            <a:ext cx="493776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lang="de-DE" sz="650" dirty="0">
                <a:solidFill>
                  <a:srgbClr val="9B9BA8"/>
                </a:solidFill>
                <a:latin typeface="Courier"/>
              </a:rPr>
              <a:t>CAREVO 14 Quote / Principle</a:t>
            </a:r>
            <a:endParaRPr lang="de-DE" sz="650" dirty="0">
              <a:solidFill>
                <a:srgbClr val="9B9BA8"/>
              </a:solidFill>
              <a:latin typeface="Courier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AREVO 15 Team / Org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yout accent"/>
          <p:cNvSpPr/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3" name="Headline"/>
          <p:cNvSpPr>
            <a:spLocks noGrp="1"/>
          </p:cNvSpPr>
          <p:nvPr>
            <p:ph type="title" idx="1"/>
          </p:nvPr>
        </p:nvSpPr>
        <p:spPr>
          <a:xfrm>
            <a:off x="566928" y="749808"/>
            <a:ext cx="9692640" cy="530352"/>
          </a:xfrm>
          <a:prstGeom prst="rect">
            <a:avLst/>
          </a:prstGeom>
          <a:noFill/>
          <a:ln w="5080">
            <a:solidFill>
              <a:srgbClr val="E8E8EC"/>
            </a:solidFill>
          </a:ln>
        </p:spPr>
        <p:txBody>
          <a:bodyPr wrap="square" anchor="ctr" lIns="36576" rIns="36576" tIns="36576" bIns="36576"/>
          <a:lstStyle/>
          <a:p>
            <a:pPr algn="ctr"/>
            <a:r>
              <a:rPr lang="de-DE" sz="1600" dirty="0">
                <a:solidFill>
                  <a:srgbClr val="9B9BA8"/>
                </a:solidFill>
                <a:latin typeface="Helvetica"/>
              </a:rPr>
              <a:t>Slide Headline</a:t>
            </a:r>
            <a:endParaRPr lang="de-DE" sz="1600" dirty="0">
              <a:solidFill>
                <a:srgbClr val="9B9BA8"/>
              </a:solidFill>
              <a:latin typeface="Helvetica"/>
            </a:endParaRPr>
          </a:p>
        </p:txBody>
      </p:sp>
      <p:sp>
        <p:nvSpPr>
          <p:cNvPr id="4" name="Org"/>
          <p:cNvSpPr>
            <a:spLocks noGrp="1"/>
          </p:cNvSpPr>
          <p:nvPr>
            <p:ph type="body" idx="2"/>
          </p:nvPr>
        </p:nvSpPr>
        <p:spPr>
          <a:xfrm>
            <a:off x="749808" y="1645920"/>
            <a:ext cx="9509760" cy="3474720"/>
          </a:xfrm>
          <a:prstGeom prst="rect">
            <a:avLst/>
          </a:prstGeom>
          <a:noFill/>
          <a:ln w="5080">
            <a:solidFill>
              <a:srgbClr val="E8E8EC"/>
            </a:solidFill>
          </a:ln>
        </p:spPr>
        <p:txBody>
          <a:bodyPr wrap="square" anchor="ctr" lIns="36576" rIns="36576" tIns="36576" bIns="36576"/>
          <a:lstStyle/>
          <a:p>
            <a:pPr algn="ctr"/>
            <a:r>
              <a:rPr lang="de-DE" sz="1200" dirty="0">
                <a:solidFill>
                  <a:srgbClr val="9B9BA8"/>
                </a:solidFill>
                <a:latin typeface="Helvetica"/>
              </a:rPr>
              <a:t>Team / Org</a:t>
            </a:r>
            <a:endParaRPr lang="de-DE" sz="1200" dirty="0">
              <a:solidFill>
                <a:srgbClr val="9B9BA8"/>
              </a:solidFill>
              <a:latin typeface="Helvetica"/>
            </a:endParaRPr>
          </a:p>
        </p:txBody>
      </p:sp>
      <p:sp>
        <p:nvSpPr>
          <p:cNvPr id="90" name="Layout label"/>
          <p:cNvSpPr txBox="1"/>
          <p:nvPr/>
        </p:nvSpPr>
        <p:spPr>
          <a:xfrm>
            <a:off x="566928" y="6510528"/>
            <a:ext cx="493776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lang="de-DE" sz="650" dirty="0">
                <a:solidFill>
                  <a:srgbClr val="9B9BA8"/>
                </a:solidFill>
                <a:latin typeface="Courier"/>
              </a:rPr>
              <a:t>CAREVO 15 Team / Org</a:t>
            </a:r>
            <a:endParaRPr lang="de-DE" sz="650" dirty="0">
              <a:solidFill>
                <a:srgbClr val="9B9BA8"/>
              </a:solidFill>
              <a:latin typeface="Courier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AREVO 16 Append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yout accent"/>
          <p:cNvSpPr/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3" name="Headline"/>
          <p:cNvSpPr>
            <a:spLocks noGrp="1"/>
          </p:cNvSpPr>
          <p:nvPr>
            <p:ph type="title" idx="1"/>
          </p:nvPr>
        </p:nvSpPr>
        <p:spPr>
          <a:xfrm>
            <a:off x="566928" y="749808"/>
            <a:ext cx="9692640" cy="530352"/>
          </a:xfrm>
          <a:prstGeom prst="rect">
            <a:avLst/>
          </a:prstGeom>
          <a:noFill/>
          <a:ln w="5080">
            <a:solidFill>
              <a:srgbClr val="E8E8EC"/>
            </a:solidFill>
          </a:ln>
        </p:spPr>
        <p:txBody>
          <a:bodyPr wrap="square" anchor="ctr" lIns="36576" rIns="36576" tIns="36576" bIns="36576"/>
          <a:lstStyle/>
          <a:p>
            <a:pPr algn="ctr"/>
            <a:r>
              <a:rPr lang="de-DE" sz="1600" dirty="0">
                <a:solidFill>
                  <a:srgbClr val="9B9BA8"/>
                </a:solidFill>
                <a:latin typeface="Helvetica"/>
              </a:rPr>
              <a:t>Slide Headline</a:t>
            </a:r>
            <a:endParaRPr lang="de-DE" sz="1600" dirty="0">
              <a:solidFill>
                <a:srgbClr val="9B9BA8"/>
              </a:solidFill>
              <a:latin typeface="Helvetica"/>
            </a:endParaRPr>
          </a:p>
        </p:txBody>
      </p:sp>
      <p:sp>
        <p:nvSpPr>
          <p:cNvPr id="4" name="Content"/>
          <p:cNvSpPr>
            <a:spLocks noGrp="1"/>
          </p:cNvSpPr>
          <p:nvPr>
            <p:ph type="body" idx="2"/>
          </p:nvPr>
        </p:nvSpPr>
        <p:spPr>
          <a:xfrm>
            <a:off x="749808" y="1554480"/>
            <a:ext cx="9509760" cy="3840480"/>
          </a:xfrm>
          <a:prstGeom prst="rect">
            <a:avLst/>
          </a:prstGeom>
          <a:noFill/>
          <a:ln w="5080">
            <a:solidFill>
              <a:srgbClr val="E8E8EC"/>
            </a:solidFill>
          </a:ln>
        </p:spPr>
        <p:txBody>
          <a:bodyPr wrap="square" anchor="ctr" lIns="36576" rIns="36576" tIns="36576" bIns="36576"/>
          <a:lstStyle/>
          <a:p>
            <a:pPr algn="ctr"/>
            <a:r>
              <a:rPr lang="de-DE" sz="1200" dirty="0">
                <a:solidFill>
                  <a:srgbClr val="9B9BA8"/>
                </a:solidFill>
                <a:latin typeface="Helvetica"/>
              </a:rPr>
              <a:t>Content Area</a:t>
            </a:r>
            <a:endParaRPr lang="de-DE" sz="1200" dirty="0">
              <a:solidFill>
                <a:srgbClr val="9B9BA8"/>
              </a:solidFill>
              <a:latin typeface="Helvetica"/>
            </a:endParaRPr>
          </a:p>
        </p:txBody>
      </p:sp>
      <p:sp>
        <p:nvSpPr>
          <p:cNvPr id="90" name="Layout label"/>
          <p:cNvSpPr txBox="1"/>
          <p:nvPr/>
        </p:nvSpPr>
        <p:spPr>
          <a:xfrm>
            <a:off x="566928" y="6510528"/>
            <a:ext cx="493776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lang="de-DE" sz="650" dirty="0">
                <a:solidFill>
                  <a:srgbClr val="9B9BA8"/>
                </a:solidFill>
                <a:latin typeface="Courier"/>
              </a:rPr>
              <a:t>CAREVO 16 Appendix</a:t>
            </a:r>
            <a:endParaRPr lang="de-DE" sz="650" dirty="0">
              <a:solidFill>
                <a:srgbClr val="9B9BA8"/>
              </a:solidFill>
              <a:latin typeface="Courier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AREVO 17 Closing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yout accent"/>
          <p:cNvSpPr/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3" name="Headline"/>
          <p:cNvSpPr>
            <a:spLocks noGrp="1"/>
          </p:cNvSpPr>
          <p:nvPr>
            <p:ph type="title" idx="1"/>
          </p:nvPr>
        </p:nvSpPr>
        <p:spPr>
          <a:xfrm>
            <a:off x="566928" y="749808"/>
            <a:ext cx="9692640" cy="530352"/>
          </a:xfrm>
          <a:prstGeom prst="rect">
            <a:avLst/>
          </a:prstGeom>
          <a:noFill/>
          <a:ln w="5080">
            <a:solidFill>
              <a:srgbClr val="E8E8EC"/>
            </a:solidFill>
          </a:ln>
        </p:spPr>
        <p:txBody>
          <a:bodyPr wrap="square" anchor="ctr" lIns="36576" rIns="36576" tIns="36576" bIns="36576"/>
          <a:lstStyle/>
          <a:p>
            <a:pPr algn="ctr"/>
            <a:r>
              <a:rPr lang="de-DE" sz="1600" dirty="0">
                <a:solidFill>
                  <a:srgbClr val="9B9BA8"/>
                </a:solidFill>
                <a:latin typeface="Helvetica"/>
              </a:rPr>
              <a:t>Slide Headline</a:t>
            </a:r>
            <a:endParaRPr lang="de-DE" sz="1600" dirty="0">
              <a:solidFill>
                <a:srgbClr val="9B9BA8"/>
              </a:solidFill>
              <a:latin typeface="Helvetica"/>
            </a:endParaRPr>
          </a:p>
        </p:txBody>
      </p:sp>
      <p:sp>
        <p:nvSpPr>
          <p:cNvPr id="4" name="Content"/>
          <p:cNvSpPr>
            <a:spLocks noGrp="1"/>
          </p:cNvSpPr>
          <p:nvPr>
            <p:ph type="body" idx="2"/>
          </p:nvPr>
        </p:nvSpPr>
        <p:spPr>
          <a:xfrm>
            <a:off x="749808" y="1554480"/>
            <a:ext cx="9509760" cy="3840480"/>
          </a:xfrm>
          <a:prstGeom prst="rect">
            <a:avLst/>
          </a:prstGeom>
          <a:noFill/>
          <a:ln w="5080">
            <a:solidFill>
              <a:srgbClr val="E8E8EC"/>
            </a:solidFill>
          </a:ln>
        </p:spPr>
        <p:txBody>
          <a:bodyPr wrap="square" anchor="ctr" lIns="36576" rIns="36576" tIns="36576" bIns="36576"/>
          <a:lstStyle/>
          <a:p>
            <a:pPr algn="ctr"/>
            <a:r>
              <a:rPr lang="de-DE" sz="1200" dirty="0">
                <a:solidFill>
                  <a:srgbClr val="9B9BA8"/>
                </a:solidFill>
                <a:latin typeface="Helvetica"/>
              </a:rPr>
              <a:t>Content Area</a:t>
            </a:r>
            <a:endParaRPr lang="de-DE" sz="1200" dirty="0">
              <a:solidFill>
                <a:srgbClr val="9B9BA8"/>
              </a:solidFill>
              <a:latin typeface="Helvetica"/>
            </a:endParaRPr>
          </a:p>
        </p:txBody>
      </p:sp>
      <p:sp>
        <p:nvSpPr>
          <p:cNvPr id="90" name="Layout label"/>
          <p:cNvSpPr txBox="1"/>
          <p:nvPr/>
        </p:nvSpPr>
        <p:spPr>
          <a:xfrm>
            <a:off x="566928" y="6510528"/>
            <a:ext cx="493776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/>
            <a:r>
              <a:rPr lang="de-DE" sz="650" dirty="0">
                <a:solidFill>
                  <a:srgbClr val="9B9BA8"/>
                </a:solidFill>
                <a:latin typeface="Courier"/>
              </a:rPr>
              <a:t>CAREVO 17 Closing</a:t>
            </a:r>
            <a:endParaRPr lang="de-DE" sz="650" dirty="0">
              <a:solidFill>
                <a:srgbClr val="9B9BA8"/>
              </a:solidFill>
              <a:latin typeface="Courier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Theme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CAREVO 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>
        <a:defRPr sz="2400" b="1">
          <a:solidFill>
            <a:schemeClr val="tx1"/>
          </a:solidFill>
          <a:latin typeface="Helvetica"/>
        </a:defRPr>
      </a:lvl1pPr>
    </p:titleStyle>
    <p:bodyStyle>
      <a:lvl1pPr algn="l">
        <a:defRPr sz="1200">
          <a:solidFill>
            <a:schemeClr val="tx1"/>
          </a:solidFill>
          <a:latin typeface="Helvetica"/>
        </a:defRPr>
      </a:lvl1pPr>
    </p:bodyStyle>
    <p:otherStyle>
      <a:lvl1pPr algn="l">
        <a:defRPr sz="1000">
          <a:solidFill>
            <a:schemeClr val="tx2"/>
          </a:solidFill>
          <a:latin typeface="Helvetica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ver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3" name="Text 3"/>
          <p:cNvSpPr txBox="1"/>
          <p:nvPr/>
        </p:nvSpPr>
        <p:spPr>
          <a:xfrm>
            <a:off x="658368" y="585216"/>
            <a:ext cx="1188720" cy="9144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9200" b="1" dirty="0">
                <a:solidFill>
                  <a:srgbClr val="1E6B72"/>
                </a:solidFill>
                <a:latin typeface="Helvetica"/>
              </a:rPr>
              <a:t>C</a:t>
            </a:r>
            <a:endParaRPr lang="de-DE" sz="9200" dirty="0">
              <a:solidFill>
                <a:srgbClr val="1E6B72"/>
              </a:solidFill>
              <a:latin typeface="Helvetica"/>
            </a:endParaRPr>
          </a:p>
        </p:txBody>
      </p:sp>
      <p:sp>
        <p:nvSpPr>
          <p:cNvPr id="4" name="Text 4"/>
          <p:cNvSpPr txBox="1"/>
          <p:nvPr/>
        </p:nvSpPr>
        <p:spPr>
          <a:xfrm>
            <a:off x="676656" y="1920240"/>
            <a:ext cx="5852160" cy="56692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4200" b="1" dirty="0">
                <a:solidFill>
                  <a:srgbClr val="FFFFFF"/>
                </a:solidFill>
                <a:latin typeface="Helvetica"/>
              </a:rPr>
              <a:t>CAREVO</a:t>
            </a:r>
            <a:endParaRPr lang="de-DE" sz="4200" dirty="0">
              <a:solidFill>
                <a:srgbClr val="FFFFFF"/>
              </a:solidFill>
              <a:latin typeface="Helvetica"/>
            </a:endParaRPr>
          </a:p>
        </p:txBody>
      </p:sp>
      <p:sp>
        <p:nvSpPr>
          <p:cNvPr id="5" name="Text 5"/>
          <p:cNvSpPr txBox="1"/>
          <p:nvPr/>
        </p:nvSpPr>
        <p:spPr>
          <a:xfrm>
            <a:off x="694944" y="2606040"/>
            <a:ext cx="6583680" cy="5943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2000" b="1" dirty="0">
                <a:solidFill>
                  <a:srgbClr val="FFFFFF"/>
                </a:solidFill>
                <a:latin typeface="Helvetica"/>
              </a:rPr>
              <a:t>VC- und Consulting-nahes PowerPoint Template</a:t>
            </a:r>
            <a:endParaRPr lang="de-DE" sz="2000" dirty="0">
              <a:solidFill>
                <a:srgbClr val="FFFFFF"/>
              </a:solidFill>
              <a:latin typeface="Helvetica"/>
            </a:endParaRPr>
          </a:p>
        </p:txBody>
      </p:sp>
      <p:sp>
        <p:nvSpPr>
          <p:cNvPr id="6" name="Text 6"/>
          <p:cNvSpPr txBox="1"/>
          <p:nvPr/>
        </p:nvSpPr>
        <p:spPr>
          <a:xfrm>
            <a:off x="694944" y="3337560"/>
            <a:ext cx="5212080" cy="47548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1250" dirty="0">
                <a:solidFill>
                  <a:srgbClr val="9B9BA8"/>
                </a:solidFill>
                <a:latin typeface="Helvetica"/>
              </a:rPr>
              <a:t>Praezise, ruhig, verantwortlich - aufgebaut auf den lokalen CAREVO Design-Dateien.</a:t>
            </a:r>
            <a:endParaRPr lang="de-DE" sz="1250" dirty="0">
              <a:solidFill>
                <a:srgbClr val="9B9BA8"/>
              </a:solidFill>
              <a:latin typeface="Helvetica"/>
            </a:endParaRPr>
          </a:p>
        </p:txBody>
      </p:sp>
      <p:sp>
        <p:nvSpPr>
          <p:cNvPr id="7" name="Shape 7"/>
          <p:cNvSpPr/>
          <p:nvPr/>
        </p:nvSpPr>
        <p:spPr>
          <a:xfrm>
            <a:off x="7543800" y="3931920"/>
            <a:ext cx="3566160" cy="1143000"/>
          </a:xfrm>
          <a:prstGeom prst="rect">
            <a:avLst/>
          </a:prstGeom>
          <a:noFill/>
          <a:ln w="6350">
            <a:solidFill>
              <a:srgbClr val="4A4A4F"/>
            </a:solidFill>
          </a:ln>
        </p:spPr>
        <p:style/>
      </p:sp>
      <p:sp>
        <p:nvSpPr>
          <p:cNvPr id="8" name="Text 8"/>
          <p:cNvSpPr txBox="1"/>
          <p:nvPr/>
        </p:nvSpPr>
        <p:spPr>
          <a:xfrm>
            <a:off x="7726680" y="4133088"/>
            <a:ext cx="1371600" cy="1463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680" b="1" dirty="0">
                <a:solidFill>
                  <a:srgbClr val="9B9BA8"/>
                </a:solidFill>
                <a:latin typeface="Courier"/>
              </a:rPr>
              <a:t>VERSION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9" name="Text 9"/>
          <p:cNvSpPr txBox="1"/>
          <p:nvPr/>
        </p:nvSpPr>
        <p:spPr>
          <a:xfrm>
            <a:off x="9006840" y="4133088"/>
            <a:ext cx="1645920" cy="1463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680" dirty="0">
                <a:solidFill>
                  <a:srgbClr val="FFFFFF"/>
                </a:solidFill>
                <a:latin typeface="Courier"/>
              </a:rPr>
              <a:t>1.0 / 2026</a:t>
            </a:r>
            <a:endParaRPr lang="de-DE" sz="680" dirty="0">
              <a:solidFill>
                <a:srgbClr val="FFFFFF"/>
              </a:solidFill>
              <a:latin typeface="Courier"/>
            </a:endParaRPr>
          </a:p>
        </p:txBody>
      </p:sp>
      <p:sp>
        <p:nvSpPr>
          <p:cNvPr id="10" name="Text 10"/>
          <p:cNvSpPr txBox="1"/>
          <p:nvPr/>
        </p:nvSpPr>
        <p:spPr>
          <a:xfrm>
            <a:off x="7726680" y="4443984"/>
            <a:ext cx="1371600" cy="1463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680" b="1" dirty="0">
                <a:solidFill>
                  <a:srgbClr val="9B9BA8"/>
                </a:solidFill>
                <a:latin typeface="Courier"/>
              </a:rPr>
              <a:t>SYSTEM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11" name="Text 11"/>
          <p:cNvSpPr txBox="1"/>
          <p:nvPr/>
        </p:nvSpPr>
        <p:spPr>
          <a:xfrm>
            <a:off x="9006840" y="4443984"/>
            <a:ext cx="1737360" cy="1463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680" dirty="0">
                <a:solidFill>
                  <a:srgbClr val="FFFFFF"/>
                </a:solidFill>
                <a:latin typeface="Courier"/>
              </a:rPr>
              <a:t>CAREVO</a:t>
            </a:r>
            <a:endParaRPr lang="de-DE" sz="680" dirty="0">
              <a:solidFill>
                <a:srgbClr val="FFFFFF"/>
              </a:solidFill>
              <a:latin typeface="Courier"/>
            </a:endParaRPr>
          </a:p>
        </p:txBody>
      </p:sp>
      <p:sp>
        <p:nvSpPr>
          <p:cNvPr id="12" name="Text 12"/>
          <p:cNvSpPr txBox="1"/>
          <p:nvPr/>
        </p:nvSpPr>
        <p:spPr>
          <a:xfrm>
            <a:off x="7726680" y="4754880"/>
            <a:ext cx="1371600" cy="1463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680" b="1" dirty="0">
                <a:solidFill>
                  <a:srgbClr val="9B9BA8"/>
                </a:solidFill>
                <a:latin typeface="Courier"/>
              </a:rPr>
              <a:t>STYLE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13" name="Text 13"/>
          <p:cNvSpPr txBox="1"/>
          <p:nvPr/>
        </p:nvSpPr>
        <p:spPr>
          <a:xfrm>
            <a:off x="9006840" y="4754880"/>
            <a:ext cx="1828800" cy="1463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680" dirty="0">
                <a:solidFill>
                  <a:srgbClr val="FFFFFF"/>
                </a:solidFill>
                <a:latin typeface="Courier"/>
              </a:rPr>
              <a:t>VC / Board</a:t>
            </a:r>
            <a:endParaRPr lang="de-DE" sz="680" dirty="0">
              <a:solidFill>
                <a:srgbClr val="FFFFFF"/>
              </a:solidFill>
              <a:latin typeface="Courier"/>
            </a:endParaRPr>
          </a:p>
        </p:txBody>
      </p:sp>
      <p:sp>
        <p:nvSpPr>
          <p:cNvPr id="14" name="Color swatch 14"/>
          <p:cNvSpPr/>
          <p:nvPr/>
        </p:nvSpPr>
        <p:spPr>
          <a:xfrm>
            <a:off x="694944" y="5806440"/>
            <a:ext cx="573786" cy="146304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/>
      </p:sp>
      <p:sp>
        <p:nvSpPr>
          <p:cNvPr id="15" name="Text 15"/>
          <p:cNvSpPr txBox="1"/>
          <p:nvPr/>
        </p:nvSpPr>
        <p:spPr>
          <a:xfrm>
            <a:off x="694944" y="6007608"/>
            <a:ext cx="573786" cy="11887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580" dirty="0">
                <a:solidFill>
                  <a:srgbClr val="9B9BA8"/>
                </a:solidFill>
                <a:latin typeface="Courier"/>
              </a:rPr>
              <a:t>#0A0A0F</a:t>
            </a:r>
            <a:endParaRPr lang="de-DE" sz="5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16" name="Color swatch 16"/>
          <p:cNvSpPr/>
          <p:nvPr/>
        </p:nvSpPr>
        <p:spPr>
          <a:xfrm>
            <a:off x="1305306" y="5806440"/>
            <a:ext cx="573786" cy="14630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17" name="Text 17"/>
          <p:cNvSpPr txBox="1"/>
          <p:nvPr/>
        </p:nvSpPr>
        <p:spPr>
          <a:xfrm>
            <a:off x="1305306" y="6007608"/>
            <a:ext cx="573786" cy="11887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580" dirty="0">
                <a:solidFill>
                  <a:srgbClr val="9B9BA8"/>
                </a:solidFill>
                <a:latin typeface="Courier"/>
              </a:rPr>
              <a:t>#FFFFFF</a:t>
            </a:r>
            <a:endParaRPr lang="de-DE" sz="5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18" name="Color swatch 18"/>
          <p:cNvSpPr/>
          <p:nvPr/>
        </p:nvSpPr>
        <p:spPr>
          <a:xfrm>
            <a:off x="1915668" y="5806440"/>
            <a:ext cx="573786" cy="146304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19" name="Text 19"/>
          <p:cNvSpPr txBox="1"/>
          <p:nvPr/>
        </p:nvSpPr>
        <p:spPr>
          <a:xfrm>
            <a:off x="1915668" y="6007608"/>
            <a:ext cx="573786" cy="11887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580" dirty="0">
                <a:solidFill>
                  <a:srgbClr val="9B9BA8"/>
                </a:solidFill>
                <a:latin typeface="Courier"/>
              </a:rPr>
              <a:t>#1E6B72</a:t>
            </a:r>
            <a:endParaRPr lang="de-DE" sz="5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20" name="Color swatch 20"/>
          <p:cNvSpPr/>
          <p:nvPr/>
        </p:nvSpPr>
        <p:spPr>
          <a:xfrm>
            <a:off x="2526030" y="5806440"/>
            <a:ext cx="573786" cy="146304"/>
          </a:xfrm>
          <a:prstGeom prst="rect">
            <a:avLst/>
          </a:prstGeom>
          <a:solidFill>
            <a:srgbClr val="F4F4F6"/>
          </a:solidFill>
          <a:ln>
            <a:noFill/>
          </a:ln>
        </p:spPr>
        <p:style/>
      </p:sp>
      <p:sp>
        <p:nvSpPr>
          <p:cNvPr id="21" name="Text 21"/>
          <p:cNvSpPr txBox="1"/>
          <p:nvPr/>
        </p:nvSpPr>
        <p:spPr>
          <a:xfrm>
            <a:off x="2526030" y="6007608"/>
            <a:ext cx="573786" cy="11887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580" dirty="0">
                <a:solidFill>
                  <a:srgbClr val="9B9BA8"/>
                </a:solidFill>
                <a:latin typeface="Courier"/>
              </a:rPr>
              <a:t>#F4F4F6</a:t>
            </a:r>
            <a:endParaRPr lang="de-DE" sz="5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22" name="Color swatch 22"/>
          <p:cNvSpPr/>
          <p:nvPr/>
        </p:nvSpPr>
        <p:spPr>
          <a:xfrm>
            <a:off x="3136392" y="5806440"/>
            <a:ext cx="573786" cy="146304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/>
      </p:sp>
      <p:sp>
        <p:nvSpPr>
          <p:cNvPr id="23" name="Text 23"/>
          <p:cNvSpPr txBox="1"/>
          <p:nvPr/>
        </p:nvSpPr>
        <p:spPr>
          <a:xfrm>
            <a:off x="3136392" y="6007608"/>
            <a:ext cx="573786" cy="11887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580" dirty="0">
                <a:solidFill>
                  <a:srgbClr val="9B9BA8"/>
                </a:solidFill>
                <a:latin typeface="Courier"/>
              </a:rPr>
              <a:t>#E8E8EC</a:t>
            </a:r>
            <a:endParaRPr lang="de-DE" sz="5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24" name="Color swatch 24"/>
          <p:cNvSpPr/>
          <p:nvPr/>
        </p:nvSpPr>
        <p:spPr>
          <a:xfrm>
            <a:off x="3746754" y="5806440"/>
            <a:ext cx="573786" cy="146304"/>
          </a:xfrm>
          <a:prstGeom prst="rect">
            <a:avLst/>
          </a:prstGeom>
          <a:solidFill>
            <a:srgbClr val="9B9BA8"/>
          </a:solidFill>
          <a:ln>
            <a:noFill/>
          </a:ln>
        </p:spPr>
        <p:style/>
      </p:sp>
      <p:sp>
        <p:nvSpPr>
          <p:cNvPr id="25" name="Text 25"/>
          <p:cNvSpPr txBox="1"/>
          <p:nvPr/>
        </p:nvSpPr>
        <p:spPr>
          <a:xfrm>
            <a:off x="3746754" y="6007608"/>
            <a:ext cx="573786" cy="11887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580" dirty="0">
                <a:solidFill>
                  <a:srgbClr val="9B9BA8"/>
                </a:solidFill>
                <a:latin typeface="Courier"/>
              </a:rPr>
              <a:t>#9B9BA8</a:t>
            </a:r>
            <a:endParaRPr lang="de-DE" sz="5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26" name="Color swatch 26"/>
          <p:cNvSpPr/>
          <p:nvPr/>
        </p:nvSpPr>
        <p:spPr>
          <a:xfrm>
            <a:off x="4357116" y="5806440"/>
            <a:ext cx="573786" cy="146304"/>
          </a:xfrm>
          <a:prstGeom prst="rect">
            <a:avLst/>
          </a:prstGeom>
          <a:solidFill>
            <a:srgbClr val="4A4A4F"/>
          </a:solidFill>
          <a:ln>
            <a:noFill/>
          </a:ln>
        </p:spPr>
        <p:style/>
      </p:sp>
      <p:sp>
        <p:nvSpPr>
          <p:cNvPr id="27" name="Text 27"/>
          <p:cNvSpPr txBox="1"/>
          <p:nvPr/>
        </p:nvSpPr>
        <p:spPr>
          <a:xfrm>
            <a:off x="4357116" y="6007608"/>
            <a:ext cx="573786" cy="11887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580" dirty="0">
                <a:solidFill>
                  <a:srgbClr val="9B9BA8"/>
                </a:solidFill>
                <a:latin typeface="Courier"/>
              </a:rPr>
              <a:t>#4A4A4F</a:t>
            </a:r>
            <a:endParaRPr lang="de-DE" sz="5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28" name="Color swatch 28"/>
          <p:cNvSpPr/>
          <p:nvPr/>
        </p:nvSpPr>
        <p:spPr>
          <a:xfrm>
            <a:off x="4967478" y="5806440"/>
            <a:ext cx="573786" cy="146304"/>
          </a:xfrm>
          <a:prstGeom prst="rect">
            <a:avLst/>
          </a:prstGeom>
          <a:solidFill>
            <a:srgbClr val="CC2929"/>
          </a:solidFill>
          <a:ln>
            <a:noFill/>
          </a:ln>
        </p:spPr>
        <p:style/>
      </p:sp>
      <p:sp>
        <p:nvSpPr>
          <p:cNvPr id="29" name="Text 29"/>
          <p:cNvSpPr txBox="1"/>
          <p:nvPr/>
        </p:nvSpPr>
        <p:spPr>
          <a:xfrm>
            <a:off x="4967478" y="6007608"/>
            <a:ext cx="573786" cy="11887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580" dirty="0">
                <a:solidFill>
                  <a:srgbClr val="9B9BA8"/>
                </a:solidFill>
                <a:latin typeface="Courier"/>
              </a:rPr>
              <a:t>#CC2929</a:t>
            </a:r>
            <a:endParaRPr lang="de-DE" sz="5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30" name="Footer rule 30"/>
          <p:cNvSpPr/>
          <p:nvPr/>
        </p:nvSpPr>
        <p:spPr>
          <a:xfrm>
            <a:off x="566928" y="6419088"/>
            <a:ext cx="11045952" cy="5486"/>
          </a:xfrm>
          <a:prstGeom prst="rect">
            <a:avLst/>
          </a:prstGeom>
          <a:solidFill>
            <a:srgbClr val="4A4A4F"/>
          </a:solidFill>
          <a:ln>
            <a:noFill/>
          </a:ln>
        </p:spPr>
        <p:style/>
      </p:sp>
      <p:sp>
        <p:nvSpPr>
          <p:cNvPr id="31" name="Text 31"/>
          <p:cNvSpPr txBox="1"/>
          <p:nvPr/>
        </p:nvSpPr>
        <p:spPr>
          <a:xfrm>
            <a:off x="566928" y="6510528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680" dirty="0">
                <a:solidFill>
                  <a:srgbClr val="9B9BA8"/>
                </a:solidFill>
                <a:latin typeface="Courier"/>
              </a:rPr>
              <a:t>CAREVO VC / CONSULTING TEMPLATE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32" name="Text 32"/>
          <p:cNvSpPr txBox="1"/>
          <p:nvPr/>
        </p:nvSpPr>
        <p:spPr>
          <a:xfrm>
            <a:off x="4572000" y="6510528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680" dirty="0">
                <a:solidFill>
                  <a:srgbClr val="9B9BA8"/>
                </a:solidFill>
                <a:latin typeface="Courier"/>
              </a:rPr>
              <a:t>CONFIDENTIAL - TEMPLATE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33" name="Text 33"/>
          <p:cNvSpPr txBox="1"/>
          <p:nvPr/>
        </p:nvSpPr>
        <p:spPr>
          <a:xfrm>
            <a:off x="11018520" y="6510528"/>
            <a:ext cx="59436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r"/>
            <a:r>
              <a:rPr lang="de-DE" sz="680" dirty="0">
                <a:solidFill>
                  <a:srgbClr val="9B9BA8"/>
                </a:solidFill>
                <a:latin typeface="Courier"/>
              </a:rPr>
              <a:t>01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sign Logic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EVO accent bar 2"/>
          <p:cNvSpPr/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3" name="Text 3"/>
          <p:cNvSpPr txBox="1"/>
          <p:nvPr/>
        </p:nvSpPr>
        <p:spPr>
          <a:xfrm>
            <a:off x="566928" y="292608"/>
            <a:ext cx="429768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50" b="1" dirty="0">
                <a:solidFill>
                  <a:srgbClr val="9B9BA8"/>
                </a:solidFill>
                <a:latin typeface="Courier"/>
              </a:rPr>
              <a:t>DESIGN GRUNDLAGE</a:t>
            </a:r>
            <a:endParaRPr lang="de-DE" sz="75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4" name="Header rule 4"/>
          <p:cNvSpPr/>
          <p:nvPr/>
        </p:nvSpPr>
        <p:spPr>
          <a:xfrm>
            <a:off x="566928" y="658368"/>
            <a:ext cx="11045952" cy="5486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/>
      </p:sp>
      <p:sp>
        <p:nvSpPr>
          <p:cNvPr id="5" name="Text 5"/>
          <p:cNvSpPr txBox="1"/>
          <p:nvPr/>
        </p:nvSpPr>
        <p:spPr>
          <a:xfrm>
            <a:off x="566928" y="804672"/>
            <a:ext cx="10058400" cy="53035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2400" b="1" dirty="0">
                <a:solidFill>
                  <a:srgbClr val="0A0A0F"/>
                </a:solidFill>
                <a:latin typeface="Helvetica"/>
              </a:rPr>
              <a:t>Klinische Stille als Investment-Kommunikation</a:t>
            </a:r>
            <a:endParaRPr lang="de-DE" sz="24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6" name="Footer rule 6"/>
          <p:cNvSpPr/>
          <p:nvPr/>
        </p:nvSpPr>
        <p:spPr>
          <a:xfrm>
            <a:off x="566928" y="6419088"/>
            <a:ext cx="11045952" cy="5486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/>
      </p:sp>
      <p:sp>
        <p:nvSpPr>
          <p:cNvPr id="7" name="Text 7"/>
          <p:cNvSpPr txBox="1"/>
          <p:nvPr/>
        </p:nvSpPr>
        <p:spPr>
          <a:xfrm>
            <a:off x="566928" y="6510528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680" dirty="0">
                <a:solidFill>
                  <a:srgbClr val="9B9BA8"/>
                </a:solidFill>
                <a:latin typeface="Courier"/>
              </a:rPr>
              <a:t>CAREVO VC / CONSULTING TEMPLATE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8" name="Text 8"/>
          <p:cNvSpPr txBox="1"/>
          <p:nvPr/>
        </p:nvSpPr>
        <p:spPr>
          <a:xfrm>
            <a:off x="4572000" y="6510528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680" dirty="0">
                <a:solidFill>
                  <a:srgbClr val="9B9BA8"/>
                </a:solidFill>
                <a:latin typeface="Courier"/>
              </a:rPr>
              <a:t>CONFIDENTIAL - TEMPLATE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9" name="Text 9"/>
          <p:cNvSpPr txBox="1"/>
          <p:nvPr/>
        </p:nvSpPr>
        <p:spPr>
          <a:xfrm>
            <a:off x="11018520" y="6510528"/>
            <a:ext cx="59436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r"/>
            <a:r>
              <a:rPr lang="de-DE" sz="680" dirty="0">
                <a:solidFill>
                  <a:srgbClr val="9B9BA8"/>
                </a:solidFill>
                <a:latin typeface="Courier"/>
              </a:rPr>
              <a:t>02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10" name="Text 10"/>
          <p:cNvSpPr txBox="1"/>
          <p:nvPr/>
        </p:nvSpPr>
        <p:spPr>
          <a:xfrm>
            <a:off x="676656" y="1627632"/>
            <a:ext cx="5303520" cy="56692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2000" b="1" dirty="0">
                <a:solidFill>
                  <a:srgbClr val="0A0A0F"/>
                </a:solidFill>
                <a:latin typeface="Helvetica"/>
              </a:rPr>
              <a:t>Das Template uebersetzt das CAREVO Designsystem in eine Board- und VC-taugliche Folienlogik.</a:t>
            </a:r>
            <a:endParaRPr lang="de-DE" sz="20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11" name="Card 11"/>
          <p:cNvSpPr/>
          <p:nvPr/>
        </p:nvSpPr>
        <p:spPr>
          <a:xfrm>
            <a:off x="694944" y="2514600"/>
            <a:ext cx="3246120" cy="14447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12" name="Card marker 12"/>
          <p:cNvSpPr/>
          <p:nvPr/>
        </p:nvSpPr>
        <p:spPr>
          <a:xfrm>
            <a:off x="841248" y="2679192"/>
            <a:ext cx="36576" cy="36576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13" name="Text 13"/>
          <p:cNvSpPr txBox="1"/>
          <p:nvPr/>
        </p:nvSpPr>
        <p:spPr>
          <a:xfrm>
            <a:off x="841248" y="2798064"/>
            <a:ext cx="2953512" cy="1463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680" b="1" dirty="0">
                <a:solidFill>
                  <a:srgbClr val="9B9BA8"/>
                </a:solidFill>
                <a:latin typeface="Courier"/>
              </a:rPr>
              <a:t>PRINZIP 01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14" name="Text 14"/>
          <p:cNvSpPr txBox="1"/>
          <p:nvPr/>
        </p:nvSpPr>
        <p:spPr>
          <a:xfrm>
            <a:off x="841248" y="3017520"/>
            <a:ext cx="2953512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1300" b="1" dirty="0">
                <a:solidFill>
                  <a:srgbClr val="0A0A0F"/>
                </a:solidFill>
                <a:latin typeface="Helvetica"/>
              </a:rPr>
              <a:t>Ruhe statt Show</a:t>
            </a:r>
            <a:endParaRPr lang="de-DE" sz="13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15" name="Text 15"/>
          <p:cNvSpPr txBox="1"/>
          <p:nvPr/>
        </p:nvSpPr>
        <p:spPr>
          <a:xfrm>
            <a:off x="841248" y="3410712"/>
            <a:ext cx="2953512" cy="48463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920" dirty="0">
                <a:solidFill>
                  <a:srgbClr val="4A4A4F"/>
                </a:solidFill>
                <a:latin typeface="Helvetica"/>
              </a:rPr>
              <a:t>Viel Weissraum, klare Linien, keine dekorativen Farbverlaeufe. Jede Flaeche dient der Lesbarkeit.</a:t>
            </a:r>
            <a:endParaRPr lang="de-DE" sz="92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16" name="Card 16"/>
          <p:cNvSpPr/>
          <p:nvPr/>
        </p:nvSpPr>
        <p:spPr>
          <a:xfrm>
            <a:off x="4160520" y="2514600"/>
            <a:ext cx="3246120" cy="14447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17" name="Card marker 17"/>
          <p:cNvSpPr/>
          <p:nvPr/>
        </p:nvSpPr>
        <p:spPr>
          <a:xfrm>
            <a:off x="4306824" y="2679192"/>
            <a:ext cx="36576" cy="36576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18" name="Text 18"/>
          <p:cNvSpPr txBox="1"/>
          <p:nvPr/>
        </p:nvSpPr>
        <p:spPr>
          <a:xfrm>
            <a:off x="4306824" y="2798064"/>
            <a:ext cx="2953512" cy="1463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680" b="1" dirty="0">
                <a:solidFill>
                  <a:srgbClr val="9B9BA8"/>
                </a:solidFill>
                <a:latin typeface="Courier"/>
              </a:rPr>
              <a:t>PRINZIP 02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19" name="Text 19"/>
          <p:cNvSpPr txBox="1"/>
          <p:nvPr/>
        </p:nvSpPr>
        <p:spPr>
          <a:xfrm>
            <a:off x="4306824" y="3017520"/>
            <a:ext cx="2953512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1300" b="1" dirty="0">
                <a:solidFill>
                  <a:srgbClr val="0A0A0F"/>
                </a:solidFill>
                <a:latin typeface="Helvetica"/>
              </a:rPr>
              <a:t>Farbe als System</a:t>
            </a:r>
            <a:endParaRPr lang="de-DE" sz="13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20" name="Text 20"/>
          <p:cNvSpPr txBox="1"/>
          <p:nvPr/>
        </p:nvSpPr>
        <p:spPr>
          <a:xfrm>
            <a:off x="4306824" y="3410712"/>
            <a:ext cx="2953512" cy="48463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920" dirty="0">
                <a:solidFill>
                  <a:srgbClr val="4A4A4F"/>
                </a:solidFill>
                <a:latin typeface="Helvetica"/>
              </a:rPr>
              <a:t>Teal markiert Orientierung und Aktion. Grau strukturiert. Schwarz traegt Verantwortung.</a:t>
            </a:r>
            <a:endParaRPr lang="de-DE" sz="92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21" name="Card 21"/>
          <p:cNvSpPr/>
          <p:nvPr/>
        </p:nvSpPr>
        <p:spPr>
          <a:xfrm>
            <a:off x="7626096" y="2514600"/>
            <a:ext cx="3246120" cy="14447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22" name="Card marker 22"/>
          <p:cNvSpPr/>
          <p:nvPr/>
        </p:nvSpPr>
        <p:spPr>
          <a:xfrm>
            <a:off x="7772400" y="2679192"/>
            <a:ext cx="36576" cy="36576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23" name="Text 23"/>
          <p:cNvSpPr txBox="1"/>
          <p:nvPr/>
        </p:nvSpPr>
        <p:spPr>
          <a:xfrm>
            <a:off x="7772400" y="2798064"/>
            <a:ext cx="2953512" cy="1463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680" b="1" dirty="0">
                <a:solidFill>
                  <a:srgbClr val="9B9BA8"/>
                </a:solidFill>
                <a:latin typeface="Courier"/>
              </a:rPr>
              <a:t>PRINZIP 03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24" name="Text 24"/>
          <p:cNvSpPr txBox="1"/>
          <p:nvPr/>
        </p:nvSpPr>
        <p:spPr>
          <a:xfrm>
            <a:off x="7772400" y="3017520"/>
            <a:ext cx="2953512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1300" b="1" dirty="0">
                <a:solidFill>
                  <a:srgbClr val="0A0A0F"/>
                </a:solidFill>
                <a:latin typeface="Helvetica"/>
              </a:rPr>
              <a:t>Beweisfuehrung</a:t>
            </a:r>
            <a:endParaRPr lang="de-DE" sz="13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25" name="Text 25"/>
          <p:cNvSpPr txBox="1"/>
          <p:nvPr/>
        </p:nvSpPr>
        <p:spPr>
          <a:xfrm>
            <a:off x="7772400" y="3410712"/>
            <a:ext cx="2953512" cy="48463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920" dirty="0">
                <a:solidFill>
                  <a:srgbClr val="4A4A4F"/>
                </a:solidFill>
                <a:latin typeface="Helvetica"/>
              </a:rPr>
              <a:t>Consulting-nahe Headlines, Tabellen, Bruecken, Matrizen und Fussnoten statt Marketing-Flaechen.</a:t>
            </a:r>
            <a:endParaRPr lang="de-DE" sz="92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26" name="Shape 26"/>
          <p:cNvSpPr/>
          <p:nvPr/>
        </p:nvSpPr>
        <p:spPr>
          <a:xfrm>
            <a:off x="694944" y="4498848"/>
            <a:ext cx="10149840" cy="658368"/>
          </a:xfrm>
          <a:prstGeom prst="rect">
            <a:avLst/>
          </a:prstGeom>
          <a:solidFill>
            <a:srgbClr val="F4F4F6"/>
          </a:solidFill>
          <a:ln w="6350">
            <a:solidFill>
              <a:srgbClr val="E8E8EC"/>
            </a:solidFill>
          </a:ln>
        </p:spPr>
        <p:style/>
      </p:sp>
      <p:sp>
        <p:nvSpPr>
          <p:cNvPr id="27" name="Text 27"/>
          <p:cNvSpPr txBox="1"/>
          <p:nvPr/>
        </p:nvSpPr>
        <p:spPr>
          <a:xfrm>
            <a:off x="896112" y="4663440"/>
            <a:ext cx="1828800" cy="1463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680" b="1" dirty="0">
                <a:solidFill>
                  <a:srgbClr val="9B9BA8"/>
                </a:solidFill>
                <a:latin typeface="Courier"/>
              </a:rPr>
              <a:t>QUELLEN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28" name="Text 28"/>
          <p:cNvSpPr txBox="1"/>
          <p:nvPr/>
        </p:nvSpPr>
        <p:spPr>
          <a:xfrm>
            <a:off x="2011680" y="4608576"/>
            <a:ext cx="8595360" cy="23774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840" dirty="0">
                <a:solidFill>
                  <a:srgbClr val="4A4A4F"/>
                </a:solidFill>
                <a:latin typeface="Courier"/>
              </a:rPr>
              <a:t>CAREVO_Brand_Design_Guide.pdf | carevo-design-philosophy.md | 03_UI_UX_SPEC.md | src/app/globals.css | tailwind.config.ts | logo.tsx</a:t>
            </a:r>
            <a:endParaRPr lang="de-DE" sz="840" dirty="0">
              <a:solidFill>
                <a:srgbClr val="4A4A4F"/>
              </a:solidFill>
              <a:latin typeface="Courier"/>
            </a:endParaRPr>
          </a:p>
        </p:txBody>
      </p:sp>
      <p:sp>
        <p:nvSpPr>
          <p:cNvPr id="29" name="Color swatch 29"/>
          <p:cNvSpPr/>
          <p:nvPr/>
        </p:nvSpPr>
        <p:spPr>
          <a:xfrm>
            <a:off x="694944" y="5577840"/>
            <a:ext cx="796671" cy="237744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/>
      </p:sp>
      <p:sp>
        <p:nvSpPr>
          <p:cNvPr id="30" name="Text 30"/>
          <p:cNvSpPr txBox="1"/>
          <p:nvPr/>
        </p:nvSpPr>
        <p:spPr>
          <a:xfrm>
            <a:off x="694944" y="5870448"/>
            <a:ext cx="796671" cy="11887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580" dirty="0">
                <a:solidFill>
                  <a:srgbClr val="9B9BA8"/>
                </a:solidFill>
                <a:latin typeface="Courier"/>
              </a:rPr>
              <a:t>#0A0A0F</a:t>
            </a:r>
            <a:endParaRPr lang="de-DE" sz="5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31" name="Color swatch 31"/>
          <p:cNvSpPr/>
          <p:nvPr/>
        </p:nvSpPr>
        <p:spPr>
          <a:xfrm>
            <a:off x="1528191" y="5577840"/>
            <a:ext cx="796671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32" name="Text 32"/>
          <p:cNvSpPr txBox="1"/>
          <p:nvPr/>
        </p:nvSpPr>
        <p:spPr>
          <a:xfrm>
            <a:off x="1528191" y="5870448"/>
            <a:ext cx="796671" cy="11887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580" dirty="0">
                <a:solidFill>
                  <a:srgbClr val="9B9BA8"/>
                </a:solidFill>
                <a:latin typeface="Courier"/>
              </a:rPr>
              <a:t>#FFFFFF</a:t>
            </a:r>
            <a:endParaRPr lang="de-DE" sz="5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33" name="Color swatch 33"/>
          <p:cNvSpPr/>
          <p:nvPr/>
        </p:nvSpPr>
        <p:spPr>
          <a:xfrm>
            <a:off x="2361438" y="5577840"/>
            <a:ext cx="796671" cy="237744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34" name="Text 34"/>
          <p:cNvSpPr txBox="1"/>
          <p:nvPr/>
        </p:nvSpPr>
        <p:spPr>
          <a:xfrm>
            <a:off x="2361438" y="5870448"/>
            <a:ext cx="796671" cy="11887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580" dirty="0">
                <a:solidFill>
                  <a:srgbClr val="9B9BA8"/>
                </a:solidFill>
                <a:latin typeface="Courier"/>
              </a:rPr>
              <a:t>#1E6B72</a:t>
            </a:r>
            <a:endParaRPr lang="de-DE" sz="5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35" name="Color swatch 35"/>
          <p:cNvSpPr/>
          <p:nvPr/>
        </p:nvSpPr>
        <p:spPr>
          <a:xfrm>
            <a:off x="3194685" y="5577840"/>
            <a:ext cx="796671" cy="237744"/>
          </a:xfrm>
          <a:prstGeom prst="rect">
            <a:avLst/>
          </a:prstGeom>
          <a:solidFill>
            <a:srgbClr val="F4F4F6"/>
          </a:solidFill>
          <a:ln>
            <a:noFill/>
          </a:ln>
        </p:spPr>
        <p:style/>
      </p:sp>
      <p:sp>
        <p:nvSpPr>
          <p:cNvPr id="36" name="Text 36"/>
          <p:cNvSpPr txBox="1"/>
          <p:nvPr/>
        </p:nvSpPr>
        <p:spPr>
          <a:xfrm>
            <a:off x="3194685" y="5870448"/>
            <a:ext cx="796671" cy="11887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580" dirty="0">
                <a:solidFill>
                  <a:srgbClr val="9B9BA8"/>
                </a:solidFill>
                <a:latin typeface="Courier"/>
              </a:rPr>
              <a:t>#F4F4F6</a:t>
            </a:r>
            <a:endParaRPr lang="de-DE" sz="5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37" name="Color swatch 37"/>
          <p:cNvSpPr/>
          <p:nvPr/>
        </p:nvSpPr>
        <p:spPr>
          <a:xfrm>
            <a:off x="4027932" y="5577840"/>
            <a:ext cx="796671" cy="237744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/>
      </p:sp>
      <p:sp>
        <p:nvSpPr>
          <p:cNvPr id="38" name="Text 38"/>
          <p:cNvSpPr txBox="1"/>
          <p:nvPr/>
        </p:nvSpPr>
        <p:spPr>
          <a:xfrm>
            <a:off x="4027932" y="5870448"/>
            <a:ext cx="796671" cy="11887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580" dirty="0">
                <a:solidFill>
                  <a:srgbClr val="9B9BA8"/>
                </a:solidFill>
                <a:latin typeface="Courier"/>
              </a:rPr>
              <a:t>#E8E8EC</a:t>
            </a:r>
            <a:endParaRPr lang="de-DE" sz="5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39" name="Color swatch 39"/>
          <p:cNvSpPr/>
          <p:nvPr/>
        </p:nvSpPr>
        <p:spPr>
          <a:xfrm>
            <a:off x="4861179" y="5577840"/>
            <a:ext cx="796671" cy="237744"/>
          </a:xfrm>
          <a:prstGeom prst="rect">
            <a:avLst/>
          </a:prstGeom>
          <a:solidFill>
            <a:srgbClr val="9B9BA8"/>
          </a:solidFill>
          <a:ln>
            <a:noFill/>
          </a:ln>
        </p:spPr>
        <p:style/>
      </p:sp>
      <p:sp>
        <p:nvSpPr>
          <p:cNvPr id="40" name="Text 40"/>
          <p:cNvSpPr txBox="1"/>
          <p:nvPr/>
        </p:nvSpPr>
        <p:spPr>
          <a:xfrm>
            <a:off x="4861179" y="5870448"/>
            <a:ext cx="796671" cy="11887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580" dirty="0">
                <a:solidFill>
                  <a:srgbClr val="9B9BA8"/>
                </a:solidFill>
                <a:latin typeface="Courier"/>
              </a:rPr>
              <a:t>#9B9BA8</a:t>
            </a:r>
            <a:endParaRPr lang="de-DE" sz="5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41" name="Color swatch 41"/>
          <p:cNvSpPr/>
          <p:nvPr/>
        </p:nvSpPr>
        <p:spPr>
          <a:xfrm>
            <a:off x="5694426" y="5577840"/>
            <a:ext cx="796671" cy="237744"/>
          </a:xfrm>
          <a:prstGeom prst="rect">
            <a:avLst/>
          </a:prstGeom>
          <a:solidFill>
            <a:srgbClr val="4A4A4F"/>
          </a:solidFill>
          <a:ln>
            <a:noFill/>
          </a:ln>
        </p:spPr>
        <p:style/>
      </p:sp>
      <p:sp>
        <p:nvSpPr>
          <p:cNvPr id="42" name="Text 42"/>
          <p:cNvSpPr txBox="1"/>
          <p:nvPr/>
        </p:nvSpPr>
        <p:spPr>
          <a:xfrm>
            <a:off x="5694426" y="5870448"/>
            <a:ext cx="796671" cy="11887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580" dirty="0">
                <a:solidFill>
                  <a:srgbClr val="9B9BA8"/>
                </a:solidFill>
                <a:latin typeface="Courier"/>
              </a:rPr>
              <a:t>#4A4A4F</a:t>
            </a:r>
            <a:endParaRPr lang="de-DE" sz="5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43" name="Color swatch 43"/>
          <p:cNvSpPr/>
          <p:nvPr/>
        </p:nvSpPr>
        <p:spPr>
          <a:xfrm>
            <a:off x="6527673" y="5577840"/>
            <a:ext cx="796671" cy="237744"/>
          </a:xfrm>
          <a:prstGeom prst="rect">
            <a:avLst/>
          </a:prstGeom>
          <a:solidFill>
            <a:srgbClr val="CC2929"/>
          </a:solidFill>
          <a:ln>
            <a:noFill/>
          </a:ln>
        </p:spPr>
        <p:style/>
      </p:sp>
      <p:sp>
        <p:nvSpPr>
          <p:cNvPr id="44" name="Text 44"/>
          <p:cNvSpPr txBox="1"/>
          <p:nvPr/>
        </p:nvSpPr>
        <p:spPr>
          <a:xfrm>
            <a:off x="6527673" y="5870448"/>
            <a:ext cx="796671" cy="11887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580" dirty="0">
                <a:solidFill>
                  <a:srgbClr val="9B9BA8"/>
                </a:solidFill>
                <a:latin typeface="Courier"/>
              </a:rPr>
              <a:t>#CC2929</a:t>
            </a:r>
            <a:endParaRPr lang="de-DE" sz="580" dirty="0">
              <a:solidFill>
                <a:srgbClr val="9B9BA8"/>
              </a:solidFill>
              <a:latin typeface="Couri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aster Layout Inde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EVO accent bar 2"/>
          <p:cNvSpPr/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3" name="Text 3"/>
          <p:cNvSpPr txBox="1"/>
          <p:nvPr/>
        </p:nvSpPr>
        <p:spPr>
          <a:xfrm>
            <a:off x="566928" y="292608"/>
            <a:ext cx="429768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50" b="1" dirty="0">
                <a:solidFill>
                  <a:srgbClr val="9B9BA8"/>
                </a:solidFill>
                <a:latin typeface="Courier"/>
              </a:rPr>
              <a:t>MASTER FOLIEN</a:t>
            </a:r>
            <a:endParaRPr lang="de-DE" sz="75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4" name="Header rule 4"/>
          <p:cNvSpPr/>
          <p:nvPr/>
        </p:nvSpPr>
        <p:spPr>
          <a:xfrm>
            <a:off x="566928" y="658368"/>
            <a:ext cx="11045952" cy="5486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/>
      </p:sp>
      <p:sp>
        <p:nvSpPr>
          <p:cNvPr id="5" name="Text 5"/>
          <p:cNvSpPr txBox="1"/>
          <p:nvPr/>
        </p:nvSpPr>
        <p:spPr>
          <a:xfrm>
            <a:off x="566928" y="804672"/>
            <a:ext cx="10058400" cy="53035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2400" b="1" dirty="0">
                <a:solidFill>
                  <a:srgbClr val="0A0A0F"/>
                </a:solidFill>
                <a:latin typeface="Helvetica"/>
              </a:rPr>
              <a:t>Alle Layouts sind als PowerPoint Slide Layouts angelegt</a:t>
            </a:r>
            <a:endParaRPr lang="de-DE" sz="24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6" name="Footer rule 6"/>
          <p:cNvSpPr/>
          <p:nvPr/>
        </p:nvSpPr>
        <p:spPr>
          <a:xfrm>
            <a:off x="566928" y="6419088"/>
            <a:ext cx="11045952" cy="5486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/>
      </p:sp>
      <p:sp>
        <p:nvSpPr>
          <p:cNvPr id="7" name="Text 7"/>
          <p:cNvSpPr txBox="1"/>
          <p:nvPr/>
        </p:nvSpPr>
        <p:spPr>
          <a:xfrm>
            <a:off x="566928" y="6510528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680" dirty="0">
                <a:solidFill>
                  <a:srgbClr val="9B9BA8"/>
                </a:solidFill>
                <a:latin typeface="Courier"/>
              </a:rPr>
              <a:t>CAREVO VC / CONSULTING TEMPLATE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8" name="Text 8"/>
          <p:cNvSpPr txBox="1"/>
          <p:nvPr/>
        </p:nvSpPr>
        <p:spPr>
          <a:xfrm>
            <a:off x="4572000" y="6510528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680" dirty="0">
                <a:solidFill>
                  <a:srgbClr val="9B9BA8"/>
                </a:solidFill>
                <a:latin typeface="Courier"/>
              </a:rPr>
              <a:t>CONFIDENTIAL - TEMPLATE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9" name="Text 9"/>
          <p:cNvSpPr txBox="1"/>
          <p:nvPr/>
        </p:nvSpPr>
        <p:spPr>
          <a:xfrm>
            <a:off x="11018520" y="6510528"/>
            <a:ext cx="59436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r"/>
            <a:r>
              <a:rPr lang="de-DE" sz="680" dirty="0">
                <a:solidFill>
                  <a:srgbClr val="9B9BA8"/>
                </a:solidFill>
                <a:latin typeface="Courier"/>
              </a:rPr>
              <a:t>03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10" name="Text 10"/>
          <p:cNvSpPr txBox="1"/>
          <p:nvPr/>
        </p:nvSpPr>
        <p:spPr>
          <a:xfrm>
            <a:off x="694944" y="1481328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1300" dirty="0">
                <a:solidFill>
                  <a:srgbClr val="4A4A4F"/>
                </a:solidFill>
                <a:latin typeface="Helvetica"/>
              </a:rPr>
              <a:t>Layout-Bibliothek fuer Pitch, Board, Strategie, Produkt und Appendix.</a:t>
            </a:r>
            <a:endParaRPr lang="de-DE" sz="130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11" name="Shape 11"/>
          <p:cNvSpPr/>
          <p:nvPr/>
        </p:nvSpPr>
        <p:spPr>
          <a:xfrm>
            <a:off x="694944" y="1901952"/>
            <a:ext cx="208483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12" name="Text 12"/>
          <p:cNvSpPr txBox="1"/>
          <p:nvPr/>
        </p:nvSpPr>
        <p:spPr>
          <a:xfrm>
            <a:off x="786384" y="1984248"/>
            <a:ext cx="310896" cy="12801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30" b="1" dirty="0">
                <a:solidFill>
                  <a:srgbClr val="1E6B72"/>
                </a:solidFill>
                <a:latin typeface="Courier"/>
              </a:rPr>
              <a:t>01</a:t>
            </a:r>
            <a:endParaRPr lang="de-DE" sz="730" dirty="0">
              <a:solidFill>
                <a:srgbClr val="1E6B72"/>
              </a:solidFill>
              <a:latin typeface="Courier"/>
            </a:endParaRPr>
          </a:p>
        </p:txBody>
      </p:sp>
      <p:sp>
        <p:nvSpPr>
          <p:cNvPr id="13" name="Text 13"/>
          <p:cNvSpPr txBox="1"/>
          <p:nvPr/>
        </p:nvSpPr>
        <p:spPr>
          <a:xfrm>
            <a:off x="1133856" y="1975104"/>
            <a:ext cx="1554480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50" b="1" dirty="0">
                <a:solidFill>
                  <a:srgbClr val="0A0A0F"/>
                </a:solidFill>
                <a:latin typeface="Helvetica"/>
              </a:rPr>
              <a:t>01 Cover</a:t>
            </a:r>
            <a:endParaRPr lang="de-DE" sz="75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14" name="Shape 14"/>
          <p:cNvSpPr/>
          <p:nvPr/>
        </p:nvSpPr>
        <p:spPr>
          <a:xfrm>
            <a:off x="2926080" y="1901952"/>
            <a:ext cx="208483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15" name="Text 15"/>
          <p:cNvSpPr txBox="1"/>
          <p:nvPr/>
        </p:nvSpPr>
        <p:spPr>
          <a:xfrm>
            <a:off x="3017520" y="1984248"/>
            <a:ext cx="310896" cy="12801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30" b="1" dirty="0">
                <a:solidFill>
                  <a:srgbClr val="1E6B72"/>
                </a:solidFill>
                <a:latin typeface="Courier"/>
              </a:rPr>
              <a:t>02</a:t>
            </a:r>
            <a:endParaRPr lang="de-DE" sz="730" dirty="0">
              <a:solidFill>
                <a:srgbClr val="1E6B72"/>
              </a:solidFill>
              <a:latin typeface="Courier"/>
            </a:endParaRPr>
          </a:p>
        </p:txBody>
      </p:sp>
      <p:sp>
        <p:nvSpPr>
          <p:cNvPr id="16" name="Text 16"/>
          <p:cNvSpPr txBox="1"/>
          <p:nvPr/>
        </p:nvSpPr>
        <p:spPr>
          <a:xfrm>
            <a:off x="3364992" y="1975104"/>
            <a:ext cx="1554480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50" b="1" dirty="0">
                <a:solidFill>
                  <a:srgbClr val="0A0A0F"/>
                </a:solidFill>
                <a:latin typeface="Helvetica"/>
              </a:rPr>
              <a:t>02 Section Divider</a:t>
            </a:r>
            <a:endParaRPr lang="de-DE" sz="75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17" name="Shape 17"/>
          <p:cNvSpPr/>
          <p:nvPr/>
        </p:nvSpPr>
        <p:spPr>
          <a:xfrm>
            <a:off x="5157216" y="1901952"/>
            <a:ext cx="208483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18" name="Text 18"/>
          <p:cNvSpPr txBox="1"/>
          <p:nvPr/>
        </p:nvSpPr>
        <p:spPr>
          <a:xfrm>
            <a:off x="5248656" y="1984248"/>
            <a:ext cx="310896" cy="12801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30" b="1" dirty="0">
                <a:solidFill>
                  <a:srgbClr val="1E6B72"/>
                </a:solidFill>
                <a:latin typeface="Courier"/>
              </a:rPr>
              <a:t>03</a:t>
            </a:r>
            <a:endParaRPr lang="de-DE" sz="730" dirty="0">
              <a:solidFill>
                <a:srgbClr val="1E6B72"/>
              </a:solidFill>
              <a:latin typeface="Courier"/>
            </a:endParaRPr>
          </a:p>
        </p:txBody>
      </p:sp>
      <p:sp>
        <p:nvSpPr>
          <p:cNvPr id="19" name="Text 19"/>
          <p:cNvSpPr txBox="1"/>
          <p:nvPr/>
        </p:nvSpPr>
        <p:spPr>
          <a:xfrm>
            <a:off x="5596128" y="1975104"/>
            <a:ext cx="1554480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50" b="1" dirty="0">
                <a:solidFill>
                  <a:srgbClr val="0A0A0F"/>
                </a:solidFill>
                <a:latin typeface="Helvetica"/>
              </a:rPr>
              <a:t>03 Executive Summary</a:t>
            </a:r>
            <a:endParaRPr lang="de-DE" sz="75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20" name="Shape 20"/>
          <p:cNvSpPr/>
          <p:nvPr/>
        </p:nvSpPr>
        <p:spPr>
          <a:xfrm>
            <a:off x="7388352" y="1901952"/>
            <a:ext cx="208483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21" name="Text 21"/>
          <p:cNvSpPr txBox="1"/>
          <p:nvPr/>
        </p:nvSpPr>
        <p:spPr>
          <a:xfrm>
            <a:off x="7479792" y="1984248"/>
            <a:ext cx="310896" cy="12801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30" b="1" dirty="0">
                <a:solidFill>
                  <a:srgbClr val="1E6B72"/>
                </a:solidFill>
                <a:latin typeface="Courier"/>
              </a:rPr>
              <a:t>04</a:t>
            </a:r>
            <a:endParaRPr lang="de-DE" sz="730" dirty="0">
              <a:solidFill>
                <a:srgbClr val="1E6B72"/>
              </a:solidFill>
              <a:latin typeface="Courier"/>
            </a:endParaRPr>
          </a:p>
        </p:txBody>
      </p:sp>
      <p:sp>
        <p:nvSpPr>
          <p:cNvPr id="22" name="Text 22"/>
          <p:cNvSpPr txBox="1"/>
          <p:nvPr/>
        </p:nvSpPr>
        <p:spPr>
          <a:xfrm>
            <a:off x="7827264" y="1975104"/>
            <a:ext cx="1554480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50" b="1" dirty="0">
                <a:solidFill>
                  <a:srgbClr val="0A0A0F"/>
                </a:solidFill>
                <a:latin typeface="Helvetica"/>
              </a:rPr>
              <a:t>04 Statement / Big Number</a:t>
            </a:r>
            <a:endParaRPr lang="de-DE" sz="75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23" name="Shape 23"/>
          <p:cNvSpPr/>
          <p:nvPr/>
        </p:nvSpPr>
        <p:spPr>
          <a:xfrm>
            <a:off x="9619488" y="1901952"/>
            <a:ext cx="208483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24" name="Text 24"/>
          <p:cNvSpPr txBox="1"/>
          <p:nvPr/>
        </p:nvSpPr>
        <p:spPr>
          <a:xfrm>
            <a:off x="9710928" y="1984248"/>
            <a:ext cx="310896" cy="12801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30" b="1" dirty="0">
                <a:solidFill>
                  <a:srgbClr val="1E6B72"/>
                </a:solidFill>
                <a:latin typeface="Courier"/>
              </a:rPr>
              <a:t>05</a:t>
            </a:r>
            <a:endParaRPr lang="de-DE" sz="730" dirty="0">
              <a:solidFill>
                <a:srgbClr val="1E6B72"/>
              </a:solidFill>
              <a:latin typeface="Courier"/>
            </a:endParaRPr>
          </a:p>
        </p:txBody>
      </p:sp>
      <p:sp>
        <p:nvSpPr>
          <p:cNvPr id="25" name="Text 25"/>
          <p:cNvSpPr txBox="1"/>
          <p:nvPr/>
        </p:nvSpPr>
        <p:spPr>
          <a:xfrm>
            <a:off x="10058400" y="1975104"/>
            <a:ext cx="1554480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50" b="1" dirty="0">
                <a:solidFill>
                  <a:srgbClr val="0A0A0F"/>
                </a:solidFill>
                <a:latin typeface="Helvetica"/>
              </a:rPr>
              <a:t>05 Two-Column Analysis</a:t>
            </a:r>
            <a:endParaRPr lang="de-DE" sz="75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26" name="Shape 26"/>
          <p:cNvSpPr/>
          <p:nvPr/>
        </p:nvSpPr>
        <p:spPr>
          <a:xfrm>
            <a:off x="694944" y="2633472"/>
            <a:ext cx="208483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27" name="Text 27"/>
          <p:cNvSpPr txBox="1"/>
          <p:nvPr/>
        </p:nvSpPr>
        <p:spPr>
          <a:xfrm>
            <a:off x="786384" y="2715768"/>
            <a:ext cx="310896" cy="12801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30" b="1" dirty="0">
                <a:solidFill>
                  <a:srgbClr val="1E6B72"/>
                </a:solidFill>
                <a:latin typeface="Courier"/>
              </a:rPr>
              <a:t>06</a:t>
            </a:r>
            <a:endParaRPr lang="de-DE" sz="730" dirty="0">
              <a:solidFill>
                <a:srgbClr val="1E6B72"/>
              </a:solidFill>
              <a:latin typeface="Courier"/>
            </a:endParaRPr>
          </a:p>
        </p:txBody>
      </p:sp>
      <p:sp>
        <p:nvSpPr>
          <p:cNvPr id="28" name="Text 28"/>
          <p:cNvSpPr txBox="1"/>
          <p:nvPr/>
        </p:nvSpPr>
        <p:spPr>
          <a:xfrm>
            <a:off x="1133856" y="2706624"/>
            <a:ext cx="1554480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50" b="1" dirty="0">
                <a:solidFill>
                  <a:srgbClr val="0A0A0F"/>
                </a:solidFill>
                <a:latin typeface="Helvetica"/>
              </a:rPr>
              <a:t>06 Three-Column Cards</a:t>
            </a:r>
            <a:endParaRPr lang="de-DE" sz="75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29" name="Shape 29"/>
          <p:cNvSpPr/>
          <p:nvPr/>
        </p:nvSpPr>
        <p:spPr>
          <a:xfrm>
            <a:off x="2926080" y="2633472"/>
            <a:ext cx="208483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30" name="Text 30"/>
          <p:cNvSpPr txBox="1"/>
          <p:nvPr/>
        </p:nvSpPr>
        <p:spPr>
          <a:xfrm>
            <a:off x="3017520" y="2715768"/>
            <a:ext cx="310896" cy="12801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30" b="1" dirty="0">
                <a:solidFill>
                  <a:srgbClr val="1E6B72"/>
                </a:solidFill>
                <a:latin typeface="Courier"/>
              </a:rPr>
              <a:t>07</a:t>
            </a:r>
            <a:endParaRPr lang="de-DE" sz="730" dirty="0">
              <a:solidFill>
                <a:srgbClr val="1E6B72"/>
              </a:solidFill>
              <a:latin typeface="Courier"/>
            </a:endParaRPr>
          </a:p>
        </p:txBody>
      </p:sp>
      <p:sp>
        <p:nvSpPr>
          <p:cNvPr id="31" name="Text 31"/>
          <p:cNvSpPr txBox="1"/>
          <p:nvPr/>
        </p:nvSpPr>
        <p:spPr>
          <a:xfrm>
            <a:off x="3364992" y="2706624"/>
            <a:ext cx="1554480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50" b="1" dirty="0">
                <a:solidFill>
                  <a:srgbClr val="0A0A0F"/>
                </a:solidFill>
                <a:latin typeface="Helvetica"/>
              </a:rPr>
              <a:t>07 Data Chart</a:t>
            </a:r>
            <a:endParaRPr lang="de-DE" sz="75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32" name="Shape 32"/>
          <p:cNvSpPr/>
          <p:nvPr/>
        </p:nvSpPr>
        <p:spPr>
          <a:xfrm>
            <a:off x="5157216" y="2633472"/>
            <a:ext cx="208483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33" name="Text 33"/>
          <p:cNvSpPr txBox="1"/>
          <p:nvPr/>
        </p:nvSpPr>
        <p:spPr>
          <a:xfrm>
            <a:off x="5248656" y="2715768"/>
            <a:ext cx="310896" cy="12801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30" b="1" dirty="0">
                <a:solidFill>
                  <a:srgbClr val="1E6B72"/>
                </a:solidFill>
                <a:latin typeface="Courier"/>
              </a:rPr>
              <a:t>08</a:t>
            </a:r>
            <a:endParaRPr lang="de-DE" sz="730" dirty="0">
              <a:solidFill>
                <a:srgbClr val="1E6B72"/>
              </a:solidFill>
              <a:latin typeface="Courier"/>
            </a:endParaRPr>
          </a:p>
        </p:txBody>
      </p:sp>
      <p:sp>
        <p:nvSpPr>
          <p:cNvPr id="34" name="Text 34"/>
          <p:cNvSpPr txBox="1"/>
          <p:nvPr/>
        </p:nvSpPr>
        <p:spPr>
          <a:xfrm>
            <a:off x="5596128" y="2706624"/>
            <a:ext cx="1554480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50" b="1" dirty="0">
                <a:solidFill>
                  <a:srgbClr val="0A0A0F"/>
                </a:solidFill>
                <a:latin typeface="Helvetica"/>
              </a:rPr>
              <a:t>08 KPI Dashboard</a:t>
            </a:r>
            <a:endParaRPr lang="de-DE" sz="75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35" name="Shape 35"/>
          <p:cNvSpPr/>
          <p:nvPr/>
        </p:nvSpPr>
        <p:spPr>
          <a:xfrm>
            <a:off x="7388352" y="2633472"/>
            <a:ext cx="208483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36" name="Text 36"/>
          <p:cNvSpPr txBox="1"/>
          <p:nvPr/>
        </p:nvSpPr>
        <p:spPr>
          <a:xfrm>
            <a:off x="7479792" y="2715768"/>
            <a:ext cx="310896" cy="12801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30" b="1" dirty="0">
                <a:solidFill>
                  <a:srgbClr val="1E6B72"/>
                </a:solidFill>
                <a:latin typeface="Courier"/>
              </a:rPr>
              <a:t>09</a:t>
            </a:r>
            <a:endParaRPr lang="de-DE" sz="730" dirty="0">
              <a:solidFill>
                <a:srgbClr val="1E6B72"/>
              </a:solidFill>
              <a:latin typeface="Courier"/>
            </a:endParaRPr>
          </a:p>
        </p:txBody>
      </p:sp>
      <p:sp>
        <p:nvSpPr>
          <p:cNvPr id="37" name="Text 37"/>
          <p:cNvSpPr txBox="1"/>
          <p:nvPr/>
        </p:nvSpPr>
        <p:spPr>
          <a:xfrm>
            <a:off x="7827264" y="2706624"/>
            <a:ext cx="1554480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50" b="1" dirty="0">
                <a:solidFill>
                  <a:srgbClr val="0A0A0F"/>
                </a:solidFill>
                <a:latin typeface="Helvetica"/>
              </a:rPr>
              <a:t>09 Table / Tracker</a:t>
            </a:r>
            <a:endParaRPr lang="de-DE" sz="75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38" name="Shape 38"/>
          <p:cNvSpPr/>
          <p:nvPr/>
        </p:nvSpPr>
        <p:spPr>
          <a:xfrm>
            <a:off x="9619488" y="2633472"/>
            <a:ext cx="208483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39" name="Text 39"/>
          <p:cNvSpPr txBox="1"/>
          <p:nvPr/>
        </p:nvSpPr>
        <p:spPr>
          <a:xfrm>
            <a:off x="9710928" y="2715768"/>
            <a:ext cx="310896" cy="12801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30" b="1" dirty="0">
                <a:solidFill>
                  <a:srgbClr val="1E6B72"/>
                </a:solidFill>
                <a:latin typeface="Courier"/>
              </a:rPr>
              <a:t>10</a:t>
            </a:r>
            <a:endParaRPr lang="de-DE" sz="730" dirty="0">
              <a:solidFill>
                <a:srgbClr val="1E6B72"/>
              </a:solidFill>
              <a:latin typeface="Courier"/>
            </a:endParaRPr>
          </a:p>
        </p:txBody>
      </p:sp>
      <p:sp>
        <p:nvSpPr>
          <p:cNvPr id="40" name="Text 40"/>
          <p:cNvSpPr txBox="1"/>
          <p:nvPr/>
        </p:nvSpPr>
        <p:spPr>
          <a:xfrm>
            <a:off x="10058400" y="2706624"/>
            <a:ext cx="1554480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50" b="1" dirty="0">
                <a:solidFill>
                  <a:srgbClr val="0A0A0F"/>
                </a:solidFill>
                <a:latin typeface="Helvetica"/>
              </a:rPr>
              <a:t>10 Matrix 2x2</a:t>
            </a:r>
            <a:endParaRPr lang="de-DE" sz="75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41" name="Shape 41"/>
          <p:cNvSpPr/>
          <p:nvPr/>
        </p:nvSpPr>
        <p:spPr>
          <a:xfrm>
            <a:off x="694944" y="3364992"/>
            <a:ext cx="208483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42" name="Text 42"/>
          <p:cNvSpPr txBox="1"/>
          <p:nvPr/>
        </p:nvSpPr>
        <p:spPr>
          <a:xfrm>
            <a:off x="786384" y="3447288"/>
            <a:ext cx="310896" cy="12801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30" b="1" dirty="0">
                <a:solidFill>
                  <a:srgbClr val="1E6B72"/>
                </a:solidFill>
                <a:latin typeface="Courier"/>
              </a:rPr>
              <a:t>11</a:t>
            </a:r>
            <a:endParaRPr lang="de-DE" sz="730" dirty="0">
              <a:solidFill>
                <a:srgbClr val="1E6B72"/>
              </a:solidFill>
              <a:latin typeface="Courier"/>
            </a:endParaRPr>
          </a:p>
        </p:txBody>
      </p:sp>
      <p:sp>
        <p:nvSpPr>
          <p:cNvPr id="43" name="Text 43"/>
          <p:cNvSpPr txBox="1"/>
          <p:nvPr/>
        </p:nvSpPr>
        <p:spPr>
          <a:xfrm>
            <a:off x="1133856" y="3438144"/>
            <a:ext cx="1554480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50" b="1" dirty="0">
                <a:solidFill>
                  <a:srgbClr val="0A0A0F"/>
                </a:solidFill>
                <a:latin typeface="Helvetica"/>
              </a:rPr>
              <a:t>11 Timeline / Roadmap</a:t>
            </a:r>
            <a:endParaRPr lang="de-DE" sz="75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44" name="Shape 44"/>
          <p:cNvSpPr/>
          <p:nvPr/>
        </p:nvSpPr>
        <p:spPr>
          <a:xfrm>
            <a:off x="2926080" y="3364992"/>
            <a:ext cx="208483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45" name="Text 45"/>
          <p:cNvSpPr txBox="1"/>
          <p:nvPr/>
        </p:nvSpPr>
        <p:spPr>
          <a:xfrm>
            <a:off x="3017520" y="3447288"/>
            <a:ext cx="310896" cy="12801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30" b="1" dirty="0">
                <a:solidFill>
                  <a:srgbClr val="1E6B72"/>
                </a:solidFill>
                <a:latin typeface="Courier"/>
              </a:rPr>
              <a:t>12</a:t>
            </a:r>
            <a:endParaRPr lang="de-DE" sz="730" dirty="0">
              <a:solidFill>
                <a:srgbClr val="1E6B72"/>
              </a:solidFill>
              <a:latin typeface="Courier"/>
            </a:endParaRPr>
          </a:p>
        </p:txBody>
      </p:sp>
      <p:sp>
        <p:nvSpPr>
          <p:cNvPr id="46" name="Text 46"/>
          <p:cNvSpPr txBox="1"/>
          <p:nvPr/>
        </p:nvSpPr>
        <p:spPr>
          <a:xfrm>
            <a:off x="3364992" y="3438144"/>
            <a:ext cx="1554480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50" b="1" dirty="0">
                <a:solidFill>
                  <a:srgbClr val="0A0A0F"/>
                </a:solidFill>
                <a:latin typeface="Helvetica"/>
              </a:rPr>
              <a:t>12 Process Flow</a:t>
            </a:r>
            <a:endParaRPr lang="de-DE" sz="75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47" name="Shape 47"/>
          <p:cNvSpPr/>
          <p:nvPr/>
        </p:nvSpPr>
        <p:spPr>
          <a:xfrm>
            <a:off x="5157216" y="3364992"/>
            <a:ext cx="208483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48" name="Text 48"/>
          <p:cNvSpPr txBox="1"/>
          <p:nvPr/>
        </p:nvSpPr>
        <p:spPr>
          <a:xfrm>
            <a:off x="5248656" y="3447288"/>
            <a:ext cx="310896" cy="12801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30" b="1" dirty="0">
                <a:solidFill>
                  <a:srgbClr val="1E6B72"/>
                </a:solidFill>
                <a:latin typeface="Courier"/>
              </a:rPr>
              <a:t>13</a:t>
            </a:r>
            <a:endParaRPr lang="de-DE" sz="730" dirty="0">
              <a:solidFill>
                <a:srgbClr val="1E6B72"/>
              </a:solidFill>
              <a:latin typeface="Courier"/>
            </a:endParaRPr>
          </a:p>
        </p:txBody>
      </p:sp>
      <p:sp>
        <p:nvSpPr>
          <p:cNvPr id="49" name="Text 49"/>
          <p:cNvSpPr txBox="1"/>
          <p:nvPr/>
        </p:nvSpPr>
        <p:spPr>
          <a:xfrm>
            <a:off x="5596128" y="3438144"/>
            <a:ext cx="1554480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50" b="1" dirty="0">
                <a:solidFill>
                  <a:srgbClr val="0A0A0F"/>
                </a:solidFill>
                <a:latin typeface="Helvetica"/>
              </a:rPr>
              <a:t>13 Product Workflow</a:t>
            </a:r>
            <a:endParaRPr lang="de-DE" sz="75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50" name="Shape 50"/>
          <p:cNvSpPr/>
          <p:nvPr/>
        </p:nvSpPr>
        <p:spPr>
          <a:xfrm>
            <a:off x="7388352" y="3364992"/>
            <a:ext cx="208483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51" name="Text 51"/>
          <p:cNvSpPr txBox="1"/>
          <p:nvPr/>
        </p:nvSpPr>
        <p:spPr>
          <a:xfrm>
            <a:off x="7479792" y="3447288"/>
            <a:ext cx="310896" cy="12801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30" b="1" dirty="0">
                <a:solidFill>
                  <a:srgbClr val="1E6B72"/>
                </a:solidFill>
                <a:latin typeface="Courier"/>
              </a:rPr>
              <a:t>14</a:t>
            </a:r>
            <a:endParaRPr lang="de-DE" sz="730" dirty="0">
              <a:solidFill>
                <a:srgbClr val="1E6B72"/>
              </a:solidFill>
              <a:latin typeface="Courier"/>
            </a:endParaRPr>
          </a:p>
        </p:txBody>
      </p:sp>
      <p:sp>
        <p:nvSpPr>
          <p:cNvPr id="52" name="Text 52"/>
          <p:cNvSpPr txBox="1"/>
          <p:nvPr/>
        </p:nvSpPr>
        <p:spPr>
          <a:xfrm>
            <a:off x="7827264" y="3438144"/>
            <a:ext cx="1554480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50" b="1" dirty="0">
                <a:solidFill>
                  <a:srgbClr val="0A0A0F"/>
                </a:solidFill>
                <a:latin typeface="Helvetica"/>
              </a:rPr>
              <a:t>14 Quote / Principle</a:t>
            </a:r>
            <a:endParaRPr lang="de-DE" sz="75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53" name="Shape 53"/>
          <p:cNvSpPr/>
          <p:nvPr/>
        </p:nvSpPr>
        <p:spPr>
          <a:xfrm>
            <a:off x="9619488" y="3364992"/>
            <a:ext cx="208483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54" name="Text 54"/>
          <p:cNvSpPr txBox="1"/>
          <p:nvPr/>
        </p:nvSpPr>
        <p:spPr>
          <a:xfrm>
            <a:off x="9710928" y="3447288"/>
            <a:ext cx="310896" cy="12801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30" b="1" dirty="0">
                <a:solidFill>
                  <a:srgbClr val="1E6B72"/>
                </a:solidFill>
                <a:latin typeface="Courier"/>
              </a:rPr>
              <a:t>15</a:t>
            </a:r>
            <a:endParaRPr lang="de-DE" sz="730" dirty="0">
              <a:solidFill>
                <a:srgbClr val="1E6B72"/>
              </a:solidFill>
              <a:latin typeface="Courier"/>
            </a:endParaRPr>
          </a:p>
        </p:txBody>
      </p:sp>
      <p:sp>
        <p:nvSpPr>
          <p:cNvPr id="55" name="Text 55"/>
          <p:cNvSpPr txBox="1"/>
          <p:nvPr/>
        </p:nvSpPr>
        <p:spPr>
          <a:xfrm>
            <a:off x="10058400" y="3438144"/>
            <a:ext cx="1554480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50" b="1" dirty="0">
                <a:solidFill>
                  <a:srgbClr val="0A0A0F"/>
                </a:solidFill>
                <a:latin typeface="Helvetica"/>
              </a:rPr>
              <a:t>15 Team / Org</a:t>
            </a:r>
            <a:endParaRPr lang="de-DE" sz="75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56" name="Shape 56"/>
          <p:cNvSpPr/>
          <p:nvPr/>
        </p:nvSpPr>
        <p:spPr>
          <a:xfrm>
            <a:off x="694944" y="4096512"/>
            <a:ext cx="208483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57" name="Text 57"/>
          <p:cNvSpPr txBox="1"/>
          <p:nvPr/>
        </p:nvSpPr>
        <p:spPr>
          <a:xfrm>
            <a:off x="786384" y="4178808"/>
            <a:ext cx="310896" cy="12801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30" b="1" dirty="0">
                <a:solidFill>
                  <a:srgbClr val="1E6B72"/>
                </a:solidFill>
                <a:latin typeface="Courier"/>
              </a:rPr>
              <a:t>16</a:t>
            </a:r>
            <a:endParaRPr lang="de-DE" sz="730" dirty="0">
              <a:solidFill>
                <a:srgbClr val="1E6B72"/>
              </a:solidFill>
              <a:latin typeface="Courier"/>
            </a:endParaRPr>
          </a:p>
        </p:txBody>
      </p:sp>
      <p:sp>
        <p:nvSpPr>
          <p:cNvPr id="58" name="Text 58"/>
          <p:cNvSpPr txBox="1"/>
          <p:nvPr/>
        </p:nvSpPr>
        <p:spPr>
          <a:xfrm>
            <a:off x="1133856" y="4169664"/>
            <a:ext cx="1554480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50" b="1" dirty="0">
                <a:solidFill>
                  <a:srgbClr val="0A0A0F"/>
                </a:solidFill>
                <a:latin typeface="Helvetica"/>
              </a:rPr>
              <a:t>16 Appendix</a:t>
            </a:r>
            <a:endParaRPr lang="de-DE" sz="75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59" name="Shape 59"/>
          <p:cNvSpPr/>
          <p:nvPr/>
        </p:nvSpPr>
        <p:spPr>
          <a:xfrm>
            <a:off x="2926080" y="4096512"/>
            <a:ext cx="208483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60" name="Text 60"/>
          <p:cNvSpPr txBox="1"/>
          <p:nvPr/>
        </p:nvSpPr>
        <p:spPr>
          <a:xfrm>
            <a:off x="3017520" y="4178808"/>
            <a:ext cx="310896" cy="12801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30" b="1" dirty="0">
                <a:solidFill>
                  <a:srgbClr val="1E6B72"/>
                </a:solidFill>
                <a:latin typeface="Courier"/>
              </a:rPr>
              <a:t>17</a:t>
            </a:r>
            <a:endParaRPr lang="de-DE" sz="730" dirty="0">
              <a:solidFill>
                <a:srgbClr val="1E6B72"/>
              </a:solidFill>
              <a:latin typeface="Courier"/>
            </a:endParaRPr>
          </a:p>
        </p:txBody>
      </p:sp>
      <p:sp>
        <p:nvSpPr>
          <p:cNvPr id="61" name="Text 61"/>
          <p:cNvSpPr txBox="1"/>
          <p:nvPr/>
        </p:nvSpPr>
        <p:spPr>
          <a:xfrm>
            <a:off x="3364992" y="4169664"/>
            <a:ext cx="1554480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50" b="1" dirty="0">
                <a:solidFill>
                  <a:srgbClr val="0A0A0F"/>
                </a:solidFill>
                <a:latin typeface="Helvetica"/>
              </a:rPr>
              <a:t>17 Closing</a:t>
            </a:r>
            <a:endParaRPr lang="de-DE" sz="75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62" name="Shape 62"/>
          <p:cNvSpPr/>
          <p:nvPr/>
        </p:nvSpPr>
        <p:spPr>
          <a:xfrm>
            <a:off x="694944" y="5166360"/>
            <a:ext cx="10789920" cy="640080"/>
          </a:xfrm>
          <a:prstGeom prst="rect">
            <a:avLst/>
          </a:prstGeom>
          <a:solidFill>
            <a:srgbClr val="F4F4F6"/>
          </a:solidFill>
          <a:ln w="6350">
            <a:solidFill>
              <a:srgbClr val="E8E8EC"/>
            </a:solidFill>
          </a:ln>
        </p:spPr>
        <p:style/>
      </p:sp>
      <p:sp>
        <p:nvSpPr>
          <p:cNvPr id="63" name="Text 63"/>
          <p:cNvSpPr txBox="1"/>
          <p:nvPr/>
        </p:nvSpPr>
        <p:spPr>
          <a:xfrm>
            <a:off x="896112" y="5358384"/>
            <a:ext cx="996696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870" dirty="0">
                <a:solidFill>
                  <a:srgbClr val="4A4A4F"/>
                </a:solidFill>
                <a:latin typeface="Helvetica"/>
              </a:rPr>
              <a:t>Hinweis: Die Beispielslides nutzen diese Layouts direkt; in PowerPoint sind sie ueber Ansicht &gt; Folienmaster bzw. Neue Folie sichtbar.</a:t>
            </a:r>
            <a:endParaRPr lang="de-DE" sz="870" dirty="0">
              <a:solidFill>
                <a:srgbClr val="4A4A4F"/>
              </a:solidFill>
              <a:latin typeface="Helvetic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EVO accent bar 2"/>
          <p:cNvSpPr/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3" name="Text 3"/>
          <p:cNvSpPr txBox="1"/>
          <p:nvPr/>
        </p:nvSpPr>
        <p:spPr>
          <a:xfrm>
            <a:off x="566928" y="292608"/>
            <a:ext cx="429768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50" b="1" dirty="0">
                <a:solidFill>
                  <a:srgbClr val="9B9BA8"/>
                </a:solidFill>
                <a:latin typeface="Courier"/>
              </a:rPr>
              <a:t>INVESTMENT NARRATIVE</a:t>
            </a:r>
            <a:endParaRPr lang="de-DE" sz="75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4" name="Header rule 4"/>
          <p:cNvSpPr/>
          <p:nvPr/>
        </p:nvSpPr>
        <p:spPr>
          <a:xfrm>
            <a:off x="566928" y="658368"/>
            <a:ext cx="11045952" cy="5486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/>
      </p:sp>
      <p:sp>
        <p:nvSpPr>
          <p:cNvPr id="5" name="Text 5"/>
          <p:cNvSpPr txBox="1"/>
          <p:nvPr/>
        </p:nvSpPr>
        <p:spPr>
          <a:xfrm>
            <a:off x="566928" y="804672"/>
            <a:ext cx="10058400" cy="53035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2400" b="1" dirty="0">
                <a:solidFill>
                  <a:srgbClr val="0A0A0F"/>
                </a:solidFill>
                <a:latin typeface="Helvetica"/>
              </a:rPr>
              <a:t>CAREVO positioniert Dokumentation als workflow-first Infrastruktur</a:t>
            </a:r>
            <a:endParaRPr lang="de-DE" sz="24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6" name="Footer rule 6"/>
          <p:cNvSpPr/>
          <p:nvPr/>
        </p:nvSpPr>
        <p:spPr>
          <a:xfrm>
            <a:off x="566928" y="6419088"/>
            <a:ext cx="11045952" cy="5486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/>
      </p:sp>
      <p:sp>
        <p:nvSpPr>
          <p:cNvPr id="7" name="Text 7"/>
          <p:cNvSpPr txBox="1"/>
          <p:nvPr/>
        </p:nvSpPr>
        <p:spPr>
          <a:xfrm>
            <a:off x="566928" y="6510528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680" dirty="0">
                <a:solidFill>
                  <a:srgbClr val="9B9BA8"/>
                </a:solidFill>
                <a:latin typeface="Courier"/>
              </a:rPr>
              <a:t>CAREVO VC / CONSULTING TEMPLATE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8" name="Text 8"/>
          <p:cNvSpPr txBox="1"/>
          <p:nvPr/>
        </p:nvSpPr>
        <p:spPr>
          <a:xfrm>
            <a:off x="4572000" y="6510528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680" dirty="0">
                <a:solidFill>
                  <a:srgbClr val="9B9BA8"/>
                </a:solidFill>
                <a:latin typeface="Courier"/>
              </a:rPr>
              <a:t>CONFIDENTIAL - TEMPLATE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9" name="Text 9"/>
          <p:cNvSpPr txBox="1"/>
          <p:nvPr/>
        </p:nvSpPr>
        <p:spPr>
          <a:xfrm>
            <a:off x="11018520" y="6510528"/>
            <a:ext cx="59436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r"/>
            <a:r>
              <a:rPr lang="de-DE" sz="680" dirty="0">
                <a:solidFill>
                  <a:srgbClr val="9B9BA8"/>
                </a:solidFill>
                <a:latin typeface="Courier"/>
              </a:rPr>
              <a:t>04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10" name="Text 10"/>
          <p:cNvSpPr txBox="1"/>
          <p:nvPr/>
        </p:nvSpPr>
        <p:spPr>
          <a:xfrm>
            <a:off x="694944" y="1554480"/>
            <a:ext cx="402336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1600" b="1" dirty="0">
                <a:solidFill>
                  <a:srgbClr val="0A0A0F"/>
                </a:solidFill>
                <a:latin typeface="Helvetica"/>
              </a:rPr>
              <a:t>Ein ruhiger, nachweisorientierter Pitch-Aufbau: Problem, Loesung, Traktion, Wirtschaftlichkeit und Vertrauen.</a:t>
            </a:r>
            <a:endParaRPr lang="de-DE" sz="16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11" name="Bullets 11"/>
          <p:cNvSpPr txBox="1"/>
          <p:nvPr/>
        </p:nvSpPr>
        <p:spPr>
          <a:xfrm>
            <a:off x="749808" y="2286000"/>
            <a:ext cx="3840480" cy="10058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" rIns="9144" tIns="9144" bIns="9144"/>
          <a:lstStyle/>
          <a:p>
            <a:pPr algn="l" marL="171450" indent="-114300">
              <a:buChar char="•"/>
            </a:pPr>
            <a:r>
              <a:rPr lang="de-DE" sz="1020" dirty="0">
                <a:solidFill>
                  <a:srgbClr val="4A4A4F"/>
                </a:solidFill>
                <a:latin typeface="Helvetica"/>
              </a:rPr>
              <a:t>Dokumentationslast ist ein struktureller Engpass.</a:t>
            </a:r>
            <a:endParaRPr lang="de-DE" sz="1020" dirty="0">
              <a:solidFill>
                <a:srgbClr val="4A4A4F"/>
              </a:solidFill>
              <a:latin typeface="Helvetica"/>
            </a:endParaRPr>
          </a:p>
          <a:p>
            <a:pPr algn="l" marL="171450" indent="-114300">
              <a:buChar char="•"/>
            </a:pPr>
            <a:r>
              <a:rPr lang="de-DE" sz="1020" dirty="0">
                <a:solidFill>
                  <a:srgbClr val="4A4A4F"/>
                </a:solidFill>
                <a:latin typeface="Helvetica"/>
              </a:rPr>
              <a:t>CAREVO adressiert den End-to-End Prozess.</a:t>
            </a:r>
            <a:endParaRPr lang="de-DE" sz="1020" dirty="0">
              <a:solidFill>
                <a:srgbClr val="4A4A4F"/>
              </a:solidFill>
              <a:latin typeface="Helvetica"/>
            </a:endParaRPr>
          </a:p>
          <a:p>
            <a:pPr algn="l" marL="171450" indent="-114300">
              <a:buChar char="•"/>
            </a:pPr>
            <a:r>
              <a:rPr lang="de-DE" sz="1020" dirty="0">
                <a:solidFill>
                  <a:srgbClr val="4A4A4F"/>
                </a:solidFill>
                <a:latin typeface="Helvetica"/>
              </a:rPr>
              <a:t>Human-in-the-loop reduziert Blackbox-Risiko.</a:t>
            </a:r>
            <a:endParaRPr lang="de-DE" sz="102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12" name="Metric 12"/>
          <p:cNvSpPr/>
          <p:nvPr/>
        </p:nvSpPr>
        <p:spPr>
          <a:xfrm>
            <a:off x="5074920" y="1600200"/>
            <a:ext cx="17830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13" name="Text 13"/>
          <p:cNvSpPr txBox="1"/>
          <p:nvPr/>
        </p:nvSpPr>
        <p:spPr>
          <a:xfrm>
            <a:off x="5202936" y="1719072"/>
            <a:ext cx="1527048" cy="1463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650" b="1" dirty="0">
                <a:solidFill>
                  <a:srgbClr val="9B9BA8"/>
                </a:solidFill>
                <a:latin typeface="Courier"/>
              </a:rPr>
              <a:t>SAMPLE KPI</a:t>
            </a:r>
            <a:endParaRPr lang="de-DE" sz="65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14" name="Text 14"/>
          <p:cNvSpPr txBox="1"/>
          <p:nvPr/>
        </p:nvSpPr>
        <p:spPr>
          <a:xfrm>
            <a:off x="5202936" y="1947672"/>
            <a:ext cx="1527048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2100" b="1" dirty="0">
                <a:solidFill>
                  <a:srgbClr val="0A0A0F"/>
                </a:solidFill>
                <a:latin typeface="Helvetica"/>
              </a:rPr>
              <a:t>60s</a:t>
            </a:r>
            <a:endParaRPr lang="de-DE" sz="21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15" name="Text 15"/>
          <p:cNvSpPr txBox="1"/>
          <p:nvPr/>
        </p:nvSpPr>
        <p:spPr>
          <a:xfrm>
            <a:off x="5202936" y="2350008"/>
            <a:ext cx="1527048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50" dirty="0">
                <a:solidFill>
                  <a:srgbClr val="4A4A4F"/>
                </a:solidFill>
                <a:latin typeface="Helvetica"/>
              </a:rPr>
              <a:t>Freigabe-Ziel</a:t>
            </a:r>
            <a:endParaRPr lang="de-DE" sz="75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16" name="Metric 16"/>
          <p:cNvSpPr/>
          <p:nvPr/>
        </p:nvSpPr>
        <p:spPr>
          <a:xfrm>
            <a:off x="7086600" y="1600200"/>
            <a:ext cx="17830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17" name="Text 17"/>
          <p:cNvSpPr txBox="1"/>
          <p:nvPr/>
        </p:nvSpPr>
        <p:spPr>
          <a:xfrm>
            <a:off x="7214616" y="1719072"/>
            <a:ext cx="1527048" cy="1463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650" b="1" dirty="0">
                <a:solidFill>
                  <a:srgbClr val="9B9BA8"/>
                </a:solidFill>
                <a:latin typeface="Courier"/>
              </a:rPr>
              <a:t>SAMPLE KPI</a:t>
            </a:r>
            <a:endParaRPr lang="de-DE" sz="65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18" name="Text 18"/>
          <p:cNvSpPr txBox="1"/>
          <p:nvPr/>
        </p:nvSpPr>
        <p:spPr>
          <a:xfrm>
            <a:off x="7214616" y="1947672"/>
            <a:ext cx="1527048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2100" b="1" dirty="0">
                <a:solidFill>
                  <a:srgbClr val="0A0A0F"/>
                </a:solidFill>
                <a:latin typeface="Helvetica"/>
              </a:rPr>
              <a:t>3x</a:t>
            </a:r>
            <a:endParaRPr lang="de-DE" sz="21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19" name="Text 19"/>
          <p:cNvSpPr txBox="1"/>
          <p:nvPr/>
        </p:nvSpPr>
        <p:spPr>
          <a:xfrm>
            <a:off x="7214616" y="2350008"/>
            <a:ext cx="1527048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50" dirty="0">
                <a:solidFill>
                  <a:srgbClr val="4A4A4F"/>
                </a:solidFill>
                <a:latin typeface="Helvetica"/>
              </a:rPr>
              <a:t>Workflow-Hebel</a:t>
            </a:r>
            <a:endParaRPr lang="de-DE" sz="75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20" name="Metric 20"/>
          <p:cNvSpPr/>
          <p:nvPr/>
        </p:nvSpPr>
        <p:spPr>
          <a:xfrm>
            <a:off x="9098280" y="1600200"/>
            <a:ext cx="17830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21" name="Text 21"/>
          <p:cNvSpPr txBox="1"/>
          <p:nvPr/>
        </p:nvSpPr>
        <p:spPr>
          <a:xfrm>
            <a:off x="9226296" y="1719072"/>
            <a:ext cx="1527048" cy="1463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650" b="1" dirty="0">
                <a:solidFill>
                  <a:srgbClr val="9B9BA8"/>
                </a:solidFill>
                <a:latin typeface="Courier"/>
              </a:rPr>
              <a:t>SAMPLE KPI</a:t>
            </a:r>
            <a:endParaRPr lang="de-DE" sz="65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22" name="Text 22"/>
          <p:cNvSpPr txBox="1"/>
          <p:nvPr/>
        </p:nvSpPr>
        <p:spPr>
          <a:xfrm>
            <a:off x="9226296" y="1947672"/>
            <a:ext cx="1527048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2100" b="1" dirty="0">
                <a:solidFill>
                  <a:srgbClr val="0A0A0F"/>
                </a:solidFill>
                <a:latin typeface="Helvetica"/>
              </a:rPr>
              <a:t>DACH</a:t>
            </a:r>
            <a:endParaRPr lang="de-DE" sz="21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23" name="Text 23"/>
          <p:cNvSpPr txBox="1"/>
          <p:nvPr/>
        </p:nvSpPr>
        <p:spPr>
          <a:xfrm>
            <a:off x="9226296" y="2350008"/>
            <a:ext cx="1527048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50" dirty="0">
                <a:solidFill>
                  <a:srgbClr val="4A4A4F"/>
                </a:solidFill>
                <a:latin typeface="Helvetica"/>
              </a:rPr>
              <a:t>Fokusmarkt</a:t>
            </a:r>
            <a:endParaRPr lang="de-DE" sz="75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24" name="Card 24"/>
          <p:cNvSpPr/>
          <p:nvPr/>
        </p:nvSpPr>
        <p:spPr>
          <a:xfrm>
            <a:off x="5074920" y="2971800"/>
            <a:ext cx="260604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25" name="Card marker 25"/>
          <p:cNvSpPr/>
          <p:nvPr/>
        </p:nvSpPr>
        <p:spPr>
          <a:xfrm>
            <a:off x="5221224" y="3136392"/>
            <a:ext cx="36576" cy="36576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26" name="Text 26"/>
          <p:cNvSpPr txBox="1"/>
          <p:nvPr/>
        </p:nvSpPr>
        <p:spPr>
          <a:xfrm>
            <a:off x="5221224" y="3255264"/>
            <a:ext cx="2313432" cy="1463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680" b="1" dirty="0">
                <a:solidFill>
                  <a:srgbClr val="9B9BA8"/>
                </a:solidFill>
                <a:latin typeface="Courier"/>
              </a:rPr>
              <a:t>THESE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27" name="Text 27"/>
          <p:cNvSpPr txBox="1"/>
          <p:nvPr/>
        </p:nvSpPr>
        <p:spPr>
          <a:xfrm>
            <a:off x="5221224" y="3474720"/>
            <a:ext cx="2313432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1300" b="1" dirty="0">
                <a:solidFill>
                  <a:srgbClr val="0A0A0F"/>
                </a:solidFill>
                <a:latin typeface="Helvetica"/>
              </a:rPr>
              <a:t>Zeit zurueckgeben</a:t>
            </a:r>
            <a:endParaRPr lang="de-DE" sz="13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28" name="Text 28"/>
          <p:cNvSpPr txBox="1"/>
          <p:nvPr/>
        </p:nvSpPr>
        <p:spPr>
          <a:xfrm>
            <a:off x="5221224" y="3867912"/>
            <a:ext cx="2313432" cy="33832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920" dirty="0">
                <a:solidFill>
                  <a:srgbClr val="4A4A4F"/>
                </a:solidFill>
                <a:latin typeface="Helvetica"/>
              </a:rPr>
              <a:t>Die Marke formuliert klar: weniger Formulare, mehr Zeit fuer Menschen.</a:t>
            </a:r>
            <a:endParaRPr lang="de-DE" sz="92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29" name="Card 29"/>
          <p:cNvSpPr/>
          <p:nvPr/>
        </p:nvSpPr>
        <p:spPr>
          <a:xfrm>
            <a:off x="7936992" y="2971800"/>
            <a:ext cx="260604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30" name="Card marker 30"/>
          <p:cNvSpPr/>
          <p:nvPr/>
        </p:nvSpPr>
        <p:spPr>
          <a:xfrm>
            <a:off x="8083296" y="3136392"/>
            <a:ext cx="36576" cy="36576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31" name="Text 31"/>
          <p:cNvSpPr txBox="1"/>
          <p:nvPr/>
        </p:nvSpPr>
        <p:spPr>
          <a:xfrm>
            <a:off x="8083296" y="3255264"/>
            <a:ext cx="2313432" cy="1463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680" b="1" dirty="0">
                <a:solidFill>
                  <a:srgbClr val="9B9BA8"/>
                </a:solidFill>
                <a:latin typeface="Courier"/>
              </a:rPr>
              <a:t>THESE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32" name="Text 32"/>
          <p:cNvSpPr txBox="1"/>
          <p:nvPr/>
        </p:nvSpPr>
        <p:spPr>
          <a:xfrm>
            <a:off x="8083296" y="3474720"/>
            <a:ext cx="2313432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1300" b="1" dirty="0">
                <a:solidFill>
                  <a:srgbClr val="0A0A0F"/>
                </a:solidFill>
                <a:latin typeface="Helvetica"/>
              </a:rPr>
              <a:t>Trust by Design</a:t>
            </a:r>
            <a:endParaRPr lang="de-DE" sz="13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33" name="Text 33"/>
          <p:cNvSpPr txBox="1"/>
          <p:nvPr/>
        </p:nvSpPr>
        <p:spPr>
          <a:xfrm>
            <a:off x="8083296" y="3867912"/>
            <a:ext cx="2313432" cy="33832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920" dirty="0">
                <a:solidFill>
                  <a:srgbClr val="4A4A4F"/>
                </a:solidFill>
                <a:latin typeface="Helvetica"/>
              </a:rPr>
              <a:t>Reviewability, klare Zustaende und auditierbare Entscheidungen.</a:t>
            </a:r>
            <a:endParaRPr lang="de-DE" sz="92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34" name="Shape 34"/>
          <p:cNvSpPr/>
          <p:nvPr/>
        </p:nvSpPr>
        <p:spPr>
          <a:xfrm>
            <a:off x="5074920" y="4709160"/>
            <a:ext cx="5486400" cy="749808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/>
      </p:sp>
      <p:sp>
        <p:nvSpPr>
          <p:cNvPr id="35" name="Text 35"/>
          <p:cNvSpPr txBox="1"/>
          <p:nvPr/>
        </p:nvSpPr>
        <p:spPr>
          <a:xfrm>
            <a:off x="5321808" y="4901184"/>
            <a:ext cx="498348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1080" b="1" dirty="0">
                <a:solidFill>
                  <a:srgbClr val="FFFFFF"/>
                </a:solidFill>
                <a:latin typeface="Helvetica"/>
              </a:rPr>
              <a:t>Board-taugliche Storyline: klarer roter Faden, wenige Farben, harte Struktur.</a:t>
            </a:r>
            <a:endParaRPr lang="de-DE" sz="1080" dirty="0">
              <a:solidFill>
                <a:srgbClr val="FFFFFF"/>
              </a:solidFill>
              <a:latin typeface="Helvetic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ne Page Investment 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EVO accent bar 2"/>
          <p:cNvSpPr/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3" name="Text 3"/>
          <p:cNvSpPr txBox="1"/>
          <p:nvPr/>
        </p:nvSpPr>
        <p:spPr>
          <a:xfrm>
            <a:off x="566928" y="292608"/>
            <a:ext cx="429768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50" b="1" dirty="0">
                <a:solidFill>
                  <a:srgbClr val="9B9BA8"/>
                </a:solidFill>
                <a:latin typeface="Courier"/>
              </a:rPr>
              <a:t>EXECUTIVE SUMMARY</a:t>
            </a:r>
            <a:endParaRPr lang="de-DE" sz="75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4" name="Header rule 4"/>
          <p:cNvSpPr/>
          <p:nvPr/>
        </p:nvSpPr>
        <p:spPr>
          <a:xfrm>
            <a:off x="566928" y="658368"/>
            <a:ext cx="11045952" cy="5486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/>
      </p:sp>
      <p:sp>
        <p:nvSpPr>
          <p:cNvPr id="5" name="Text 5"/>
          <p:cNvSpPr txBox="1"/>
          <p:nvPr/>
        </p:nvSpPr>
        <p:spPr>
          <a:xfrm>
            <a:off x="566928" y="804672"/>
            <a:ext cx="10058400" cy="53035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2400" b="1" dirty="0">
                <a:solidFill>
                  <a:srgbClr val="0A0A0F"/>
                </a:solidFill>
                <a:latin typeface="Helvetica"/>
              </a:rPr>
              <a:t>Investment Case wird als wenige belastbare Entscheidungsfragen gefuehrt</a:t>
            </a:r>
            <a:endParaRPr lang="de-DE" sz="24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6" name="Footer rule 6"/>
          <p:cNvSpPr/>
          <p:nvPr/>
        </p:nvSpPr>
        <p:spPr>
          <a:xfrm>
            <a:off x="566928" y="6419088"/>
            <a:ext cx="11045952" cy="5486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/>
      </p:sp>
      <p:sp>
        <p:nvSpPr>
          <p:cNvPr id="7" name="Text 7"/>
          <p:cNvSpPr txBox="1"/>
          <p:nvPr/>
        </p:nvSpPr>
        <p:spPr>
          <a:xfrm>
            <a:off x="566928" y="6510528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680" dirty="0">
                <a:solidFill>
                  <a:srgbClr val="9B9BA8"/>
                </a:solidFill>
                <a:latin typeface="Courier"/>
              </a:rPr>
              <a:t>CAREVO VC / CONSULTING TEMPLATE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8" name="Text 8"/>
          <p:cNvSpPr txBox="1"/>
          <p:nvPr/>
        </p:nvSpPr>
        <p:spPr>
          <a:xfrm>
            <a:off x="4572000" y="6510528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680" dirty="0">
                <a:solidFill>
                  <a:srgbClr val="9B9BA8"/>
                </a:solidFill>
                <a:latin typeface="Courier"/>
              </a:rPr>
              <a:t>CONFIDENTIAL - TEMPLATE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9" name="Text 9"/>
          <p:cNvSpPr txBox="1"/>
          <p:nvPr/>
        </p:nvSpPr>
        <p:spPr>
          <a:xfrm>
            <a:off x="11018520" y="6510528"/>
            <a:ext cx="59436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r"/>
            <a:r>
              <a:rPr lang="de-DE" sz="680" dirty="0">
                <a:solidFill>
                  <a:srgbClr val="9B9BA8"/>
                </a:solidFill>
                <a:latin typeface="Courier"/>
              </a:rPr>
              <a:t>05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10" name="Shape 10"/>
          <p:cNvSpPr/>
          <p:nvPr/>
        </p:nvSpPr>
        <p:spPr>
          <a:xfrm>
            <a:off x="694944" y="1600200"/>
            <a:ext cx="4206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11" name="Text 11"/>
          <p:cNvSpPr txBox="1"/>
          <p:nvPr/>
        </p:nvSpPr>
        <p:spPr>
          <a:xfrm>
            <a:off x="859536" y="1728216"/>
            <a:ext cx="914400" cy="1463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00" b="1" dirty="0">
                <a:solidFill>
                  <a:srgbClr val="1E6B72"/>
                </a:solidFill>
                <a:latin typeface="Courier"/>
              </a:rPr>
              <a:t>PROBLEM</a:t>
            </a:r>
            <a:endParaRPr lang="de-DE" sz="700" dirty="0">
              <a:solidFill>
                <a:srgbClr val="1E6B72"/>
              </a:solidFill>
              <a:latin typeface="Courier"/>
            </a:endParaRPr>
          </a:p>
        </p:txBody>
      </p:sp>
      <p:sp>
        <p:nvSpPr>
          <p:cNvPr id="12" name="Text 12"/>
          <p:cNvSpPr txBox="1"/>
          <p:nvPr/>
        </p:nvSpPr>
        <p:spPr>
          <a:xfrm>
            <a:off x="1828800" y="1709928"/>
            <a:ext cx="283464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940" b="1" dirty="0">
                <a:solidFill>
                  <a:srgbClr val="0A0A0F"/>
                </a:solidFill>
                <a:latin typeface="Helvetica"/>
              </a:rPr>
              <a:t>Dokumentation bindet knappe Fachzeit.</a:t>
            </a:r>
            <a:endParaRPr lang="de-DE" sz="94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13" name="Shape 13"/>
          <p:cNvSpPr/>
          <p:nvPr/>
        </p:nvSpPr>
        <p:spPr>
          <a:xfrm>
            <a:off x="694944" y="2350008"/>
            <a:ext cx="4206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14" name="Text 14"/>
          <p:cNvSpPr txBox="1"/>
          <p:nvPr/>
        </p:nvSpPr>
        <p:spPr>
          <a:xfrm>
            <a:off x="859536" y="2478024"/>
            <a:ext cx="914400" cy="1463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00" b="1" dirty="0">
                <a:solidFill>
                  <a:srgbClr val="1E6B72"/>
                </a:solidFill>
                <a:latin typeface="Courier"/>
              </a:rPr>
              <a:t>LOESUNG</a:t>
            </a:r>
            <a:endParaRPr lang="de-DE" sz="700" dirty="0">
              <a:solidFill>
                <a:srgbClr val="1E6B72"/>
              </a:solidFill>
              <a:latin typeface="Courier"/>
            </a:endParaRPr>
          </a:p>
        </p:txBody>
      </p:sp>
      <p:sp>
        <p:nvSpPr>
          <p:cNvPr id="15" name="Text 15"/>
          <p:cNvSpPr txBox="1"/>
          <p:nvPr/>
        </p:nvSpPr>
        <p:spPr>
          <a:xfrm>
            <a:off x="1828800" y="2459736"/>
            <a:ext cx="283464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940" b="1" dirty="0">
                <a:solidFill>
                  <a:srgbClr val="0A0A0F"/>
                </a:solidFill>
                <a:latin typeface="Helvetica"/>
              </a:rPr>
              <a:t>Audio -&gt; Entwurf -&gt; Pruefung -&gt; Freigabe.</a:t>
            </a:r>
            <a:endParaRPr lang="de-DE" sz="94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16" name="Shape 16"/>
          <p:cNvSpPr/>
          <p:nvPr/>
        </p:nvSpPr>
        <p:spPr>
          <a:xfrm>
            <a:off x="694944" y="3099816"/>
            <a:ext cx="4206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17" name="Text 17"/>
          <p:cNvSpPr txBox="1"/>
          <p:nvPr/>
        </p:nvSpPr>
        <p:spPr>
          <a:xfrm>
            <a:off x="859536" y="3227832"/>
            <a:ext cx="914400" cy="1463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00" b="1" dirty="0">
                <a:solidFill>
                  <a:srgbClr val="1E6B72"/>
                </a:solidFill>
                <a:latin typeface="Courier"/>
              </a:rPr>
              <a:t>MOAT</a:t>
            </a:r>
            <a:endParaRPr lang="de-DE" sz="700" dirty="0">
              <a:solidFill>
                <a:srgbClr val="1E6B72"/>
              </a:solidFill>
              <a:latin typeface="Courier"/>
            </a:endParaRPr>
          </a:p>
        </p:txBody>
      </p:sp>
      <p:sp>
        <p:nvSpPr>
          <p:cNvPr id="18" name="Text 18"/>
          <p:cNvSpPr txBox="1"/>
          <p:nvPr/>
        </p:nvSpPr>
        <p:spPr>
          <a:xfrm>
            <a:off x="1828800" y="3209544"/>
            <a:ext cx="283464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940" b="1" dirty="0">
                <a:solidFill>
                  <a:srgbClr val="0A0A0F"/>
                </a:solidFill>
                <a:latin typeface="Helvetica"/>
              </a:rPr>
              <a:t>Workflow-Tiefe plus klinische Reviewbarkeit.</a:t>
            </a:r>
            <a:endParaRPr lang="de-DE" sz="94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19" name="Shape 19"/>
          <p:cNvSpPr/>
          <p:nvPr/>
        </p:nvSpPr>
        <p:spPr>
          <a:xfrm>
            <a:off x="694944" y="3849624"/>
            <a:ext cx="4206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20" name="Text 20"/>
          <p:cNvSpPr txBox="1"/>
          <p:nvPr/>
        </p:nvSpPr>
        <p:spPr>
          <a:xfrm>
            <a:off x="859536" y="3977640"/>
            <a:ext cx="914400" cy="1463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00" b="1" dirty="0">
                <a:solidFill>
                  <a:srgbClr val="1E6B72"/>
                </a:solidFill>
                <a:latin typeface="Courier"/>
              </a:rPr>
              <a:t>ASK</a:t>
            </a:r>
            <a:endParaRPr lang="de-DE" sz="700" dirty="0">
              <a:solidFill>
                <a:srgbClr val="1E6B72"/>
              </a:solidFill>
              <a:latin typeface="Courier"/>
            </a:endParaRPr>
          </a:p>
        </p:txBody>
      </p:sp>
      <p:sp>
        <p:nvSpPr>
          <p:cNvPr id="21" name="Text 21"/>
          <p:cNvSpPr txBox="1"/>
          <p:nvPr/>
        </p:nvSpPr>
        <p:spPr>
          <a:xfrm>
            <a:off x="1828800" y="3959352"/>
            <a:ext cx="283464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940" b="1" dirty="0">
                <a:solidFill>
                  <a:srgbClr val="0A0A0F"/>
                </a:solidFill>
                <a:latin typeface="Helvetica"/>
              </a:rPr>
              <a:t>Kapital wird in Produkt, Compliance und GTM uebersetzt.</a:t>
            </a:r>
            <a:endParaRPr lang="de-DE" sz="94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22" name="Shape 22"/>
          <p:cNvSpPr/>
          <p:nvPr/>
        </p:nvSpPr>
        <p:spPr>
          <a:xfrm>
            <a:off x="5486400" y="1600200"/>
            <a:ext cx="5303520" cy="3566160"/>
          </a:xfrm>
          <a:prstGeom prst="rect">
            <a:avLst/>
          </a:prstGeom>
          <a:solidFill>
            <a:srgbClr val="F4F4F6"/>
          </a:solidFill>
          <a:ln w="6350">
            <a:solidFill>
              <a:srgbClr val="E8E8EC"/>
            </a:solidFill>
          </a:ln>
        </p:spPr>
        <p:style/>
      </p:sp>
      <p:sp>
        <p:nvSpPr>
          <p:cNvPr id="23" name="Text 23"/>
          <p:cNvSpPr txBox="1"/>
          <p:nvPr/>
        </p:nvSpPr>
        <p:spPr>
          <a:xfrm>
            <a:off x="5715000" y="1810512"/>
            <a:ext cx="4800600" cy="23774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1300" b="1" dirty="0">
                <a:solidFill>
                  <a:srgbClr val="0A0A0F"/>
                </a:solidFill>
                <a:latin typeface="Helvetica"/>
              </a:rPr>
              <a:t>Illustrative Entscheidungslogik</a:t>
            </a:r>
            <a:endParaRPr lang="de-DE" sz="13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24" name="Chart baseline 24"/>
          <p:cNvSpPr/>
          <p:nvPr/>
        </p:nvSpPr>
        <p:spPr>
          <a:xfrm>
            <a:off x="5806440" y="4160520"/>
            <a:ext cx="4480560" cy="7315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/>
      </p:sp>
      <p:sp>
        <p:nvSpPr>
          <p:cNvPr id="25" name="Chart bar 25"/>
          <p:cNvSpPr/>
          <p:nvPr/>
        </p:nvSpPr>
        <p:spPr>
          <a:xfrm>
            <a:off x="5806440" y="2639833"/>
            <a:ext cx="1010412" cy="1520687"/>
          </a:xfrm>
          <a:prstGeom prst="rect">
            <a:avLst/>
          </a:prstGeom>
          <a:solidFill>
            <a:srgbClr val="9B9BA8"/>
          </a:solidFill>
          <a:ln>
            <a:noFill/>
          </a:ln>
        </p:spPr>
        <p:style/>
      </p:sp>
      <p:sp>
        <p:nvSpPr>
          <p:cNvPr id="26" name="Text 26"/>
          <p:cNvSpPr txBox="1"/>
          <p:nvPr/>
        </p:nvSpPr>
        <p:spPr>
          <a:xfrm>
            <a:off x="5806440" y="4233672"/>
            <a:ext cx="1010412" cy="1463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640" dirty="0">
                <a:solidFill>
                  <a:srgbClr val="9B9BA8"/>
                </a:solidFill>
                <a:latin typeface="Courier"/>
              </a:rPr>
              <a:t>Pain</a:t>
            </a:r>
            <a:endParaRPr lang="de-DE" sz="64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27" name="Text 27"/>
          <p:cNvSpPr txBox="1"/>
          <p:nvPr/>
        </p:nvSpPr>
        <p:spPr>
          <a:xfrm>
            <a:off x="5806440" y="2475241"/>
            <a:ext cx="1010412" cy="12801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700" dirty="0">
                <a:solidFill>
                  <a:srgbClr val="0A0A0F"/>
                </a:solidFill>
                <a:latin typeface="Courier"/>
              </a:rPr>
              <a:t>85</a:t>
            </a:r>
            <a:endParaRPr lang="de-DE" sz="700" dirty="0">
              <a:solidFill>
                <a:srgbClr val="0A0A0F"/>
              </a:solidFill>
              <a:latin typeface="Courier"/>
            </a:endParaRPr>
          </a:p>
        </p:txBody>
      </p:sp>
      <p:sp>
        <p:nvSpPr>
          <p:cNvPr id="28" name="Chart bar 28"/>
          <p:cNvSpPr/>
          <p:nvPr/>
        </p:nvSpPr>
        <p:spPr>
          <a:xfrm>
            <a:off x="6963156" y="2765066"/>
            <a:ext cx="1010412" cy="1395454"/>
          </a:xfrm>
          <a:prstGeom prst="rect">
            <a:avLst/>
          </a:prstGeom>
          <a:solidFill>
            <a:srgbClr val="4A4A4F"/>
          </a:solidFill>
          <a:ln>
            <a:noFill/>
          </a:ln>
        </p:spPr>
        <p:style/>
      </p:sp>
      <p:sp>
        <p:nvSpPr>
          <p:cNvPr id="29" name="Text 29"/>
          <p:cNvSpPr txBox="1"/>
          <p:nvPr/>
        </p:nvSpPr>
        <p:spPr>
          <a:xfrm>
            <a:off x="6963156" y="4233672"/>
            <a:ext cx="1010412" cy="1463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640" dirty="0">
                <a:solidFill>
                  <a:srgbClr val="9B9BA8"/>
                </a:solidFill>
                <a:latin typeface="Courier"/>
              </a:rPr>
              <a:t>Workflow</a:t>
            </a:r>
            <a:endParaRPr lang="de-DE" sz="64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30" name="Text 30"/>
          <p:cNvSpPr txBox="1"/>
          <p:nvPr/>
        </p:nvSpPr>
        <p:spPr>
          <a:xfrm>
            <a:off x="6963156" y="2600474"/>
            <a:ext cx="1010412" cy="12801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700" dirty="0">
                <a:solidFill>
                  <a:srgbClr val="0A0A0F"/>
                </a:solidFill>
                <a:latin typeface="Courier"/>
              </a:rPr>
              <a:t>78</a:t>
            </a:r>
            <a:endParaRPr lang="de-DE" sz="700" dirty="0">
              <a:solidFill>
                <a:srgbClr val="0A0A0F"/>
              </a:solidFill>
              <a:latin typeface="Courier"/>
            </a:endParaRPr>
          </a:p>
        </p:txBody>
      </p:sp>
      <p:sp>
        <p:nvSpPr>
          <p:cNvPr id="31" name="Chart bar 31"/>
          <p:cNvSpPr/>
          <p:nvPr/>
        </p:nvSpPr>
        <p:spPr>
          <a:xfrm>
            <a:off x="8119872" y="2514600"/>
            <a:ext cx="1010412" cy="1645920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32" name="Text 32"/>
          <p:cNvSpPr txBox="1"/>
          <p:nvPr/>
        </p:nvSpPr>
        <p:spPr>
          <a:xfrm>
            <a:off x="8119872" y="4233672"/>
            <a:ext cx="1010412" cy="1463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640" dirty="0">
                <a:solidFill>
                  <a:srgbClr val="9B9BA8"/>
                </a:solidFill>
                <a:latin typeface="Courier"/>
              </a:rPr>
              <a:t>Trust</a:t>
            </a:r>
            <a:endParaRPr lang="de-DE" sz="64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33" name="Text 33"/>
          <p:cNvSpPr txBox="1"/>
          <p:nvPr/>
        </p:nvSpPr>
        <p:spPr>
          <a:xfrm>
            <a:off x="8119872" y="2350008"/>
            <a:ext cx="1010412" cy="12801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700" dirty="0">
                <a:solidFill>
                  <a:srgbClr val="0A0A0F"/>
                </a:solidFill>
                <a:latin typeface="Courier"/>
              </a:rPr>
              <a:t>92</a:t>
            </a:r>
            <a:endParaRPr lang="de-DE" sz="700" dirty="0">
              <a:solidFill>
                <a:srgbClr val="0A0A0F"/>
              </a:solidFill>
              <a:latin typeface="Courier"/>
            </a:endParaRPr>
          </a:p>
        </p:txBody>
      </p:sp>
      <p:sp>
        <p:nvSpPr>
          <p:cNvPr id="34" name="Chart bar 34"/>
          <p:cNvSpPr/>
          <p:nvPr/>
        </p:nvSpPr>
        <p:spPr>
          <a:xfrm>
            <a:off x="9276588" y="3015532"/>
            <a:ext cx="1010412" cy="1144988"/>
          </a:xfrm>
          <a:prstGeom prst="rect">
            <a:avLst/>
          </a:prstGeom>
          <a:solidFill>
            <a:srgbClr val="4A4A4F"/>
          </a:solidFill>
          <a:ln>
            <a:noFill/>
          </a:ln>
        </p:spPr>
        <p:style/>
      </p:sp>
      <p:sp>
        <p:nvSpPr>
          <p:cNvPr id="35" name="Text 35"/>
          <p:cNvSpPr txBox="1"/>
          <p:nvPr/>
        </p:nvSpPr>
        <p:spPr>
          <a:xfrm>
            <a:off x="9276588" y="4233672"/>
            <a:ext cx="1010412" cy="1463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640" dirty="0">
                <a:solidFill>
                  <a:srgbClr val="9B9BA8"/>
                </a:solidFill>
                <a:latin typeface="Courier"/>
              </a:rPr>
              <a:t>GTM</a:t>
            </a:r>
            <a:endParaRPr lang="de-DE" sz="64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36" name="Text 36"/>
          <p:cNvSpPr txBox="1"/>
          <p:nvPr/>
        </p:nvSpPr>
        <p:spPr>
          <a:xfrm>
            <a:off x="9276588" y="2850940"/>
            <a:ext cx="1010412" cy="12801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700" dirty="0">
                <a:solidFill>
                  <a:srgbClr val="0A0A0F"/>
                </a:solidFill>
                <a:latin typeface="Courier"/>
              </a:rPr>
              <a:t>64</a:t>
            </a:r>
            <a:endParaRPr lang="de-DE" sz="700" dirty="0">
              <a:solidFill>
                <a:srgbClr val="0A0A0F"/>
              </a:solidFill>
              <a:latin typeface="Courier"/>
            </a:endParaRPr>
          </a:p>
        </p:txBody>
      </p:sp>
      <p:sp>
        <p:nvSpPr>
          <p:cNvPr id="37" name="Text 37"/>
          <p:cNvSpPr txBox="1"/>
          <p:nvPr/>
        </p:nvSpPr>
        <p:spPr>
          <a:xfrm>
            <a:off x="5806440" y="4617720"/>
            <a:ext cx="448056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20" dirty="0">
                <a:solidFill>
                  <a:srgbClr val="9B9BA8"/>
                </a:solidFill>
                <a:latin typeface="Courier"/>
              </a:rPr>
              <a:t>Beispielwerte, als Platzhalter fuer echte Due-Diligence-Kennzahlen.</a:t>
            </a:r>
            <a:endParaRPr lang="de-DE" sz="720" dirty="0">
              <a:solidFill>
                <a:srgbClr val="9B9BA8"/>
              </a:solidFill>
              <a:latin typeface="Couri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ble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EVO accent bar 2"/>
          <p:cNvSpPr/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3" name="Text 3"/>
          <p:cNvSpPr txBox="1"/>
          <p:nvPr/>
        </p:nvSpPr>
        <p:spPr>
          <a:xfrm>
            <a:off x="566928" y="292608"/>
            <a:ext cx="429768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50" b="1" dirty="0">
                <a:solidFill>
                  <a:srgbClr val="9B9BA8"/>
                </a:solidFill>
                <a:latin typeface="Courier"/>
              </a:rPr>
              <a:t>PROBLEM</a:t>
            </a:r>
            <a:endParaRPr lang="de-DE" sz="75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4" name="Header rule 4"/>
          <p:cNvSpPr/>
          <p:nvPr/>
        </p:nvSpPr>
        <p:spPr>
          <a:xfrm>
            <a:off x="566928" y="658368"/>
            <a:ext cx="11045952" cy="5486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/>
      </p:sp>
      <p:sp>
        <p:nvSpPr>
          <p:cNvPr id="5" name="Text 5"/>
          <p:cNvSpPr txBox="1"/>
          <p:nvPr/>
        </p:nvSpPr>
        <p:spPr>
          <a:xfrm>
            <a:off x="566928" y="804672"/>
            <a:ext cx="10058400" cy="53035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2400" b="1" dirty="0">
                <a:solidFill>
                  <a:srgbClr val="0A0A0F"/>
                </a:solidFill>
                <a:latin typeface="Helvetica"/>
              </a:rPr>
              <a:t>Dokumentation ist kein Nebenprozess, sondern der operative Flaschenhals</a:t>
            </a:r>
            <a:endParaRPr lang="de-DE" sz="24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6" name="Footer rule 6"/>
          <p:cNvSpPr/>
          <p:nvPr/>
        </p:nvSpPr>
        <p:spPr>
          <a:xfrm>
            <a:off x="566928" y="6419088"/>
            <a:ext cx="11045952" cy="5486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/>
      </p:sp>
      <p:sp>
        <p:nvSpPr>
          <p:cNvPr id="7" name="Text 7"/>
          <p:cNvSpPr txBox="1"/>
          <p:nvPr/>
        </p:nvSpPr>
        <p:spPr>
          <a:xfrm>
            <a:off x="566928" y="6510528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680" dirty="0">
                <a:solidFill>
                  <a:srgbClr val="9B9BA8"/>
                </a:solidFill>
                <a:latin typeface="Courier"/>
              </a:rPr>
              <a:t>CAREVO VC / CONSULTING TEMPLATE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8" name="Text 8"/>
          <p:cNvSpPr txBox="1"/>
          <p:nvPr/>
        </p:nvSpPr>
        <p:spPr>
          <a:xfrm>
            <a:off x="4572000" y="6510528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680" dirty="0">
                <a:solidFill>
                  <a:srgbClr val="9B9BA8"/>
                </a:solidFill>
                <a:latin typeface="Courier"/>
              </a:rPr>
              <a:t>CONFIDENTIAL - TEMPLATE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9" name="Text 9"/>
          <p:cNvSpPr txBox="1"/>
          <p:nvPr/>
        </p:nvSpPr>
        <p:spPr>
          <a:xfrm>
            <a:off x="11018520" y="6510528"/>
            <a:ext cx="59436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r"/>
            <a:r>
              <a:rPr lang="de-DE" sz="680" dirty="0">
                <a:solidFill>
                  <a:srgbClr val="9B9BA8"/>
                </a:solidFill>
                <a:latin typeface="Courier"/>
              </a:rPr>
              <a:t>06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10" name="Text 10"/>
          <p:cNvSpPr txBox="1"/>
          <p:nvPr/>
        </p:nvSpPr>
        <p:spPr>
          <a:xfrm>
            <a:off x="749808" y="1572768"/>
            <a:ext cx="5943600" cy="9601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3000" b="1" dirty="0">
                <a:solidFill>
                  <a:srgbClr val="0A0A0F"/>
                </a:solidFill>
                <a:latin typeface="Helvetica"/>
              </a:rPr>
              <a:t>Fachkraefte verlieren Zeit in Formularen, obwohl Wert am Menschen entsteht.</a:t>
            </a:r>
            <a:endParaRPr lang="de-DE" sz="30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11" name="Text 11"/>
          <p:cNvSpPr txBox="1"/>
          <p:nvPr/>
        </p:nvSpPr>
        <p:spPr>
          <a:xfrm>
            <a:off x="786384" y="2743200"/>
            <a:ext cx="5029200" cy="38404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1300" dirty="0">
                <a:solidFill>
                  <a:srgbClr val="4A4A4F"/>
                </a:solidFill>
                <a:latin typeface="Helvetica"/>
              </a:rPr>
              <a:t>Aus dem Brand Guide: CAREVO reduziert die Dokumentationslast und gibt Fachkraeften Zeit zurueck.</a:t>
            </a:r>
            <a:endParaRPr lang="de-DE" sz="130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12" name="Card 12"/>
          <p:cNvSpPr/>
          <p:nvPr/>
        </p:nvSpPr>
        <p:spPr>
          <a:xfrm>
            <a:off x="749808" y="3703320"/>
            <a:ext cx="292608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13" name="Card marker 13"/>
          <p:cNvSpPr/>
          <p:nvPr/>
        </p:nvSpPr>
        <p:spPr>
          <a:xfrm>
            <a:off x="896112" y="3867912"/>
            <a:ext cx="36576" cy="36576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14" name="Text 14"/>
          <p:cNvSpPr txBox="1"/>
          <p:nvPr/>
        </p:nvSpPr>
        <p:spPr>
          <a:xfrm>
            <a:off x="896112" y="3986784"/>
            <a:ext cx="2633472" cy="1463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680" b="1" dirty="0">
                <a:solidFill>
                  <a:srgbClr val="9B9BA8"/>
                </a:solidFill>
                <a:latin typeface="Courier"/>
              </a:rPr>
              <a:t>PAIN 01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15" name="Text 15"/>
          <p:cNvSpPr txBox="1"/>
          <p:nvPr/>
        </p:nvSpPr>
        <p:spPr>
          <a:xfrm>
            <a:off x="896112" y="4206240"/>
            <a:ext cx="2633472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1300" b="1" dirty="0">
                <a:solidFill>
                  <a:srgbClr val="0A0A0F"/>
                </a:solidFill>
                <a:latin typeface="Helvetica"/>
              </a:rPr>
              <a:t>Fragmentierte Tools</a:t>
            </a:r>
            <a:endParaRPr lang="de-DE" sz="13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16" name="Text 16"/>
          <p:cNvSpPr txBox="1"/>
          <p:nvPr/>
        </p:nvSpPr>
        <p:spPr>
          <a:xfrm>
            <a:off x="896112" y="4599432"/>
            <a:ext cx="2633472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920" dirty="0">
                <a:solidFill>
                  <a:srgbClr val="4A4A4F"/>
                </a:solidFill>
                <a:latin typeface="Helvetica"/>
              </a:rPr>
              <a:t>Inselloesungen erzeugen Medienbrueche.</a:t>
            </a:r>
            <a:endParaRPr lang="de-DE" sz="92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17" name="Card 17"/>
          <p:cNvSpPr/>
          <p:nvPr/>
        </p:nvSpPr>
        <p:spPr>
          <a:xfrm>
            <a:off x="3886200" y="3703320"/>
            <a:ext cx="292608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18" name="Card marker 18"/>
          <p:cNvSpPr/>
          <p:nvPr/>
        </p:nvSpPr>
        <p:spPr>
          <a:xfrm>
            <a:off x="4032504" y="3867912"/>
            <a:ext cx="36576" cy="36576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19" name="Text 19"/>
          <p:cNvSpPr txBox="1"/>
          <p:nvPr/>
        </p:nvSpPr>
        <p:spPr>
          <a:xfrm>
            <a:off x="4032504" y="3986784"/>
            <a:ext cx="2633472" cy="1463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680" b="1" dirty="0">
                <a:solidFill>
                  <a:srgbClr val="9B9BA8"/>
                </a:solidFill>
                <a:latin typeface="Courier"/>
              </a:rPr>
              <a:t>PAIN 02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20" name="Text 20"/>
          <p:cNvSpPr txBox="1"/>
          <p:nvPr/>
        </p:nvSpPr>
        <p:spPr>
          <a:xfrm>
            <a:off x="4032504" y="4206240"/>
            <a:ext cx="2633472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1300" b="1" dirty="0">
                <a:solidFill>
                  <a:srgbClr val="0A0A0F"/>
                </a:solidFill>
                <a:latin typeface="Helvetica"/>
              </a:rPr>
              <a:t>Unklare Zustaende</a:t>
            </a:r>
            <a:endParaRPr lang="de-DE" sz="13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21" name="Text 21"/>
          <p:cNvSpPr txBox="1"/>
          <p:nvPr/>
        </p:nvSpPr>
        <p:spPr>
          <a:xfrm>
            <a:off x="4032504" y="4599432"/>
            <a:ext cx="2633472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920" dirty="0">
                <a:solidFill>
                  <a:srgbClr val="4A4A4F"/>
                </a:solidFill>
                <a:latin typeface="Helvetica"/>
              </a:rPr>
              <a:t>Teams muessen sehen, ob Entwurf oder Freigabe vorliegt.</a:t>
            </a:r>
            <a:endParaRPr lang="de-DE" sz="92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22" name="Card 22"/>
          <p:cNvSpPr/>
          <p:nvPr/>
        </p:nvSpPr>
        <p:spPr>
          <a:xfrm>
            <a:off x="7022592" y="3703320"/>
            <a:ext cx="292608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23" name="Card marker 23"/>
          <p:cNvSpPr/>
          <p:nvPr/>
        </p:nvSpPr>
        <p:spPr>
          <a:xfrm>
            <a:off x="7168896" y="3867912"/>
            <a:ext cx="36576" cy="36576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24" name="Text 24"/>
          <p:cNvSpPr txBox="1"/>
          <p:nvPr/>
        </p:nvSpPr>
        <p:spPr>
          <a:xfrm>
            <a:off x="7168896" y="3986784"/>
            <a:ext cx="2633472" cy="1463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680" b="1" dirty="0">
                <a:solidFill>
                  <a:srgbClr val="9B9BA8"/>
                </a:solidFill>
                <a:latin typeface="Courier"/>
              </a:rPr>
              <a:t>PAIN 03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25" name="Text 25"/>
          <p:cNvSpPr txBox="1"/>
          <p:nvPr/>
        </p:nvSpPr>
        <p:spPr>
          <a:xfrm>
            <a:off x="7168896" y="4206240"/>
            <a:ext cx="2633472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1300" b="1" dirty="0">
                <a:solidFill>
                  <a:srgbClr val="0A0A0F"/>
                </a:solidFill>
                <a:latin typeface="Helvetica"/>
              </a:rPr>
              <a:t>Review-Risiko</a:t>
            </a:r>
            <a:endParaRPr lang="de-DE" sz="13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26" name="Text 26"/>
          <p:cNvSpPr txBox="1"/>
          <p:nvPr/>
        </p:nvSpPr>
        <p:spPr>
          <a:xfrm>
            <a:off x="7168896" y="4599432"/>
            <a:ext cx="2633472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920" dirty="0">
                <a:solidFill>
                  <a:srgbClr val="4A4A4F"/>
                </a:solidFill>
                <a:latin typeface="Helvetica"/>
              </a:rPr>
              <a:t>AI ohne klare Pruefung erzeugt Vertrauensthemen.</a:t>
            </a:r>
            <a:endParaRPr lang="de-DE" sz="920" dirty="0">
              <a:solidFill>
                <a:srgbClr val="4A4A4F"/>
              </a:solidFill>
              <a:latin typeface="Helvetic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hy N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EVO accent bar 2"/>
          <p:cNvSpPr/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3" name="Text 3"/>
          <p:cNvSpPr txBox="1"/>
          <p:nvPr/>
        </p:nvSpPr>
        <p:spPr>
          <a:xfrm>
            <a:off x="566928" y="292608"/>
            <a:ext cx="429768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50" b="1" dirty="0">
                <a:solidFill>
                  <a:srgbClr val="9B9BA8"/>
                </a:solidFill>
                <a:latin typeface="Courier"/>
              </a:rPr>
              <a:t>WHY NOW</a:t>
            </a:r>
            <a:endParaRPr lang="de-DE" sz="75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4" name="Header rule 4"/>
          <p:cNvSpPr/>
          <p:nvPr/>
        </p:nvSpPr>
        <p:spPr>
          <a:xfrm>
            <a:off x="566928" y="658368"/>
            <a:ext cx="11045952" cy="5486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/>
      </p:sp>
      <p:sp>
        <p:nvSpPr>
          <p:cNvPr id="5" name="Text 5"/>
          <p:cNvSpPr txBox="1"/>
          <p:nvPr/>
        </p:nvSpPr>
        <p:spPr>
          <a:xfrm>
            <a:off x="566928" y="804672"/>
            <a:ext cx="10058400" cy="53035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2400" b="1" dirty="0">
                <a:solidFill>
                  <a:srgbClr val="0A0A0F"/>
                </a:solidFill>
                <a:latin typeface="Helvetica"/>
              </a:rPr>
              <a:t>Der Markt bewegt sich in Richtung reviewbarer AI-Workflows</a:t>
            </a:r>
            <a:endParaRPr lang="de-DE" sz="24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6" name="Footer rule 6"/>
          <p:cNvSpPr/>
          <p:nvPr/>
        </p:nvSpPr>
        <p:spPr>
          <a:xfrm>
            <a:off x="566928" y="6419088"/>
            <a:ext cx="11045952" cy="5486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/>
      </p:sp>
      <p:sp>
        <p:nvSpPr>
          <p:cNvPr id="7" name="Text 7"/>
          <p:cNvSpPr txBox="1"/>
          <p:nvPr/>
        </p:nvSpPr>
        <p:spPr>
          <a:xfrm>
            <a:off x="566928" y="6510528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680" dirty="0">
                <a:solidFill>
                  <a:srgbClr val="9B9BA8"/>
                </a:solidFill>
                <a:latin typeface="Courier"/>
              </a:rPr>
              <a:t>CAREVO VC / CONSULTING TEMPLATE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8" name="Text 8"/>
          <p:cNvSpPr txBox="1"/>
          <p:nvPr/>
        </p:nvSpPr>
        <p:spPr>
          <a:xfrm>
            <a:off x="4572000" y="6510528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680" dirty="0">
                <a:solidFill>
                  <a:srgbClr val="9B9BA8"/>
                </a:solidFill>
                <a:latin typeface="Courier"/>
              </a:rPr>
              <a:t>CONFIDENTIAL - TEMPLATE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9" name="Text 9"/>
          <p:cNvSpPr txBox="1"/>
          <p:nvPr/>
        </p:nvSpPr>
        <p:spPr>
          <a:xfrm>
            <a:off x="11018520" y="6510528"/>
            <a:ext cx="59436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r"/>
            <a:r>
              <a:rPr lang="de-DE" sz="680" dirty="0">
                <a:solidFill>
                  <a:srgbClr val="9B9BA8"/>
                </a:solidFill>
                <a:latin typeface="Courier"/>
              </a:rPr>
              <a:t>07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10" name="Process step 10"/>
          <p:cNvSpPr/>
          <p:nvPr/>
        </p:nvSpPr>
        <p:spPr>
          <a:xfrm>
            <a:off x="749808" y="1874520"/>
            <a:ext cx="1876349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11" name="Text 11"/>
          <p:cNvSpPr txBox="1"/>
          <p:nvPr/>
        </p:nvSpPr>
        <p:spPr>
          <a:xfrm>
            <a:off x="859536" y="1993392"/>
            <a:ext cx="384048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800" b="1" dirty="0">
                <a:solidFill>
                  <a:srgbClr val="1E6B72"/>
                </a:solidFill>
                <a:latin typeface="Courier"/>
              </a:rPr>
              <a:t>01</a:t>
            </a:r>
            <a:endParaRPr lang="de-DE" sz="800" dirty="0">
              <a:solidFill>
                <a:srgbClr val="1E6B72"/>
              </a:solidFill>
              <a:latin typeface="Courier"/>
            </a:endParaRPr>
          </a:p>
        </p:txBody>
      </p:sp>
      <p:sp>
        <p:nvSpPr>
          <p:cNvPr id="12" name="Text 12"/>
          <p:cNvSpPr txBox="1"/>
          <p:nvPr/>
        </p:nvSpPr>
        <p:spPr>
          <a:xfrm>
            <a:off x="859536" y="2258568"/>
            <a:ext cx="1656893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1000" b="1" dirty="0">
                <a:solidFill>
                  <a:srgbClr val="0A0A0F"/>
                </a:solidFill>
                <a:latin typeface="Helvetica"/>
              </a:rPr>
              <a:t>Fachkraefte-Mangel</a:t>
            </a:r>
            <a:endParaRPr lang="de-DE" sz="10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13" name="Text 13"/>
          <p:cNvSpPr txBox="1"/>
          <p:nvPr/>
        </p:nvSpPr>
        <p:spPr>
          <a:xfrm>
            <a:off x="2644445" y="2157984"/>
            <a:ext cx="109728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1200" b="1" dirty="0">
                <a:solidFill>
                  <a:srgbClr val="9B9BA8"/>
                </a:solidFill>
                <a:latin typeface="Helvetica"/>
              </a:rPr>
              <a:t>&gt;</a:t>
            </a:r>
            <a:endParaRPr lang="de-DE" sz="1200" dirty="0">
              <a:solidFill>
                <a:srgbClr val="9B9BA8"/>
              </a:solidFill>
              <a:latin typeface="Helvetica"/>
            </a:endParaRPr>
          </a:p>
        </p:txBody>
      </p:sp>
      <p:sp>
        <p:nvSpPr>
          <p:cNvPr id="14" name="Process step 14"/>
          <p:cNvSpPr/>
          <p:nvPr/>
        </p:nvSpPr>
        <p:spPr>
          <a:xfrm>
            <a:off x="2772461" y="1874520"/>
            <a:ext cx="1876349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15" name="Text 15"/>
          <p:cNvSpPr txBox="1"/>
          <p:nvPr/>
        </p:nvSpPr>
        <p:spPr>
          <a:xfrm>
            <a:off x="2882189" y="1993392"/>
            <a:ext cx="384048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800" b="1" dirty="0">
                <a:solidFill>
                  <a:srgbClr val="1E6B72"/>
                </a:solidFill>
                <a:latin typeface="Courier"/>
              </a:rPr>
              <a:t>02</a:t>
            </a:r>
            <a:endParaRPr lang="de-DE" sz="800" dirty="0">
              <a:solidFill>
                <a:srgbClr val="1E6B72"/>
              </a:solidFill>
              <a:latin typeface="Courier"/>
            </a:endParaRPr>
          </a:p>
        </p:txBody>
      </p:sp>
      <p:sp>
        <p:nvSpPr>
          <p:cNvPr id="16" name="Text 16"/>
          <p:cNvSpPr txBox="1"/>
          <p:nvPr/>
        </p:nvSpPr>
        <p:spPr>
          <a:xfrm>
            <a:off x="2882189" y="2258568"/>
            <a:ext cx="1656893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1000" b="1" dirty="0">
                <a:solidFill>
                  <a:srgbClr val="0A0A0F"/>
                </a:solidFill>
                <a:latin typeface="Helvetica"/>
              </a:rPr>
              <a:t>AI-Akzeptanz</a:t>
            </a:r>
            <a:endParaRPr lang="de-DE" sz="10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17" name="Text 17"/>
          <p:cNvSpPr txBox="1"/>
          <p:nvPr/>
        </p:nvSpPr>
        <p:spPr>
          <a:xfrm>
            <a:off x="4667098" y="2157984"/>
            <a:ext cx="109728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1200" b="1" dirty="0">
                <a:solidFill>
                  <a:srgbClr val="9B9BA8"/>
                </a:solidFill>
                <a:latin typeface="Helvetica"/>
              </a:rPr>
              <a:t>&gt;</a:t>
            </a:r>
            <a:endParaRPr lang="de-DE" sz="1200" dirty="0">
              <a:solidFill>
                <a:srgbClr val="9B9BA8"/>
              </a:solidFill>
              <a:latin typeface="Helvetica"/>
            </a:endParaRPr>
          </a:p>
        </p:txBody>
      </p:sp>
      <p:sp>
        <p:nvSpPr>
          <p:cNvPr id="18" name="Process step 18"/>
          <p:cNvSpPr/>
          <p:nvPr/>
        </p:nvSpPr>
        <p:spPr>
          <a:xfrm>
            <a:off x="4795114" y="1874520"/>
            <a:ext cx="1876349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19" name="Text 19"/>
          <p:cNvSpPr txBox="1"/>
          <p:nvPr/>
        </p:nvSpPr>
        <p:spPr>
          <a:xfrm>
            <a:off x="4904842" y="1993392"/>
            <a:ext cx="384048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800" b="1" dirty="0">
                <a:solidFill>
                  <a:srgbClr val="1E6B72"/>
                </a:solidFill>
                <a:latin typeface="Courier"/>
              </a:rPr>
              <a:t>03</a:t>
            </a:r>
            <a:endParaRPr lang="de-DE" sz="800" dirty="0">
              <a:solidFill>
                <a:srgbClr val="1E6B72"/>
              </a:solidFill>
              <a:latin typeface="Courier"/>
            </a:endParaRPr>
          </a:p>
        </p:txBody>
      </p:sp>
      <p:sp>
        <p:nvSpPr>
          <p:cNvPr id="20" name="Text 20"/>
          <p:cNvSpPr txBox="1"/>
          <p:nvPr/>
        </p:nvSpPr>
        <p:spPr>
          <a:xfrm>
            <a:off x="4904842" y="2258568"/>
            <a:ext cx="1656893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1000" b="1" dirty="0">
                <a:solidFill>
                  <a:srgbClr val="0A0A0F"/>
                </a:solidFill>
                <a:latin typeface="Helvetica"/>
              </a:rPr>
              <a:t>Compliance-Druck</a:t>
            </a:r>
            <a:endParaRPr lang="de-DE" sz="10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21" name="Text 21"/>
          <p:cNvSpPr txBox="1"/>
          <p:nvPr/>
        </p:nvSpPr>
        <p:spPr>
          <a:xfrm>
            <a:off x="6689750" y="2157984"/>
            <a:ext cx="109728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1200" b="1" dirty="0">
                <a:solidFill>
                  <a:srgbClr val="9B9BA8"/>
                </a:solidFill>
                <a:latin typeface="Helvetica"/>
              </a:rPr>
              <a:t>&gt;</a:t>
            </a:r>
            <a:endParaRPr lang="de-DE" sz="1200" dirty="0">
              <a:solidFill>
                <a:srgbClr val="9B9BA8"/>
              </a:solidFill>
              <a:latin typeface="Helvetica"/>
            </a:endParaRPr>
          </a:p>
        </p:txBody>
      </p:sp>
      <p:sp>
        <p:nvSpPr>
          <p:cNvPr id="22" name="Process step 22"/>
          <p:cNvSpPr/>
          <p:nvPr/>
        </p:nvSpPr>
        <p:spPr>
          <a:xfrm>
            <a:off x="6817766" y="1874520"/>
            <a:ext cx="1876349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23" name="Text 23"/>
          <p:cNvSpPr txBox="1"/>
          <p:nvPr/>
        </p:nvSpPr>
        <p:spPr>
          <a:xfrm>
            <a:off x="6927494" y="1993392"/>
            <a:ext cx="384048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800" b="1" dirty="0">
                <a:solidFill>
                  <a:srgbClr val="1E6B72"/>
                </a:solidFill>
                <a:latin typeface="Courier"/>
              </a:rPr>
              <a:t>04</a:t>
            </a:r>
            <a:endParaRPr lang="de-DE" sz="800" dirty="0">
              <a:solidFill>
                <a:srgbClr val="1E6B72"/>
              </a:solidFill>
              <a:latin typeface="Courier"/>
            </a:endParaRPr>
          </a:p>
        </p:txBody>
      </p:sp>
      <p:sp>
        <p:nvSpPr>
          <p:cNvPr id="24" name="Text 24"/>
          <p:cNvSpPr txBox="1"/>
          <p:nvPr/>
        </p:nvSpPr>
        <p:spPr>
          <a:xfrm>
            <a:off x="6927494" y="2258568"/>
            <a:ext cx="1656893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1000" b="1" dirty="0">
                <a:solidFill>
                  <a:srgbClr val="0A0A0F"/>
                </a:solidFill>
                <a:latin typeface="Helvetica"/>
              </a:rPr>
              <a:t>Interoperabilitaet</a:t>
            </a:r>
            <a:endParaRPr lang="de-DE" sz="10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25" name="Text 25"/>
          <p:cNvSpPr txBox="1"/>
          <p:nvPr/>
        </p:nvSpPr>
        <p:spPr>
          <a:xfrm>
            <a:off x="8712403" y="2157984"/>
            <a:ext cx="109728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1200" b="1" dirty="0">
                <a:solidFill>
                  <a:srgbClr val="9B9BA8"/>
                </a:solidFill>
                <a:latin typeface="Helvetica"/>
              </a:rPr>
              <a:t>&gt;</a:t>
            </a:r>
            <a:endParaRPr lang="de-DE" sz="1200" dirty="0">
              <a:solidFill>
                <a:srgbClr val="9B9BA8"/>
              </a:solidFill>
              <a:latin typeface="Helvetica"/>
            </a:endParaRPr>
          </a:p>
        </p:txBody>
      </p:sp>
      <p:sp>
        <p:nvSpPr>
          <p:cNvPr id="26" name="Process step 26"/>
          <p:cNvSpPr/>
          <p:nvPr/>
        </p:nvSpPr>
        <p:spPr>
          <a:xfrm>
            <a:off x="8840419" y="1874520"/>
            <a:ext cx="1876349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27" name="Text 27"/>
          <p:cNvSpPr txBox="1"/>
          <p:nvPr/>
        </p:nvSpPr>
        <p:spPr>
          <a:xfrm>
            <a:off x="8950147" y="1993392"/>
            <a:ext cx="384048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800" b="1" dirty="0">
                <a:solidFill>
                  <a:srgbClr val="1E6B72"/>
                </a:solidFill>
                <a:latin typeface="Courier"/>
              </a:rPr>
              <a:t>05</a:t>
            </a:r>
            <a:endParaRPr lang="de-DE" sz="800" dirty="0">
              <a:solidFill>
                <a:srgbClr val="1E6B72"/>
              </a:solidFill>
              <a:latin typeface="Courier"/>
            </a:endParaRPr>
          </a:p>
        </p:txBody>
      </p:sp>
      <p:sp>
        <p:nvSpPr>
          <p:cNvPr id="28" name="Text 28"/>
          <p:cNvSpPr txBox="1"/>
          <p:nvPr/>
        </p:nvSpPr>
        <p:spPr>
          <a:xfrm>
            <a:off x="8950147" y="2258568"/>
            <a:ext cx="1656893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1000" b="1" dirty="0">
                <a:solidFill>
                  <a:srgbClr val="0A0A0F"/>
                </a:solidFill>
                <a:latin typeface="Helvetica"/>
              </a:rPr>
              <a:t>Board-Fokus</a:t>
            </a:r>
            <a:endParaRPr lang="de-DE" sz="10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29" name="Shape 29"/>
          <p:cNvSpPr/>
          <p:nvPr/>
        </p:nvSpPr>
        <p:spPr>
          <a:xfrm>
            <a:off x="749808" y="3364992"/>
            <a:ext cx="9966960" cy="1097280"/>
          </a:xfrm>
          <a:prstGeom prst="rect">
            <a:avLst/>
          </a:prstGeom>
          <a:solidFill>
            <a:srgbClr val="F4F4F6"/>
          </a:solidFill>
          <a:ln w="6350">
            <a:solidFill>
              <a:srgbClr val="E8E8EC"/>
            </a:solidFill>
          </a:ln>
        </p:spPr>
        <p:style/>
      </p:sp>
      <p:sp>
        <p:nvSpPr>
          <p:cNvPr id="30" name="Text 30"/>
          <p:cNvSpPr txBox="1"/>
          <p:nvPr/>
        </p:nvSpPr>
        <p:spPr>
          <a:xfrm>
            <a:off x="987552" y="3602736"/>
            <a:ext cx="182880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00" b="1" dirty="0">
                <a:solidFill>
                  <a:srgbClr val="1E6B72"/>
                </a:solidFill>
                <a:latin typeface="Courier"/>
              </a:rPr>
              <a:t>VC IMPLIKATION</a:t>
            </a:r>
            <a:endParaRPr lang="de-DE" sz="700" dirty="0">
              <a:solidFill>
                <a:srgbClr val="1E6B72"/>
              </a:solidFill>
              <a:latin typeface="Courier"/>
            </a:endParaRPr>
          </a:p>
        </p:txBody>
      </p:sp>
      <p:sp>
        <p:nvSpPr>
          <p:cNvPr id="31" name="Text 31"/>
          <p:cNvSpPr txBox="1"/>
          <p:nvPr/>
        </p:nvSpPr>
        <p:spPr>
          <a:xfrm>
            <a:off x="2514600" y="3520440"/>
            <a:ext cx="7498080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1500" b="1" dirty="0">
                <a:solidFill>
                  <a:srgbClr val="0A0A0F"/>
                </a:solidFill>
                <a:latin typeface="Helvetica"/>
              </a:rPr>
              <a:t>Gewinner sind Produkte, die nicht nur AI demonstrieren, sondern klinische Verantwortung in den Workflow einbauen.</a:t>
            </a:r>
            <a:endParaRPr lang="de-DE" sz="15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32" name="Text 32"/>
          <p:cNvSpPr txBox="1"/>
          <p:nvPr/>
        </p:nvSpPr>
        <p:spPr>
          <a:xfrm>
            <a:off x="768096" y="4864608"/>
            <a:ext cx="9601200" cy="21945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800" dirty="0">
                <a:solidFill>
                  <a:srgbClr val="9B9BA8"/>
                </a:solidFill>
                <a:latin typeface="Courier"/>
              </a:rPr>
              <a:t>Template-Platzhalter: externe Markt- und Regulierungsdaten hier mit Quellen ersetzen.</a:t>
            </a:r>
            <a:endParaRPr lang="de-DE" sz="800" dirty="0">
              <a:solidFill>
                <a:srgbClr val="9B9BA8"/>
              </a:solidFill>
              <a:latin typeface="Couri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duct Thesi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EVO accent bar 2"/>
          <p:cNvSpPr/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3" name="Text 3"/>
          <p:cNvSpPr txBox="1"/>
          <p:nvPr/>
        </p:nvSpPr>
        <p:spPr>
          <a:xfrm>
            <a:off x="566928" y="292608"/>
            <a:ext cx="429768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50" b="1" dirty="0">
                <a:solidFill>
                  <a:srgbClr val="9B9BA8"/>
                </a:solidFill>
                <a:latin typeface="Courier"/>
              </a:rPr>
              <a:t>PRODUKTTHESE</a:t>
            </a:r>
            <a:endParaRPr lang="de-DE" sz="75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4" name="Header rule 4"/>
          <p:cNvSpPr/>
          <p:nvPr/>
        </p:nvSpPr>
        <p:spPr>
          <a:xfrm>
            <a:off x="566928" y="658368"/>
            <a:ext cx="11045952" cy="5486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/>
      </p:sp>
      <p:sp>
        <p:nvSpPr>
          <p:cNvPr id="5" name="Text 5"/>
          <p:cNvSpPr txBox="1"/>
          <p:nvPr/>
        </p:nvSpPr>
        <p:spPr>
          <a:xfrm>
            <a:off x="566928" y="804672"/>
            <a:ext cx="10058400" cy="53035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2400" b="1" dirty="0">
                <a:solidFill>
                  <a:srgbClr val="0A0A0F"/>
                </a:solidFill>
                <a:latin typeface="Helvetica"/>
              </a:rPr>
              <a:t>Das Produkt muss wie ein gutes Formular wirken: klar, pruefbar, vollstaendig</a:t>
            </a:r>
            <a:endParaRPr lang="de-DE" sz="24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6" name="Footer rule 6"/>
          <p:cNvSpPr/>
          <p:nvPr/>
        </p:nvSpPr>
        <p:spPr>
          <a:xfrm>
            <a:off x="566928" y="6419088"/>
            <a:ext cx="11045952" cy="5486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/>
      </p:sp>
      <p:sp>
        <p:nvSpPr>
          <p:cNvPr id="7" name="Text 7"/>
          <p:cNvSpPr txBox="1"/>
          <p:nvPr/>
        </p:nvSpPr>
        <p:spPr>
          <a:xfrm>
            <a:off x="566928" y="6510528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680" dirty="0">
                <a:solidFill>
                  <a:srgbClr val="9B9BA8"/>
                </a:solidFill>
                <a:latin typeface="Courier"/>
              </a:rPr>
              <a:t>CAREVO VC / CONSULTING TEMPLATE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8" name="Text 8"/>
          <p:cNvSpPr txBox="1"/>
          <p:nvPr/>
        </p:nvSpPr>
        <p:spPr>
          <a:xfrm>
            <a:off x="4572000" y="6510528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680" dirty="0">
                <a:solidFill>
                  <a:srgbClr val="9B9BA8"/>
                </a:solidFill>
                <a:latin typeface="Courier"/>
              </a:rPr>
              <a:t>CONFIDENTIAL - TEMPLATE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9" name="Text 9"/>
          <p:cNvSpPr txBox="1"/>
          <p:nvPr/>
        </p:nvSpPr>
        <p:spPr>
          <a:xfrm>
            <a:off x="11018520" y="6510528"/>
            <a:ext cx="59436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r"/>
            <a:r>
              <a:rPr lang="de-DE" sz="680" dirty="0">
                <a:solidFill>
                  <a:srgbClr val="9B9BA8"/>
                </a:solidFill>
                <a:latin typeface="Courier"/>
              </a:rPr>
              <a:t>08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10" name="Shape 10"/>
          <p:cNvSpPr/>
          <p:nvPr/>
        </p:nvSpPr>
        <p:spPr>
          <a:xfrm>
            <a:off x="749808" y="1627632"/>
            <a:ext cx="64008" cy="2971800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11" name="Text 11"/>
          <p:cNvSpPr txBox="1"/>
          <p:nvPr/>
        </p:nvSpPr>
        <p:spPr>
          <a:xfrm>
            <a:off x="987552" y="1691640"/>
            <a:ext cx="7863840" cy="9601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3100" b="1" dirty="0">
                <a:solidFill>
                  <a:srgbClr val="0A0A0F"/>
                </a:solidFill>
                <a:latin typeface="Helvetica"/>
              </a:rPr>
              <a:t>Workflow-first. Cross-sector. Trust by Design.</a:t>
            </a:r>
            <a:endParaRPr lang="de-DE" sz="31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12" name="Text 12"/>
          <p:cNvSpPr txBox="1"/>
          <p:nvPr/>
        </p:nvSpPr>
        <p:spPr>
          <a:xfrm>
            <a:off x="1005840" y="2971800"/>
            <a:ext cx="7680960" cy="58521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1450" dirty="0">
                <a:solidFill>
                  <a:srgbClr val="4A4A4F"/>
                </a:solidFill>
                <a:latin typeface="Helvetica"/>
              </a:rPr>
              <a:t>Diese drei Prinzipien aus dem Brand Guide werden zur Produkt- und Investitionslogik: CAREVO gewinnt nicht durch Dekoration, sondern durch operative Klarheit.</a:t>
            </a:r>
            <a:endParaRPr lang="de-DE" sz="145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13" name="Shape 13"/>
          <p:cNvSpPr/>
          <p:nvPr/>
        </p:nvSpPr>
        <p:spPr>
          <a:xfrm>
            <a:off x="9098280" y="1755648"/>
            <a:ext cx="1417320" cy="141732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/>
      </p:sp>
      <p:sp>
        <p:nvSpPr>
          <p:cNvPr id="14" name="Text 14"/>
          <p:cNvSpPr txBox="1"/>
          <p:nvPr/>
        </p:nvSpPr>
        <p:spPr>
          <a:xfrm>
            <a:off x="9400032" y="2011680"/>
            <a:ext cx="822960" cy="5486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4200" b="1" dirty="0">
                <a:solidFill>
                  <a:srgbClr val="1E6B72"/>
                </a:solidFill>
                <a:latin typeface="Helvetica"/>
              </a:rPr>
              <a:t>C</a:t>
            </a:r>
            <a:endParaRPr lang="de-DE" sz="4200" dirty="0">
              <a:solidFill>
                <a:srgbClr val="1E6B72"/>
              </a:solidFill>
              <a:latin typeface="Helvetic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lution Work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EVO accent bar 2"/>
          <p:cNvSpPr/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3" name="Text 3"/>
          <p:cNvSpPr txBox="1"/>
          <p:nvPr/>
        </p:nvSpPr>
        <p:spPr>
          <a:xfrm>
            <a:off x="566928" y="292608"/>
            <a:ext cx="429768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50" b="1" dirty="0">
                <a:solidFill>
                  <a:srgbClr val="9B9BA8"/>
                </a:solidFill>
                <a:latin typeface="Courier"/>
              </a:rPr>
              <a:t>LOESUNG</a:t>
            </a:r>
            <a:endParaRPr lang="de-DE" sz="75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4" name="Header rule 4"/>
          <p:cNvSpPr/>
          <p:nvPr/>
        </p:nvSpPr>
        <p:spPr>
          <a:xfrm>
            <a:off x="566928" y="658368"/>
            <a:ext cx="11045952" cy="5486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/>
      </p:sp>
      <p:sp>
        <p:nvSpPr>
          <p:cNvPr id="5" name="Text 5"/>
          <p:cNvSpPr txBox="1"/>
          <p:nvPr/>
        </p:nvSpPr>
        <p:spPr>
          <a:xfrm>
            <a:off x="566928" y="804672"/>
            <a:ext cx="10058400" cy="53035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2400" b="1" dirty="0">
                <a:solidFill>
                  <a:srgbClr val="0A0A0F"/>
                </a:solidFill>
                <a:latin typeface="Helvetica"/>
              </a:rPr>
              <a:t>CAREVO fuehrt vom Audio zur freigegebenen Dokumentation</a:t>
            </a:r>
            <a:endParaRPr lang="de-DE" sz="24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6" name="Footer rule 6"/>
          <p:cNvSpPr/>
          <p:nvPr/>
        </p:nvSpPr>
        <p:spPr>
          <a:xfrm>
            <a:off x="566928" y="6419088"/>
            <a:ext cx="11045952" cy="5486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/>
      </p:sp>
      <p:sp>
        <p:nvSpPr>
          <p:cNvPr id="7" name="Text 7"/>
          <p:cNvSpPr txBox="1"/>
          <p:nvPr/>
        </p:nvSpPr>
        <p:spPr>
          <a:xfrm>
            <a:off x="566928" y="6510528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680" dirty="0">
                <a:solidFill>
                  <a:srgbClr val="9B9BA8"/>
                </a:solidFill>
                <a:latin typeface="Courier"/>
              </a:rPr>
              <a:t>CAREVO VC / CONSULTING TEMPLATE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8" name="Text 8"/>
          <p:cNvSpPr txBox="1"/>
          <p:nvPr/>
        </p:nvSpPr>
        <p:spPr>
          <a:xfrm>
            <a:off x="4572000" y="6510528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680" dirty="0">
                <a:solidFill>
                  <a:srgbClr val="9B9BA8"/>
                </a:solidFill>
                <a:latin typeface="Courier"/>
              </a:rPr>
              <a:t>CONFIDENTIAL - TEMPLATE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9" name="Text 9"/>
          <p:cNvSpPr txBox="1"/>
          <p:nvPr/>
        </p:nvSpPr>
        <p:spPr>
          <a:xfrm>
            <a:off x="11018520" y="6510528"/>
            <a:ext cx="59436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r"/>
            <a:r>
              <a:rPr lang="de-DE" sz="680" dirty="0">
                <a:solidFill>
                  <a:srgbClr val="9B9BA8"/>
                </a:solidFill>
                <a:latin typeface="Courier"/>
              </a:rPr>
              <a:t>09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10" name="Process step 10"/>
          <p:cNvSpPr/>
          <p:nvPr/>
        </p:nvSpPr>
        <p:spPr>
          <a:xfrm>
            <a:off x="749808" y="1783080"/>
            <a:ext cx="1876349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11" name="Text 11"/>
          <p:cNvSpPr txBox="1"/>
          <p:nvPr/>
        </p:nvSpPr>
        <p:spPr>
          <a:xfrm>
            <a:off x="859536" y="1901952"/>
            <a:ext cx="384048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800" b="1" dirty="0">
                <a:solidFill>
                  <a:srgbClr val="1E6B72"/>
                </a:solidFill>
                <a:latin typeface="Courier"/>
              </a:rPr>
              <a:t>01</a:t>
            </a:r>
            <a:endParaRPr lang="de-DE" sz="800" dirty="0">
              <a:solidFill>
                <a:srgbClr val="1E6B72"/>
              </a:solidFill>
              <a:latin typeface="Courier"/>
            </a:endParaRPr>
          </a:p>
        </p:txBody>
      </p:sp>
      <p:sp>
        <p:nvSpPr>
          <p:cNvPr id="12" name="Text 12"/>
          <p:cNvSpPr txBox="1"/>
          <p:nvPr/>
        </p:nvSpPr>
        <p:spPr>
          <a:xfrm>
            <a:off x="859536" y="2167128"/>
            <a:ext cx="1656893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1000" b="1" dirty="0">
                <a:solidFill>
                  <a:srgbClr val="0A0A0F"/>
                </a:solidFill>
                <a:latin typeface="Helvetica"/>
              </a:rPr>
              <a:t>Audio erfassen</a:t>
            </a:r>
            <a:endParaRPr lang="de-DE" sz="10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13" name="Text 13"/>
          <p:cNvSpPr txBox="1"/>
          <p:nvPr/>
        </p:nvSpPr>
        <p:spPr>
          <a:xfrm>
            <a:off x="2644445" y="2066544"/>
            <a:ext cx="109728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1200" b="1" dirty="0">
                <a:solidFill>
                  <a:srgbClr val="9B9BA8"/>
                </a:solidFill>
                <a:latin typeface="Helvetica"/>
              </a:rPr>
              <a:t>&gt;</a:t>
            </a:r>
            <a:endParaRPr lang="de-DE" sz="1200" dirty="0">
              <a:solidFill>
                <a:srgbClr val="9B9BA8"/>
              </a:solidFill>
              <a:latin typeface="Helvetica"/>
            </a:endParaRPr>
          </a:p>
        </p:txBody>
      </p:sp>
      <p:sp>
        <p:nvSpPr>
          <p:cNvPr id="14" name="Process step 14"/>
          <p:cNvSpPr/>
          <p:nvPr/>
        </p:nvSpPr>
        <p:spPr>
          <a:xfrm>
            <a:off x="2772461" y="1783080"/>
            <a:ext cx="1876349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15" name="Text 15"/>
          <p:cNvSpPr txBox="1"/>
          <p:nvPr/>
        </p:nvSpPr>
        <p:spPr>
          <a:xfrm>
            <a:off x="2882189" y="1901952"/>
            <a:ext cx="384048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800" b="1" dirty="0">
                <a:solidFill>
                  <a:srgbClr val="1E6B72"/>
                </a:solidFill>
                <a:latin typeface="Courier"/>
              </a:rPr>
              <a:t>02</a:t>
            </a:r>
            <a:endParaRPr lang="de-DE" sz="800" dirty="0">
              <a:solidFill>
                <a:srgbClr val="1E6B72"/>
              </a:solidFill>
              <a:latin typeface="Courier"/>
            </a:endParaRPr>
          </a:p>
        </p:txBody>
      </p:sp>
      <p:sp>
        <p:nvSpPr>
          <p:cNvPr id="16" name="Text 16"/>
          <p:cNvSpPr txBox="1"/>
          <p:nvPr/>
        </p:nvSpPr>
        <p:spPr>
          <a:xfrm>
            <a:off x="2882189" y="2167128"/>
            <a:ext cx="1656893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1000" b="1" dirty="0">
                <a:solidFill>
                  <a:srgbClr val="0A0A0F"/>
                </a:solidFill>
                <a:latin typeface="Helvetica"/>
              </a:rPr>
              <a:t>Transkript strukturieren</a:t>
            </a:r>
            <a:endParaRPr lang="de-DE" sz="10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17" name="Text 17"/>
          <p:cNvSpPr txBox="1"/>
          <p:nvPr/>
        </p:nvSpPr>
        <p:spPr>
          <a:xfrm>
            <a:off x="4667098" y="2066544"/>
            <a:ext cx="109728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1200" b="1" dirty="0">
                <a:solidFill>
                  <a:srgbClr val="9B9BA8"/>
                </a:solidFill>
                <a:latin typeface="Helvetica"/>
              </a:rPr>
              <a:t>&gt;</a:t>
            </a:r>
            <a:endParaRPr lang="de-DE" sz="1200" dirty="0">
              <a:solidFill>
                <a:srgbClr val="9B9BA8"/>
              </a:solidFill>
              <a:latin typeface="Helvetica"/>
            </a:endParaRPr>
          </a:p>
        </p:txBody>
      </p:sp>
      <p:sp>
        <p:nvSpPr>
          <p:cNvPr id="18" name="Process step 18"/>
          <p:cNvSpPr/>
          <p:nvPr/>
        </p:nvSpPr>
        <p:spPr>
          <a:xfrm>
            <a:off x="4795114" y="1783080"/>
            <a:ext cx="1876349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19" name="Text 19"/>
          <p:cNvSpPr txBox="1"/>
          <p:nvPr/>
        </p:nvSpPr>
        <p:spPr>
          <a:xfrm>
            <a:off x="4904842" y="1901952"/>
            <a:ext cx="384048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800" b="1" dirty="0">
                <a:solidFill>
                  <a:srgbClr val="1E6B72"/>
                </a:solidFill>
                <a:latin typeface="Courier"/>
              </a:rPr>
              <a:t>03</a:t>
            </a:r>
            <a:endParaRPr lang="de-DE" sz="800" dirty="0">
              <a:solidFill>
                <a:srgbClr val="1E6B72"/>
              </a:solidFill>
              <a:latin typeface="Courier"/>
            </a:endParaRPr>
          </a:p>
        </p:txBody>
      </p:sp>
      <p:sp>
        <p:nvSpPr>
          <p:cNvPr id="20" name="Text 20"/>
          <p:cNvSpPr txBox="1"/>
          <p:nvPr/>
        </p:nvSpPr>
        <p:spPr>
          <a:xfrm>
            <a:off x="4904842" y="2167128"/>
            <a:ext cx="1656893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1000" b="1" dirty="0">
                <a:solidFill>
                  <a:srgbClr val="0A0A0F"/>
                </a:solidFill>
                <a:latin typeface="Helvetica"/>
              </a:rPr>
              <a:t>AI Draft erzeugen</a:t>
            </a:r>
            <a:endParaRPr lang="de-DE" sz="10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21" name="Text 21"/>
          <p:cNvSpPr txBox="1"/>
          <p:nvPr/>
        </p:nvSpPr>
        <p:spPr>
          <a:xfrm>
            <a:off x="6689750" y="2066544"/>
            <a:ext cx="109728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1200" b="1" dirty="0">
                <a:solidFill>
                  <a:srgbClr val="9B9BA8"/>
                </a:solidFill>
                <a:latin typeface="Helvetica"/>
              </a:rPr>
              <a:t>&gt;</a:t>
            </a:r>
            <a:endParaRPr lang="de-DE" sz="1200" dirty="0">
              <a:solidFill>
                <a:srgbClr val="9B9BA8"/>
              </a:solidFill>
              <a:latin typeface="Helvetica"/>
            </a:endParaRPr>
          </a:p>
        </p:txBody>
      </p:sp>
      <p:sp>
        <p:nvSpPr>
          <p:cNvPr id="22" name="Process step 22"/>
          <p:cNvSpPr/>
          <p:nvPr/>
        </p:nvSpPr>
        <p:spPr>
          <a:xfrm>
            <a:off x="6817766" y="1783080"/>
            <a:ext cx="1876349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23" name="Text 23"/>
          <p:cNvSpPr txBox="1"/>
          <p:nvPr/>
        </p:nvSpPr>
        <p:spPr>
          <a:xfrm>
            <a:off x="6927494" y="1901952"/>
            <a:ext cx="384048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800" b="1" dirty="0">
                <a:solidFill>
                  <a:srgbClr val="1E6B72"/>
                </a:solidFill>
                <a:latin typeface="Courier"/>
              </a:rPr>
              <a:t>04</a:t>
            </a:r>
            <a:endParaRPr lang="de-DE" sz="800" dirty="0">
              <a:solidFill>
                <a:srgbClr val="1E6B72"/>
              </a:solidFill>
              <a:latin typeface="Courier"/>
            </a:endParaRPr>
          </a:p>
        </p:txBody>
      </p:sp>
      <p:sp>
        <p:nvSpPr>
          <p:cNvPr id="24" name="Text 24"/>
          <p:cNvSpPr txBox="1"/>
          <p:nvPr/>
        </p:nvSpPr>
        <p:spPr>
          <a:xfrm>
            <a:off x="6927494" y="2167128"/>
            <a:ext cx="1656893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1000" b="1" dirty="0">
                <a:solidFill>
                  <a:srgbClr val="0A0A0F"/>
                </a:solidFill>
                <a:latin typeface="Helvetica"/>
              </a:rPr>
              <a:t>Warnungen pruefen</a:t>
            </a:r>
            <a:endParaRPr lang="de-DE" sz="10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25" name="Text 25"/>
          <p:cNvSpPr txBox="1"/>
          <p:nvPr/>
        </p:nvSpPr>
        <p:spPr>
          <a:xfrm>
            <a:off x="8712403" y="2066544"/>
            <a:ext cx="109728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1200" b="1" dirty="0">
                <a:solidFill>
                  <a:srgbClr val="9B9BA8"/>
                </a:solidFill>
                <a:latin typeface="Helvetica"/>
              </a:rPr>
              <a:t>&gt;</a:t>
            </a:r>
            <a:endParaRPr lang="de-DE" sz="1200" dirty="0">
              <a:solidFill>
                <a:srgbClr val="9B9BA8"/>
              </a:solidFill>
              <a:latin typeface="Helvetica"/>
            </a:endParaRPr>
          </a:p>
        </p:txBody>
      </p:sp>
      <p:sp>
        <p:nvSpPr>
          <p:cNvPr id="26" name="Process step 26"/>
          <p:cNvSpPr/>
          <p:nvPr/>
        </p:nvSpPr>
        <p:spPr>
          <a:xfrm>
            <a:off x="8840419" y="1783080"/>
            <a:ext cx="1876349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27" name="Text 27"/>
          <p:cNvSpPr txBox="1"/>
          <p:nvPr/>
        </p:nvSpPr>
        <p:spPr>
          <a:xfrm>
            <a:off x="8950147" y="1901952"/>
            <a:ext cx="384048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800" b="1" dirty="0">
                <a:solidFill>
                  <a:srgbClr val="1E6B72"/>
                </a:solidFill>
                <a:latin typeface="Courier"/>
              </a:rPr>
              <a:t>05</a:t>
            </a:r>
            <a:endParaRPr lang="de-DE" sz="800" dirty="0">
              <a:solidFill>
                <a:srgbClr val="1E6B72"/>
              </a:solidFill>
              <a:latin typeface="Courier"/>
            </a:endParaRPr>
          </a:p>
        </p:txBody>
      </p:sp>
      <p:sp>
        <p:nvSpPr>
          <p:cNvPr id="28" name="Text 28"/>
          <p:cNvSpPr txBox="1"/>
          <p:nvPr/>
        </p:nvSpPr>
        <p:spPr>
          <a:xfrm>
            <a:off x="8950147" y="2167128"/>
            <a:ext cx="1656893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1000" b="1" dirty="0">
                <a:solidFill>
                  <a:srgbClr val="0A0A0F"/>
                </a:solidFill>
                <a:latin typeface="Helvetica"/>
              </a:rPr>
              <a:t>Freigeben &amp; exportieren</a:t>
            </a:r>
            <a:endParaRPr lang="de-DE" sz="10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29" name="Shape 29"/>
          <p:cNvSpPr/>
          <p:nvPr/>
        </p:nvSpPr>
        <p:spPr>
          <a:xfrm>
            <a:off x="749808" y="3246120"/>
            <a:ext cx="4526280" cy="1499616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30" name="Text 30"/>
          <p:cNvSpPr txBox="1"/>
          <p:nvPr/>
        </p:nvSpPr>
        <p:spPr>
          <a:xfrm>
            <a:off x="950976" y="3456432"/>
            <a:ext cx="4023360" cy="21945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1300" b="1" dirty="0">
                <a:solidFill>
                  <a:srgbClr val="0A0A0F"/>
                </a:solidFill>
                <a:latin typeface="Helvetica"/>
              </a:rPr>
              <a:t>Warum VC-relevant?</a:t>
            </a:r>
            <a:endParaRPr lang="de-DE" sz="13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31" name="Bullets 31"/>
          <p:cNvSpPr txBox="1"/>
          <p:nvPr/>
        </p:nvSpPr>
        <p:spPr>
          <a:xfrm>
            <a:off x="978408" y="3822192"/>
            <a:ext cx="384048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" rIns="9144" tIns="9144" bIns="9144"/>
          <a:lstStyle/>
          <a:p>
            <a:pPr algn="l" marL="171450" indent="-114300">
              <a:buChar char="•"/>
            </a:pPr>
            <a:r>
              <a:rPr lang="de-DE" sz="920" dirty="0">
                <a:solidFill>
                  <a:srgbClr val="4A4A4F"/>
                </a:solidFill>
                <a:latin typeface="Helvetica"/>
              </a:rPr>
              <a:t>End-to-End Prozess statt einzelner Feature-Wette.</a:t>
            </a:r>
            <a:endParaRPr lang="de-DE" sz="920" dirty="0">
              <a:solidFill>
                <a:srgbClr val="4A4A4F"/>
              </a:solidFill>
              <a:latin typeface="Helvetica"/>
            </a:endParaRPr>
          </a:p>
          <a:p>
            <a:pPr algn="l" marL="171450" indent="-114300">
              <a:buChar char="•"/>
            </a:pPr>
            <a:r>
              <a:rPr lang="de-DE" sz="920" dirty="0">
                <a:solidFill>
                  <a:srgbClr val="4A4A4F"/>
                </a:solidFill>
                <a:latin typeface="Helvetica"/>
              </a:rPr>
              <a:t>Reviewbarkeit wird zum Vertrauens-Moat.</a:t>
            </a:r>
            <a:endParaRPr lang="de-DE" sz="92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32" name="Shape 32"/>
          <p:cNvSpPr/>
          <p:nvPr/>
        </p:nvSpPr>
        <p:spPr>
          <a:xfrm>
            <a:off x="5623560" y="3246120"/>
            <a:ext cx="5102352" cy="1499616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/>
      </p:sp>
      <p:sp>
        <p:nvSpPr>
          <p:cNvPr id="33" name="Text 33"/>
          <p:cNvSpPr txBox="1"/>
          <p:nvPr/>
        </p:nvSpPr>
        <p:spPr>
          <a:xfrm>
            <a:off x="5870448" y="3474720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00" b="1" dirty="0">
                <a:solidFill>
                  <a:srgbClr val="9B9BA8"/>
                </a:solidFill>
                <a:latin typeface="Courier"/>
              </a:rPr>
              <a:t>Operating Principle</a:t>
            </a:r>
            <a:endParaRPr lang="de-DE" sz="70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34" name="Text 34"/>
          <p:cNvSpPr txBox="1"/>
          <p:nvPr/>
        </p:nvSpPr>
        <p:spPr>
          <a:xfrm>
            <a:off x="5870448" y="3803904"/>
            <a:ext cx="4526280" cy="40233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1400" b="1" dirty="0">
                <a:solidFill>
                  <a:srgbClr val="FFFFFF"/>
                </a:solidFill>
                <a:latin typeface="Helvetica"/>
              </a:rPr>
              <a:t>Kein Dead End im Workflow. Der Nutzer versteht Zustand und naechste Aktion.</a:t>
            </a:r>
            <a:endParaRPr lang="de-DE" sz="1400" dirty="0">
              <a:solidFill>
                <a:srgbClr val="FFFFFF"/>
              </a:solidFill>
              <a:latin typeface="Helvetic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Human in the Loop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EVO accent bar 2"/>
          <p:cNvSpPr/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3" name="Text 3"/>
          <p:cNvSpPr txBox="1"/>
          <p:nvPr/>
        </p:nvSpPr>
        <p:spPr>
          <a:xfrm>
            <a:off x="566928" y="292608"/>
            <a:ext cx="429768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50" b="1" dirty="0">
                <a:solidFill>
                  <a:srgbClr val="9B9BA8"/>
                </a:solidFill>
                <a:latin typeface="Courier"/>
              </a:rPr>
              <a:t>TRUST BY DESIGN</a:t>
            </a:r>
            <a:endParaRPr lang="de-DE" sz="75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4" name="Header rule 4"/>
          <p:cNvSpPr/>
          <p:nvPr/>
        </p:nvSpPr>
        <p:spPr>
          <a:xfrm>
            <a:off x="566928" y="658368"/>
            <a:ext cx="11045952" cy="5486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/>
      </p:sp>
      <p:sp>
        <p:nvSpPr>
          <p:cNvPr id="5" name="Text 5"/>
          <p:cNvSpPr txBox="1"/>
          <p:nvPr/>
        </p:nvSpPr>
        <p:spPr>
          <a:xfrm>
            <a:off x="566928" y="804672"/>
            <a:ext cx="10058400" cy="53035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2400" b="1" dirty="0">
                <a:solidFill>
                  <a:srgbClr val="0A0A0F"/>
                </a:solidFill>
                <a:latin typeface="Helvetica"/>
              </a:rPr>
              <a:t>AI beschleunigt, aber die Fachkraft bleibt entscheidungsfaehig</a:t>
            </a:r>
            <a:endParaRPr lang="de-DE" sz="24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6" name="Footer rule 6"/>
          <p:cNvSpPr/>
          <p:nvPr/>
        </p:nvSpPr>
        <p:spPr>
          <a:xfrm>
            <a:off x="566928" y="6419088"/>
            <a:ext cx="11045952" cy="5486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/>
      </p:sp>
      <p:sp>
        <p:nvSpPr>
          <p:cNvPr id="7" name="Text 7"/>
          <p:cNvSpPr txBox="1"/>
          <p:nvPr/>
        </p:nvSpPr>
        <p:spPr>
          <a:xfrm>
            <a:off x="566928" y="6510528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680" dirty="0">
                <a:solidFill>
                  <a:srgbClr val="9B9BA8"/>
                </a:solidFill>
                <a:latin typeface="Courier"/>
              </a:rPr>
              <a:t>CAREVO VC / CONSULTING TEMPLATE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8" name="Text 8"/>
          <p:cNvSpPr txBox="1"/>
          <p:nvPr/>
        </p:nvSpPr>
        <p:spPr>
          <a:xfrm>
            <a:off x="4572000" y="6510528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680" dirty="0">
                <a:solidFill>
                  <a:srgbClr val="9B9BA8"/>
                </a:solidFill>
                <a:latin typeface="Courier"/>
              </a:rPr>
              <a:t>CONFIDENTIAL - TEMPLATE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9" name="Text 9"/>
          <p:cNvSpPr txBox="1"/>
          <p:nvPr/>
        </p:nvSpPr>
        <p:spPr>
          <a:xfrm>
            <a:off x="11018520" y="6510528"/>
            <a:ext cx="59436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r"/>
            <a:r>
              <a:rPr lang="de-DE" sz="680" dirty="0">
                <a:solidFill>
                  <a:srgbClr val="9B9BA8"/>
                </a:solidFill>
                <a:latin typeface="Courier"/>
              </a:rPr>
              <a:t>10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10" name="Shape 10"/>
          <p:cNvSpPr/>
          <p:nvPr/>
        </p:nvSpPr>
        <p:spPr>
          <a:xfrm>
            <a:off x="749808" y="1664208"/>
            <a:ext cx="4709160" cy="2971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11" name="Text 11"/>
          <p:cNvSpPr txBox="1"/>
          <p:nvPr/>
        </p:nvSpPr>
        <p:spPr>
          <a:xfrm>
            <a:off x="987552" y="1874520"/>
            <a:ext cx="4114800" cy="21945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1500" b="1" dirty="0">
                <a:solidFill>
                  <a:srgbClr val="0A0A0F"/>
                </a:solidFill>
                <a:latin typeface="Helvetica"/>
              </a:rPr>
              <a:t>AI unterstuetzt</a:t>
            </a:r>
            <a:endParaRPr lang="de-DE" sz="15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12" name="Bullets 12"/>
          <p:cNvSpPr txBox="1"/>
          <p:nvPr/>
        </p:nvSpPr>
        <p:spPr>
          <a:xfrm>
            <a:off x="1005840" y="2377440"/>
            <a:ext cx="3840480" cy="12801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" rIns="9144" tIns="9144" bIns="9144"/>
          <a:lstStyle/>
          <a:p>
            <a:pPr algn="l" marL="171450" indent="-114300">
              <a:buChar char="•"/>
            </a:pPr>
            <a:r>
              <a:rPr lang="de-DE" sz="1000" dirty="0">
                <a:solidFill>
                  <a:srgbClr val="4A4A4F"/>
                </a:solidFill>
                <a:latin typeface="Helvetica"/>
              </a:rPr>
              <a:t>Transkription und Strukturierung</a:t>
            </a:r>
            <a:endParaRPr lang="de-DE" sz="1000" dirty="0">
              <a:solidFill>
                <a:srgbClr val="4A4A4F"/>
              </a:solidFill>
              <a:latin typeface="Helvetica"/>
            </a:endParaRPr>
          </a:p>
          <a:p>
            <a:pPr algn="l" marL="171450" indent="-114300">
              <a:buChar char="•"/>
            </a:pPr>
            <a:r>
              <a:rPr lang="de-DE" sz="1000" dirty="0">
                <a:solidFill>
                  <a:srgbClr val="4A4A4F"/>
                </a:solidFill>
                <a:latin typeface="Helvetica"/>
              </a:rPr>
              <a:t>Entwurf in passenden Dokumentationsabschnitten</a:t>
            </a:r>
            <a:endParaRPr lang="de-DE" sz="1000" dirty="0">
              <a:solidFill>
                <a:srgbClr val="4A4A4F"/>
              </a:solidFill>
              <a:latin typeface="Helvetica"/>
            </a:endParaRPr>
          </a:p>
          <a:p>
            <a:pPr algn="l" marL="171450" indent="-114300">
              <a:buChar char="•"/>
            </a:pPr>
            <a:r>
              <a:rPr lang="de-DE" sz="1000" dirty="0">
                <a:solidFill>
                  <a:srgbClr val="4A4A4F"/>
                </a:solidFill>
                <a:latin typeface="Helvetica"/>
              </a:rPr>
              <a:t>Hinweise auf Luecken und Widersprueche</a:t>
            </a:r>
            <a:endParaRPr lang="de-DE" sz="100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13" name="Shape 13"/>
          <p:cNvSpPr/>
          <p:nvPr/>
        </p:nvSpPr>
        <p:spPr>
          <a:xfrm>
            <a:off x="5806440" y="1664208"/>
            <a:ext cx="4709160" cy="2971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14" name="Text 14"/>
          <p:cNvSpPr txBox="1"/>
          <p:nvPr/>
        </p:nvSpPr>
        <p:spPr>
          <a:xfrm>
            <a:off x="6044184" y="1874520"/>
            <a:ext cx="4114800" cy="21945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1500" b="1" dirty="0">
                <a:solidFill>
                  <a:srgbClr val="0A0A0F"/>
                </a:solidFill>
                <a:latin typeface="Helvetica"/>
              </a:rPr>
              <a:t>Fachkraft verantwortet</a:t>
            </a:r>
            <a:endParaRPr lang="de-DE" sz="15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15" name="Bullets 15"/>
          <p:cNvSpPr txBox="1"/>
          <p:nvPr/>
        </p:nvSpPr>
        <p:spPr>
          <a:xfrm>
            <a:off x="6062472" y="2377440"/>
            <a:ext cx="3840480" cy="12801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" rIns="9144" tIns="9144" bIns="9144"/>
          <a:lstStyle/>
          <a:p>
            <a:pPr algn="l" marL="171450" indent="-114300">
              <a:buChar char="•"/>
            </a:pPr>
            <a:r>
              <a:rPr lang="de-DE" sz="1000" dirty="0">
                <a:solidFill>
                  <a:srgbClr val="4A4A4F"/>
                </a:solidFill>
                <a:latin typeface="Helvetica"/>
              </a:rPr>
              <a:t>Pruefung, Voice Edit und Freigabe</a:t>
            </a:r>
            <a:endParaRPr lang="de-DE" sz="1000" dirty="0">
              <a:solidFill>
                <a:srgbClr val="4A4A4F"/>
              </a:solidFill>
              <a:latin typeface="Helvetica"/>
            </a:endParaRPr>
          </a:p>
          <a:p>
            <a:pPr algn="l" marL="171450" indent="-114300">
              <a:buChar char="•"/>
            </a:pPr>
            <a:r>
              <a:rPr lang="de-DE" sz="1000" dirty="0">
                <a:solidFill>
                  <a:srgbClr val="4A4A4F"/>
                </a:solidFill>
                <a:latin typeface="Helvetica"/>
              </a:rPr>
              <a:t>Lokales Dismissal von Warnungen</a:t>
            </a:r>
            <a:endParaRPr lang="de-DE" sz="1000" dirty="0">
              <a:solidFill>
                <a:srgbClr val="4A4A4F"/>
              </a:solidFill>
              <a:latin typeface="Helvetica"/>
            </a:endParaRPr>
          </a:p>
          <a:p>
            <a:pPr algn="l" marL="171450" indent="-114300">
              <a:buChar char="•"/>
            </a:pPr>
            <a:r>
              <a:rPr lang="de-DE" sz="1000" dirty="0">
                <a:solidFill>
                  <a:srgbClr val="4A4A4F"/>
                </a:solidFill>
                <a:latin typeface="Helvetica"/>
              </a:rPr>
              <a:t>Export nur nach sichtbarer Freigabe</a:t>
            </a:r>
            <a:endParaRPr lang="de-DE" sz="100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16" name="Shape 16"/>
          <p:cNvSpPr/>
          <p:nvPr/>
        </p:nvSpPr>
        <p:spPr>
          <a:xfrm>
            <a:off x="749808" y="5074920"/>
            <a:ext cx="9765792" cy="411480"/>
          </a:xfrm>
          <a:prstGeom prst="rect">
            <a:avLst/>
          </a:prstGeom>
          <a:solidFill>
            <a:srgbClr val="F4F4F6"/>
          </a:solidFill>
          <a:ln w="6350">
            <a:solidFill>
              <a:srgbClr val="E8E8EC"/>
            </a:solidFill>
          </a:ln>
        </p:spPr>
        <p:style/>
      </p:sp>
      <p:sp>
        <p:nvSpPr>
          <p:cNvPr id="17" name="Text 17"/>
          <p:cNvSpPr txBox="1"/>
          <p:nvPr/>
        </p:nvSpPr>
        <p:spPr>
          <a:xfrm>
            <a:off x="932688" y="5193792"/>
            <a:ext cx="9326880" cy="1463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840" dirty="0">
                <a:solidFill>
                  <a:srgbClr val="4A4A4F"/>
                </a:solidFill>
                <a:latin typeface="Courier"/>
              </a:rPr>
              <a:t>Headline-Logik: Vertrauen entsteht nicht aus AI-Magie, sondern aus nachvollziehbaren Zustaenden.</a:t>
            </a:r>
            <a:endParaRPr lang="de-DE" sz="840" dirty="0">
              <a:solidFill>
                <a:srgbClr val="4A4A4F"/>
              </a:solidFill>
              <a:latin typeface="Couri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takeholder Valu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EVO accent bar 2"/>
          <p:cNvSpPr/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3" name="Text 3"/>
          <p:cNvSpPr txBox="1"/>
          <p:nvPr/>
        </p:nvSpPr>
        <p:spPr>
          <a:xfrm>
            <a:off x="566928" y="292608"/>
            <a:ext cx="429768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50" b="1" dirty="0">
                <a:solidFill>
                  <a:srgbClr val="9B9BA8"/>
                </a:solidFill>
                <a:latin typeface="Courier"/>
              </a:rPr>
              <a:t>VALUE PROPOSITION</a:t>
            </a:r>
            <a:endParaRPr lang="de-DE" sz="75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4" name="Header rule 4"/>
          <p:cNvSpPr/>
          <p:nvPr/>
        </p:nvSpPr>
        <p:spPr>
          <a:xfrm>
            <a:off x="566928" y="658368"/>
            <a:ext cx="11045952" cy="5486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/>
      </p:sp>
      <p:sp>
        <p:nvSpPr>
          <p:cNvPr id="5" name="Text 5"/>
          <p:cNvSpPr txBox="1"/>
          <p:nvPr/>
        </p:nvSpPr>
        <p:spPr>
          <a:xfrm>
            <a:off x="566928" y="804672"/>
            <a:ext cx="10058400" cy="53035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2400" b="1" dirty="0">
                <a:solidFill>
                  <a:srgbClr val="0A0A0F"/>
                </a:solidFill>
                <a:latin typeface="Helvetica"/>
              </a:rPr>
              <a:t>Jeder Stakeholder bekommt eine andere Form von Entlastung</a:t>
            </a:r>
            <a:endParaRPr lang="de-DE" sz="24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6" name="Footer rule 6"/>
          <p:cNvSpPr/>
          <p:nvPr/>
        </p:nvSpPr>
        <p:spPr>
          <a:xfrm>
            <a:off x="566928" y="6419088"/>
            <a:ext cx="11045952" cy="5486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/>
      </p:sp>
      <p:sp>
        <p:nvSpPr>
          <p:cNvPr id="7" name="Text 7"/>
          <p:cNvSpPr txBox="1"/>
          <p:nvPr/>
        </p:nvSpPr>
        <p:spPr>
          <a:xfrm>
            <a:off x="566928" y="6510528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680" dirty="0">
                <a:solidFill>
                  <a:srgbClr val="9B9BA8"/>
                </a:solidFill>
                <a:latin typeface="Courier"/>
              </a:rPr>
              <a:t>CAREVO VC / CONSULTING TEMPLATE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8" name="Text 8"/>
          <p:cNvSpPr txBox="1"/>
          <p:nvPr/>
        </p:nvSpPr>
        <p:spPr>
          <a:xfrm>
            <a:off x="4572000" y="6510528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680" dirty="0">
                <a:solidFill>
                  <a:srgbClr val="9B9BA8"/>
                </a:solidFill>
                <a:latin typeface="Courier"/>
              </a:rPr>
              <a:t>CONFIDENTIAL - TEMPLATE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9" name="Text 9"/>
          <p:cNvSpPr txBox="1"/>
          <p:nvPr/>
        </p:nvSpPr>
        <p:spPr>
          <a:xfrm>
            <a:off x="11018520" y="6510528"/>
            <a:ext cx="59436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r"/>
            <a:r>
              <a:rPr lang="de-DE" sz="680" dirty="0">
                <a:solidFill>
                  <a:srgbClr val="9B9BA8"/>
                </a:solidFill>
                <a:latin typeface="Courier"/>
              </a:rPr>
              <a:t>11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10" name="Table header 10"/>
          <p:cNvSpPr/>
          <p:nvPr/>
        </p:nvSpPr>
        <p:spPr>
          <a:xfrm>
            <a:off x="749808" y="1645920"/>
            <a:ext cx="9692640" cy="50292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/>
      </p:sp>
      <p:sp>
        <p:nvSpPr>
          <p:cNvPr id="11" name="Text 11"/>
          <p:cNvSpPr txBox="1"/>
          <p:nvPr/>
        </p:nvSpPr>
        <p:spPr>
          <a:xfrm>
            <a:off x="822960" y="1737360"/>
            <a:ext cx="1773936" cy="3749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40" b="1" dirty="0">
                <a:solidFill>
                  <a:srgbClr val="FFFFFF"/>
                </a:solidFill>
                <a:latin typeface="Courier"/>
              </a:rPr>
              <a:t>Stakeholder</a:t>
            </a:r>
            <a:endParaRPr lang="de-DE" sz="740" dirty="0">
              <a:solidFill>
                <a:srgbClr val="FFFFFF"/>
              </a:solidFill>
              <a:latin typeface="Courier"/>
            </a:endParaRPr>
          </a:p>
        </p:txBody>
      </p:sp>
      <p:sp>
        <p:nvSpPr>
          <p:cNvPr id="12" name="Text 12"/>
          <p:cNvSpPr txBox="1"/>
          <p:nvPr/>
        </p:nvSpPr>
        <p:spPr>
          <a:xfrm>
            <a:off x="2743200" y="1737360"/>
            <a:ext cx="2779776" cy="3749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40" b="1" dirty="0">
                <a:solidFill>
                  <a:srgbClr val="FFFFFF"/>
                </a:solidFill>
                <a:latin typeface="Courier"/>
              </a:rPr>
              <a:t>Pain</a:t>
            </a:r>
            <a:endParaRPr lang="de-DE" sz="740" dirty="0">
              <a:solidFill>
                <a:srgbClr val="FFFFFF"/>
              </a:solidFill>
              <a:latin typeface="Courier"/>
            </a:endParaRPr>
          </a:p>
        </p:txBody>
      </p:sp>
      <p:sp>
        <p:nvSpPr>
          <p:cNvPr id="13" name="Text 13"/>
          <p:cNvSpPr txBox="1"/>
          <p:nvPr/>
        </p:nvSpPr>
        <p:spPr>
          <a:xfrm>
            <a:off x="5669280" y="1737360"/>
            <a:ext cx="2596896" cy="3749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40" b="1" dirty="0">
                <a:solidFill>
                  <a:srgbClr val="FFFFFF"/>
                </a:solidFill>
                <a:latin typeface="Courier"/>
              </a:rPr>
              <a:t>CAREVO Hebel</a:t>
            </a:r>
            <a:endParaRPr lang="de-DE" sz="740" dirty="0">
              <a:solidFill>
                <a:srgbClr val="FFFFFF"/>
              </a:solidFill>
              <a:latin typeface="Courier"/>
            </a:endParaRPr>
          </a:p>
        </p:txBody>
      </p:sp>
      <p:sp>
        <p:nvSpPr>
          <p:cNvPr id="14" name="Text 14"/>
          <p:cNvSpPr txBox="1"/>
          <p:nvPr/>
        </p:nvSpPr>
        <p:spPr>
          <a:xfrm>
            <a:off x="8412480" y="1737360"/>
            <a:ext cx="1956816" cy="3749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40" b="1" dirty="0">
                <a:solidFill>
                  <a:srgbClr val="FFFFFF"/>
                </a:solidFill>
                <a:latin typeface="Courier"/>
              </a:rPr>
              <a:t>Proof Point</a:t>
            </a:r>
            <a:endParaRPr lang="de-DE" sz="740" dirty="0">
              <a:solidFill>
                <a:srgbClr val="FFFFFF"/>
              </a:solidFill>
              <a:latin typeface="Courier"/>
            </a:endParaRPr>
          </a:p>
        </p:txBody>
      </p:sp>
      <p:sp>
        <p:nvSpPr>
          <p:cNvPr id="15" name="Table cell 15"/>
          <p:cNvSpPr/>
          <p:nvPr/>
        </p:nvSpPr>
        <p:spPr>
          <a:xfrm>
            <a:off x="749808" y="2148840"/>
            <a:ext cx="1920240" cy="502920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16" name="Text 16"/>
          <p:cNvSpPr txBox="1"/>
          <p:nvPr/>
        </p:nvSpPr>
        <p:spPr>
          <a:xfrm>
            <a:off x="822960" y="2249424"/>
            <a:ext cx="1773936" cy="3749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0A0A0F"/>
                </a:solidFill>
                <a:latin typeface="Helvetica"/>
              </a:rPr>
              <a:t>Pflege</a:t>
            </a:r>
            <a:endParaRPr lang="de-DE" sz="76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17" name="Table cell 17"/>
          <p:cNvSpPr/>
          <p:nvPr/>
        </p:nvSpPr>
        <p:spPr>
          <a:xfrm>
            <a:off x="2670048" y="2148840"/>
            <a:ext cx="2926080" cy="502920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18" name="Text 18"/>
          <p:cNvSpPr txBox="1"/>
          <p:nvPr/>
        </p:nvSpPr>
        <p:spPr>
          <a:xfrm>
            <a:off x="2743200" y="2249424"/>
            <a:ext cx="2779776" cy="3749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Zeit in Formularen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19" name="Table cell 19"/>
          <p:cNvSpPr/>
          <p:nvPr/>
        </p:nvSpPr>
        <p:spPr>
          <a:xfrm>
            <a:off x="5596128" y="2148840"/>
            <a:ext cx="2743200" cy="502920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20" name="Text 20"/>
          <p:cNvSpPr txBox="1"/>
          <p:nvPr/>
        </p:nvSpPr>
        <p:spPr>
          <a:xfrm>
            <a:off x="5669280" y="2249424"/>
            <a:ext cx="2596896" cy="3749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Audio -&gt; Entwurf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21" name="Table cell 21"/>
          <p:cNvSpPr/>
          <p:nvPr/>
        </p:nvSpPr>
        <p:spPr>
          <a:xfrm>
            <a:off x="8339328" y="2148840"/>
            <a:ext cx="2103120" cy="502920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22" name="Text 22"/>
          <p:cNvSpPr txBox="1"/>
          <p:nvPr/>
        </p:nvSpPr>
        <p:spPr>
          <a:xfrm>
            <a:off x="8412480" y="2249424"/>
            <a:ext cx="1956816" cy="3749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Minuten je Fall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23" name="Table cell 23"/>
          <p:cNvSpPr/>
          <p:nvPr/>
        </p:nvSpPr>
        <p:spPr>
          <a:xfrm>
            <a:off x="749808" y="2651760"/>
            <a:ext cx="1920240" cy="502920"/>
          </a:xfrm>
          <a:prstGeom prst="rect">
            <a:avLst/>
          </a:prstGeom>
          <a:solidFill>
            <a:srgbClr val="FFFFFF"/>
          </a:solidFill>
          <a:ln w="4445">
            <a:solidFill>
              <a:srgbClr val="E8E8EC"/>
            </a:solidFill>
          </a:ln>
        </p:spPr>
        <p:style/>
      </p:sp>
      <p:sp>
        <p:nvSpPr>
          <p:cNvPr id="24" name="Text 24"/>
          <p:cNvSpPr txBox="1"/>
          <p:nvPr/>
        </p:nvSpPr>
        <p:spPr>
          <a:xfrm>
            <a:off x="822960" y="2752344"/>
            <a:ext cx="1773936" cy="3749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0A0A0F"/>
                </a:solidFill>
                <a:latin typeface="Helvetica"/>
              </a:rPr>
              <a:t>Leitung</a:t>
            </a:r>
            <a:endParaRPr lang="de-DE" sz="76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25" name="Table cell 25"/>
          <p:cNvSpPr/>
          <p:nvPr/>
        </p:nvSpPr>
        <p:spPr>
          <a:xfrm>
            <a:off x="2670048" y="2651760"/>
            <a:ext cx="2926080" cy="502920"/>
          </a:xfrm>
          <a:prstGeom prst="rect">
            <a:avLst/>
          </a:prstGeom>
          <a:solidFill>
            <a:srgbClr val="FFFFFF"/>
          </a:solidFill>
          <a:ln w="4445">
            <a:solidFill>
              <a:srgbClr val="E8E8EC"/>
            </a:solidFill>
          </a:ln>
        </p:spPr>
        <p:style/>
      </p:sp>
      <p:sp>
        <p:nvSpPr>
          <p:cNvPr id="26" name="Text 26"/>
          <p:cNvSpPr txBox="1"/>
          <p:nvPr/>
        </p:nvSpPr>
        <p:spPr>
          <a:xfrm>
            <a:off x="2743200" y="2752344"/>
            <a:ext cx="2779776" cy="3749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Qualitaet schwankt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27" name="Table cell 27"/>
          <p:cNvSpPr/>
          <p:nvPr/>
        </p:nvSpPr>
        <p:spPr>
          <a:xfrm>
            <a:off x="5596128" y="2651760"/>
            <a:ext cx="2743200" cy="502920"/>
          </a:xfrm>
          <a:prstGeom prst="rect">
            <a:avLst/>
          </a:prstGeom>
          <a:solidFill>
            <a:srgbClr val="FFFFFF"/>
          </a:solidFill>
          <a:ln w="4445">
            <a:solidFill>
              <a:srgbClr val="E8E8EC"/>
            </a:solidFill>
          </a:ln>
        </p:spPr>
        <p:style/>
      </p:sp>
      <p:sp>
        <p:nvSpPr>
          <p:cNvPr id="28" name="Text 28"/>
          <p:cNvSpPr txBox="1"/>
          <p:nvPr/>
        </p:nvSpPr>
        <p:spPr>
          <a:xfrm>
            <a:off x="5669280" y="2752344"/>
            <a:ext cx="2596896" cy="3749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Vorlagen &amp; Status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29" name="Table cell 29"/>
          <p:cNvSpPr/>
          <p:nvPr/>
        </p:nvSpPr>
        <p:spPr>
          <a:xfrm>
            <a:off x="8339328" y="2651760"/>
            <a:ext cx="2103120" cy="502920"/>
          </a:xfrm>
          <a:prstGeom prst="rect">
            <a:avLst/>
          </a:prstGeom>
          <a:solidFill>
            <a:srgbClr val="FFFFFF"/>
          </a:solidFill>
          <a:ln w="4445">
            <a:solidFill>
              <a:srgbClr val="E8E8EC"/>
            </a:solidFill>
          </a:ln>
        </p:spPr>
        <p:style/>
      </p:sp>
      <p:sp>
        <p:nvSpPr>
          <p:cNvPr id="30" name="Text 30"/>
          <p:cNvSpPr txBox="1"/>
          <p:nvPr/>
        </p:nvSpPr>
        <p:spPr>
          <a:xfrm>
            <a:off x="8412480" y="2752344"/>
            <a:ext cx="1956816" cy="3749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Freigabequote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31" name="Table cell 31"/>
          <p:cNvSpPr/>
          <p:nvPr/>
        </p:nvSpPr>
        <p:spPr>
          <a:xfrm>
            <a:off x="749808" y="3154680"/>
            <a:ext cx="1920240" cy="502920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32" name="Text 32"/>
          <p:cNvSpPr txBox="1"/>
          <p:nvPr/>
        </p:nvSpPr>
        <p:spPr>
          <a:xfrm>
            <a:off x="822960" y="3255264"/>
            <a:ext cx="1773936" cy="3749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0A0A0F"/>
                </a:solidFill>
                <a:latin typeface="Helvetica"/>
              </a:rPr>
              <a:t>IT</a:t>
            </a:r>
            <a:endParaRPr lang="de-DE" sz="76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33" name="Table cell 33"/>
          <p:cNvSpPr/>
          <p:nvPr/>
        </p:nvSpPr>
        <p:spPr>
          <a:xfrm>
            <a:off x="2670048" y="3154680"/>
            <a:ext cx="2926080" cy="502920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34" name="Text 34"/>
          <p:cNvSpPr txBox="1"/>
          <p:nvPr/>
        </p:nvSpPr>
        <p:spPr>
          <a:xfrm>
            <a:off x="2743200" y="3255264"/>
            <a:ext cx="2779776" cy="3749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Tool-Wildwuchs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35" name="Table cell 35"/>
          <p:cNvSpPr/>
          <p:nvPr/>
        </p:nvSpPr>
        <p:spPr>
          <a:xfrm>
            <a:off x="5596128" y="3154680"/>
            <a:ext cx="2743200" cy="502920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36" name="Text 36"/>
          <p:cNvSpPr txBox="1"/>
          <p:nvPr/>
        </p:nvSpPr>
        <p:spPr>
          <a:xfrm>
            <a:off x="5669280" y="3255264"/>
            <a:ext cx="2596896" cy="3749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Workflow-Schale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37" name="Table cell 37"/>
          <p:cNvSpPr/>
          <p:nvPr/>
        </p:nvSpPr>
        <p:spPr>
          <a:xfrm>
            <a:off x="8339328" y="3154680"/>
            <a:ext cx="2103120" cy="502920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38" name="Text 38"/>
          <p:cNvSpPr txBox="1"/>
          <p:nvPr/>
        </p:nvSpPr>
        <p:spPr>
          <a:xfrm>
            <a:off x="8412480" y="3255264"/>
            <a:ext cx="1956816" cy="3749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Integrationen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39" name="Table cell 39"/>
          <p:cNvSpPr/>
          <p:nvPr/>
        </p:nvSpPr>
        <p:spPr>
          <a:xfrm>
            <a:off x="749808" y="3657600"/>
            <a:ext cx="1920240" cy="502920"/>
          </a:xfrm>
          <a:prstGeom prst="rect">
            <a:avLst/>
          </a:prstGeom>
          <a:solidFill>
            <a:srgbClr val="FFFFFF"/>
          </a:solidFill>
          <a:ln w="4445">
            <a:solidFill>
              <a:srgbClr val="E8E8EC"/>
            </a:solidFill>
          </a:ln>
        </p:spPr>
        <p:style/>
      </p:sp>
      <p:sp>
        <p:nvSpPr>
          <p:cNvPr id="40" name="Text 40"/>
          <p:cNvSpPr txBox="1"/>
          <p:nvPr/>
        </p:nvSpPr>
        <p:spPr>
          <a:xfrm>
            <a:off x="822960" y="3758184"/>
            <a:ext cx="1773936" cy="3749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0A0A0F"/>
                </a:solidFill>
                <a:latin typeface="Helvetica"/>
              </a:rPr>
              <a:t>Compliance</a:t>
            </a:r>
            <a:endParaRPr lang="de-DE" sz="76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41" name="Table cell 41"/>
          <p:cNvSpPr/>
          <p:nvPr/>
        </p:nvSpPr>
        <p:spPr>
          <a:xfrm>
            <a:off x="2670048" y="3657600"/>
            <a:ext cx="2926080" cy="502920"/>
          </a:xfrm>
          <a:prstGeom prst="rect">
            <a:avLst/>
          </a:prstGeom>
          <a:solidFill>
            <a:srgbClr val="FFFFFF"/>
          </a:solidFill>
          <a:ln w="4445">
            <a:solidFill>
              <a:srgbClr val="E8E8EC"/>
            </a:solidFill>
          </a:ln>
        </p:spPr>
        <p:style/>
      </p:sp>
      <p:sp>
        <p:nvSpPr>
          <p:cNvPr id="42" name="Text 42"/>
          <p:cNvSpPr txBox="1"/>
          <p:nvPr/>
        </p:nvSpPr>
        <p:spPr>
          <a:xfrm>
            <a:off x="2743200" y="3758184"/>
            <a:ext cx="2779776" cy="3749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AI Blackbox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43" name="Table cell 43"/>
          <p:cNvSpPr/>
          <p:nvPr/>
        </p:nvSpPr>
        <p:spPr>
          <a:xfrm>
            <a:off x="5596128" y="3657600"/>
            <a:ext cx="2743200" cy="502920"/>
          </a:xfrm>
          <a:prstGeom prst="rect">
            <a:avLst/>
          </a:prstGeom>
          <a:solidFill>
            <a:srgbClr val="FFFFFF"/>
          </a:solidFill>
          <a:ln w="4445">
            <a:solidFill>
              <a:srgbClr val="E8E8EC"/>
            </a:solidFill>
          </a:ln>
        </p:spPr>
        <p:style/>
      </p:sp>
      <p:sp>
        <p:nvSpPr>
          <p:cNvPr id="44" name="Text 44"/>
          <p:cNvSpPr txBox="1"/>
          <p:nvPr/>
        </p:nvSpPr>
        <p:spPr>
          <a:xfrm>
            <a:off x="5669280" y="3758184"/>
            <a:ext cx="2596896" cy="3749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Warnungen &amp; Audit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45" name="Table cell 45"/>
          <p:cNvSpPr/>
          <p:nvPr/>
        </p:nvSpPr>
        <p:spPr>
          <a:xfrm>
            <a:off x="8339328" y="3657600"/>
            <a:ext cx="2103120" cy="502920"/>
          </a:xfrm>
          <a:prstGeom prst="rect">
            <a:avLst/>
          </a:prstGeom>
          <a:solidFill>
            <a:srgbClr val="FFFFFF"/>
          </a:solidFill>
          <a:ln w="4445">
            <a:solidFill>
              <a:srgbClr val="E8E8EC"/>
            </a:solidFill>
          </a:ln>
        </p:spPr>
        <p:style/>
      </p:sp>
      <p:sp>
        <p:nvSpPr>
          <p:cNvPr id="46" name="Text 46"/>
          <p:cNvSpPr txBox="1"/>
          <p:nvPr/>
        </p:nvSpPr>
        <p:spPr>
          <a:xfrm>
            <a:off x="8412480" y="3758184"/>
            <a:ext cx="1956816" cy="3749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Review Trail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47" name="Table cell 47"/>
          <p:cNvSpPr/>
          <p:nvPr/>
        </p:nvSpPr>
        <p:spPr>
          <a:xfrm>
            <a:off x="749808" y="4160520"/>
            <a:ext cx="1920240" cy="502920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48" name="Text 48"/>
          <p:cNvSpPr txBox="1"/>
          <p:nvPr/>
        </p:nvSpPr>
        <p:spPr>
          <a:xfrm>
            <a:off x="822960" y="4261104"/>
            <a:ext cx="1773936" cy="3749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0A0A0F"/>
                </a:solidFill>
                <a:latin typeface="Helvetica"/>
              </a:rPr>
              <a:t>Investor</a:t>
            </a:r>
            <a:endParaRPr lang="de-DE" sz="76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49" name="Table cell 49"/>
          <p:cNvSpPr/>
          <p:nvPr/>
        </p:nvSpPr>
        <p:spPr>
          <a:xfrm>
            <a:off x="2670048" y="4160520"/>
            <a:ext cx="2926080" cy="502920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50" name="Text 50"/>
          <p:cNvSpPr txBox="1"/>
          <p:nvPr/>
        </p:nvSpPr>
        <p:spPr>
          <a:xfrm>
            <a:off x="2743200" y="4261104"/>
            <a:ext cx="2779776" cy="3749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Category Risk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51" name="Table cell 51"/>
          <p:cNvSpPr/>
          <p:nvPr/>
        </p:nvSpPr>
        <p:spPr>
          <a:xfrm>
            <a:off x="5596128" y="4160520"/>
            <a:ext cx="2743200" cy="502920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52" name="Text 52"/>
          <p:cNvSpPr txBox="1"/>
          <p:nvPr/>
        </p:nvSpPr>
        <p:spPr>
          <a:xfrm>
            <a:off x="5669280" y="4261104"/>
            <a:ext cx="2596896" cy="3749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Vertical Depth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53" name="Table cell 53"/>
          <p:cNvSpPr/>
          <p:nvPr/>
        </p:nvSpPr>
        <p:spPr>
          <a:xfrm>
            <a:off x="8339328" y="4160520"/>
            <a:ext cx="2103120" cy="502920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54" name="Text 54"/>
          <p:cNvSpPr txBox="1"/>
          <p:nvPr/>
        </p:nvSpPr>
        <p:spPr>
          <a:xfrm>
            <a:off x="8412480" y="4261104"/>
            <a:ext cx="1956816" cy="3749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Retention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Narrative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EVO accent bar 2"/>
          <p:cNvSpPr/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3" name="Text 3"/>
          <p:cNvSpPr txBox="1"/>
          <p:nvPr/>
        </p:nvSpPr>
        <p:spPr>
          <a:xfrm>
            <a:off x="566928" y="292608"/>
            <a:ext cx="429768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50" b="1" dirty="0">
                <a:solidFill>
                  <a:srgbClr val="9B9BA8"/>
                </a:solidFill>
                <a:latin typeface="Courier"/>
              </a:rPr>
              <a:t>POSITIONIERUNG</a:t>
            </a:r>
            <a:endParaRPr lang="de-DE" sz="75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4" name="Header rule 4"/>
          <p:cNvSpPr/>
          <p:nvPr/>
        </p:nvSpPr>
        <p:spPr>
          <a:xfrm>
            <a:off x="566928" y="658368"/>
            <a:ext cx="11045952" cy="5486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/>
      </p:sp>
      <p:sp>
        <p:nvSpPr>
          <p:cNvPr id="5" name="Text 5"/>
          <p:cNvSpPr txBox="1"/>
          <p:nvPr/>
        </p:nvSpPr>
        <p:spPr>
          <a:xfrm>
            <a:off x="566928" y="804672"/>
            <a:ext cx="10058400" cy="53035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2400" b="1" dirty="0">
                <a:solidFill>
                  <a:srgbClr val="0A0A0F"/>
                </a:solidFill>
                <a:latin typeface="Helvetica"/>
              </a:rPr>
              <a:t>CAREVO gehoert in das Feld hoher Prozesskritikalitaet</a:t>
            </a:r>
            <a:endParaRPr lang="de-DE" sz="24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6" name="Footer rule 6"/>
          <p:cNvSpPr/>
          <p:nvPr/>
        </p:nvSpPr>
        <p:spPr>
          <a:xfrm>
            <a:off x="566928" y="6419088"/>
            <a:ext cx="11045952" cy="5486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/>
      </p:sp>
      <p:sp>
        <p:nvSpPr>
          <p:cNvPr id="7" name="Text 7"/>
          <p:cNvSpPr txBox="1"/>
          <p:nvPr/>
        </p:nvSpPr>
        <p:spPr>
          <a:xfrm>
            <a:off x="566928" y="6510528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680" dirty="0">
                <a:solidFill>
                  <a:srgbClr val="9B9BA8"/>
                </a:solidFill>
                <a:latin typeface="Courier"/>
              </a:rPr>
              <a:t>CAREVO VC / CONSULTING TEMPLATE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8" name="Text 8"/>
          <p:cNvSpPr txBox="1"/>
          <p:nvPr/>
        </p:nvSpPr>
        <p:spPr>
          <a:xfrm>
            <a:off x="4572000" y="6510528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680" dirty="0">
                <a:solidFill>
                  <a:srgbClr val="9B9BA8"/>
                </a:solidFill>
                <a:latin typeface="Courier"/>
              </a:rPr>
              <a:t>CONFIDENTIAL - TEMPLATE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9" name="Text 9"/>
          <p:cNvSpPr txBox="1"/>
          <p:nvPr/>
        </p:nvSpPr>
        <p:spPr>
          <a:xfrm>
            <a:off x="11018520" y="6510528"/>
            <a:ext cx="59436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r"/>
            <a:r>
              <a:rPr lang="de-DE" sz="680" dirty="0">
                <a:solidFill>
                  <a:srgbClr val="9B9BA8"/>
                </a:solidFill>
                <a:latin typeface="Courier"/>
              </a:rPr>
              <a:t>12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10" name="Shape 10"/>
          <p:cNvSpPr/>
          <p:nvPr/>
        </p:nvSpPr>
        <p:spPr>
          <a:xfrm>
            <a:off x="1188720" y="1691640"/>
            <a:ext cx="786384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11" name="Shape 11"/>
          <p:cNvSpPr/>
          <p:nvPr/>
        </p:nvSpPr>
        <p:spPr>
          <a:xfrm>
            <a:off x="5120640" y="1691640"/>
            <a:ext cx="9144" cy="3566160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/>
      </p:sp>
      <p:sp>
        <p:nvSpPr>
          <p:cNvPr id="12" name="Shape 12"/>
          <p:cNvSpPr/>
          <p:nvPr/>
        </p:nvSpPr>
        <p:spPr>
          <a:xfrm>
            <a:off x="1188720" y="3474720"/>
            <a:ext cx="7863840" cy="9144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/>
      </p:sp>
      <p:sp>
        <p:nvSpPr>
          <p:cNvPr id="13" name="Text 13"/>
          <p:cNvSpPr txBox="1"/>
          <p:nvPr/>
        </p:nvSpPr>
        <p:spPr>
          <a:xfrm>
            <a:off x="1325880" y="1828800"/>
            <a:ext cx="338328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900" dirty="0">
                <a:solidFill>
                  <a:srgbClr val="9B9BA8"/>
                </a:solidFill>
                <a:latin typeface="Courier"/>
              </a:rPr>
              <a:t>Niedrige Workflow-Tiefe</a:t>
            </a:r>
            <a:endParaRPr lang="de-DE" sz="90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14" name="Text 14"/>
          <p:cNvSpPr txBox="1"/>
          <p:nvPr/>
        </p:nvSpPr>
        <p:spPr>
          <a:xfrm>
            <a:off x="5394960" y="1828800"/>
            <a:ext cx="338328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900" dirty="0">
                <a:solidFill>
                  <a:srgbClr val="9B9BA8"/>
                </a:solidFill>
                <a:latin typeface="Courier"/>
              </a:rPr>
              <a:t>Hohe Workflow-Tiefe</a:t>
            </a:r>
            <a:endParaRPr lang="de-DE" sz="90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15" name="Text 15"/>
          <p:cNvSpPr txBox="1"/>
          <p:nvPr/>
        </p:nvSpPr>
        <p:spPr>
          <a:xfrm>
            <a:off x="1325880" y="3794760"/>
            <a:ext cx="338328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900" dirty="0">
                <a:solidFill>
                  <a:srgbClr val="9B9BA8"/>
                </a:solidFill>
                <a:latin typeface="Courier"/>
              </a:rPr>
              <a:t>Niedrige Kritikalitaet</a:t>
            </a:r>
            <a:endParaRPr lang="de-DE" sz="90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16" name="Text 16"/>
          <p:cNvSpPr txBox="1"/>
          <p:nvPr/>
        </p:nvSpPr>
        <p:spPr>
          <a:xfrm>
            <a:off x="5394960" y="3794760"/>
            <a:ext cx="338328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900" dirty="0">
                <a:solidFill>
                  <a:srgbClr val="9B9BA8"/>
                </a:solidFill>
                <a:latin typeface="Courier"/>
              </a:rPr>
              <a:t>Hohe Kritikalitaet</a:t>
            </a:r>
            <a:endParaRPr lang="de-DE" sz="90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17" name="Shape 17"/>
          <p:cNvSpPr/>
          <p:nvPr/>
        </p:nvSpPr>
        <p:spPr>
          <a:xfrm>
            <a:off x="5897880" y="2240280"/>
            <a:ext cx="1783080" cy="713232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/>
      </p:sp>
      <p:sp>
        <p:nvSpPr>
          <p:cNvPr id="18" name="Text 18"/>
          <p:cNvSpPr txBox="1"/>
          <p:nvPr/>
        </p:nvSpPr>
        <p:spPr>
          <a:xfrm>
            <a:off x="6172200" y="2432304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1200" b="1" dirty="0">
                <a:solidFill>
                  <a:srgbClr val="FFFFFF"/>
                </a:solidFill>
                <a:latin typeface="Helvetica"/>
              </a:rPr>
              <a:t>CAREVO</a:t>
            </a:r>
            <a:endParaRPr lang="de-DE" sz="1200" dirty="0">
              <a:solidFill>
                <a:srgbClr val="FFFFFF"/>
              </a:solidFill>
              <a:latin typeface="Helvetica"/>
            </a:endParaRPr>
          </a:p>
        </p:txBody>
      </p:sp>
      <p:sp>
        <p:nvSpPr>
          <p:cNvPr id="19" name="Text 19"/>
          <p:cNvSpPr txBox="1"/>
          <p:nvPr/>
        </p:nvSpPr>
        <p:spPr>
          <a:xfrm>
            <a:off x="9400032" y="1828800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800" dirty="0">
                <a:solidFill>
                  <a:srgbClr val="9B9BA8"/>
                </a:solidFill>
                <a:latin typeface="Courier"/>
              </a:rPr>
              <a:t>hoch</a:t>
            </a:r>
            <a:endParaRPr lang="de-DE" sz="80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20" name="Text 20"/>
          <p:cNvSpPr txBox="1"/>
          <p:nvPr/>
        </p:nvSpPr>
        <p:spPr>
          <a:xfrm>
            <a:off x="9400032" y="4937760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800" dirty="0">
                <a:solidFill>
                  <a:srgbClr val="9B9BA8"/>
                </a:solidFill>
                <a:latin typeface="Courier"/>
              </a:rPr>
              <a:t>niedrig</a:t>
            </a:r>
            <a:endParaRPr lang="de-DE" sz="80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21" name="Text 21"/>
          <p:cNvSpPr txBox="1"/>
          <p:nvPr/>
        </p:nvSpPr>
        <p:spPr>
          <a:xfrm>
            <a:off x="786384" y="5413248"/>
            <a:ext cx="877824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50" dirty="0">
                <a:solidFill>
                  <a:srgbClr val="9B9BA8"/>
                </a:solidFill>
                <a:latin typeface="Courier"/>
              </a:rPr>
              <a:t>Achsen als Platzhalter: Produktkategorien nach Due Diligence einsetzen.</a:t>
            </a:r>
            <a:endParaRPr lang="de-DE" sz="750" dirty="0">
              <a:solidFill>
                <a:srgbClr val="9B9BA8"/>
              </a:solidFill>
              <a:latin typeface="Courier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arket Sizing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EVO accent bar 2"/>
          <p:cNvSpPr/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3" name="Text 3"/>
          <p:cNvSpPr txBox="1"/>
          <p:nvPr/>
        </p:nvSpPr>
        <p:spPr>
          <a:xfrm>
            <a:off x="566928" y="292608"/>
            <a:ext cx="429768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50" b="1" dirty="0">
                <a:solidFill>
                  <a:srgbClr val="9B9BA8"/>
                </a:solidFill>
                <a:latin typeface="Courier"/>
              </a:rPr>
              <a:t>MARKT</a:t>
            </a:r>
            <a:endParaRPr lang="de-DE" sz="75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4" name="Header rule 4"/>
          <p:cNvSpPr/>
          <p:nvPr/>
        </p:nvSpPr>
        <p:spPr>
          <a:xfrm>
            <a:off x="566928" y="658368"/>
            <a:ext cx="11045952" cy="5486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/>
      </p:sp>
      <p:sp>
        <p:nvSpPr>
          <p:cNvPr id="5" name="Text 5"/>
          <p:cNvSpPr txBox="1"/>
          <p:nvPr/>
        </p:nvSpPr>
        <p:spPr>
          <a:xfrm>
            <a:off x="566928" y="804672"/>
            <a:ext cx="10058400" cy="53035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2400" b="1" dirty="0">
                <a:solidFill>
                  <a:srgbClr val="0A0A0F"/>
                </a:solidFill>
                <a:latin typeface="Helvetica"/>
              </a:rPr>
              <a:t>Market Sizing wird als logische Ableitung statt als Grosszahl verkauft</a:t>
            </a:r>
            <a:endParaRPr lang="de-DE" sz="24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6" name="Footer rule 6"/>
          <p:cNvSpPr/>
          <p:nvPr/>
        </p:nvSpPr>
        <p:spPr>
          <a:xfrm>
            <a:off x="566928" y="6419088"/>
            <a:ext cx="11045952" cy="5486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/>
      </p:sp>
      <p:sp>
        <p:nvSpPr>
          <p:cNvPr id="7" name="Text 7"/>
          <p:cNvSpPr txBox="1"/>
          <p:nvPr/>
        </p:nvSpPr>
        <p:spPr>
          <a:xfrm>
            <a:off x="566928" y="6510528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680" dirty="0">
                <a:solidFill>
                  <a:srgbClr val="9B9BA8"/>
                </a:solidFill>
                <a:latin typeface="Courier"/>
              </a:rPr>
              <a:t>CAREVO VC / CONSULTING TEMPLATE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8" name="Text 8"/>
          <p:cNvSpPr txBox="1"/>
          <p:nvPr/>
        </p:nvSpPr>
        <p:spPr>
          <a:xfrm>
            <a:off x="4572000" y="6510528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680" dirty="0">
                <a:solidFill>
                  <a:srgbClr val="9B9BA8"/>
                </a:solidFill>
                <a:latin typeface="Courier"/>
              </a:rPr>
              <a:t>CONFIDENTIAL - TEMPLATE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9" name="Text 9"/>
          <p:cNvSpPr txBox="1"/>
          <p:nvPr/>
        </p:nvSpPr>
        <p:spPr>
          <a:xfrm>
            <a:off x="11018520" y="6510528"/>
            <a:ext cx="59436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r"/>
            <a:r>
              <a:rPr lang="de-DE" sz="680" dirty="0">
                <a:solidFill>
                  <a:srgbClr val="9B9BA8"/>
                </a:solidFill>
                <a:latin typeface="Courier"/>
              </a:rPr>
              <a:t>13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10" name="Chart baseline 10"/>
          <p:cNvSpPr/>
          <p:nvPr/>
        </p:nvSpPr>
        <p:spPr>
          <a:xfrm>
            <a:off x="1005840" y="4434840"/>
            <a:ext cx="6400800" cy="7315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/>
      </p:sp>
      <p:sp>
        <p:nvSpPr>
          <p:cNvPr id="11" name="Chart bar 11"/>
          <p:cNvSpPr/>
          <p:nvPr/>
        </p:nvSpPr>
        <p:spPr>
          <a:xfrm>
            <a:off x="1005840" y="2011680"/>
            <a:ext cx="1163117" cy="2423160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12" name="Text 12"/>
          <p:cNvSpPr txBox="1"/>
          <p:nvPr/>
        </p:nvSpPr>
        <p:spPr>
          <a:xfrm>
            <a:off x="1005840" y="4507992"/>
            <a:ext cx="1163117" cy="1463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640" dirty="0">
                <a:solidFill>
                  <a:srgbClr val="9B9BA8"/>
                </a:solidFill>
                <a:latin typeface="Courier"/>
              </a:rPr>
              <a:t>TAM</a:t>
            </a:r>
            <a:endParaRPr lang="de-DE" sz="64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13" name="Text 13"/>
          <p:cNvSpPr txBox="1"/>
          <p:nvPr/>
        </p:nvSpPr>
        <p:spPr>
          <a:xfrm>
            <a:off x="1005840" y="1847088"/>
            <a:ext cx="1163117" cy="12801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700" dirty="0">
                <a:solidFill>
                  <a:srgbClr val="0A0A0F"/>
                </a:solidFill>
                <a:latin typeface="Courier"/>
              </a:rPr>
              <a:t>100</a:t>
            </a:r>
            <a:endParaRPr lang="de-DE" sz="700" dirty="0">
              <a:solidFill>
                <a:srgbClr val="0A0A0F"/>
              </a:solidFill>
              <a:latin typeface="Courier"/>
            </a:endParaRPr>
          </a:p>
        </p:txBody>
      </p:sp>
      <p:sp>
        <p:nvSpPr>
          <p:cNvPr id="14" name="Chart bar 14"/>
          <p:cNvSpPr/>
          <p:nvPr/>
        </p:nvSpPr>
        <p:spPr>
          <a:xfrm>
            <a:off x="2315261" y="2932481"/>
            <a:ext cx="1163117" cy="1502359"/>
          </a:xfrm>
          <a:prstGeom prst="rect">
            <a:avLst/>
          </a:prstGeom>
          <a:solidFill>
            <a:srgbClr val="4A4A4F"/>
          </a:solidFill>
          <a:ln>
            <a:noFill/>
          </a:ln>
        </p:spPr>
        <p:style/>
      </p:sp>
      <p:sp>
        <p:nvSpPr>
          <p:cNvPr id="15" name="Text 15"/>
          <p:cNvSpPr txBox="1"/>
          <p:nvPr/>
        </p:nvSpPr>
        <p:spPr>
          <a:xfrm>
            <a:off x="2315261" y="4507992"/>
            <a:ext cx="1163117" cy="1463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640" dirty="0">
                <a:solidFill>
                  <a:srgbClr val="9B9BA8"/>
                </a:solidFill>
                <a:latin typeface="Courier"/>
              </a:rPr>
              <a:t>SAM</a:t>
            </a:r>
            <a:endParaRPr lang="de-DE" sz="64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16" name="Text 16"/>
          <p:cNvSpPr txBox="1"/>
          <p:nvPr/>
        </p:nvSpPr>
        <p:spPr>
          <a:xfrm>
            <a:off x="2315261" y="2767889"/>
            <a:ext cx="1163117" cy="12801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700" dirty="0">
                <a:solidFill>
                  <a:srgbClr val="0A0A0F"/>
                </a:solidFill>
                <a:latin typeface="Courier"/>
              </a:rPr>
              <a:t>62</a:t>
            </a:r>
            <a:endParaRPr lang="de-DE" sz="700" dirty="0">
              <a:solidFill>
                <a:srgbClr val="0A0A0F"/>
              </a:solidFill>
              <a:latin typeface="Courier"/>
            </a:endParaRPr>
          </a:p>
        </p:txBody>
      </p:sp>
      <p:sp>
        <p:nvSpPr>
          <p:cNvPr id="17" name="Chart bar 17"/>
          <p:cNvSpPr/>
          <p:nvPr/>
        </p:nvSpPr>
        <p:spPr>
          <a:xfrm>
            <a:off x="3624682" y="3756355"/>
            <a:ext cx="1163117" cy="678485"/>
          </a:xfrm>
          <a:prstGeom prst="rect">
            <a:avLst/>
          </a:prstGeom>
          <a:solidFill>
            <a:srgbClr val="9B9BA8"/>
          </a:solidFill>
          <a:ln>
            <a:noFill/>
          </a:ln>
        </p:spPr>
        <p:style/>
      </p:sp>
      <p:sp>
        <p:nvSpPr>
          <p:cNvPr id="18" name="Text 18"/>
          <p:cNvSpPr txBox="1"/>
          <p:nvPr/>
        </p:nvSpPr>
        <p:spPr>
          <a:xfrm>
            <a:off x="3624682" y="4507992"/>
            <a:ext cx="1163117" cy="1463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640" dirty="0">
                <a:solidFill>
                  <a:srgbClr val="9B9BA8"/>
                </a:solidFill>
                <a:latin typeface="Courier"/>
              </a:rPr>
              <a:t>SOM</a:t>
            </a:r>
            <a:endParaRPr lang="de-DE" sz="64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19" name="Text 19"/>
          <p:cNvSpPr txBox="1"/>
          <p:nvPr/>
        </p:nvSpPr>
        <p:spPr>
          <a:xfrm>
            <a:off x="3624682" y="3591763"/>
            <a:ext cx="1163117" cy="12801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700" dirty="0">
                <a:solidFill>
                  <a:srgbClr val="0A0A0F"/>
                </a:solidFill>
                <a:latin typeface="Courier"/>
              </a:rPr>
              <a:t>28</a:t>
            </a:r>
            <a:endParaRPr lang="de-DE" sz="700" dirty="0">
              <a:solidFill>
                <a:srgbClr val="0A0A0F"/>
              </a:solidFill>
              <a:latin typeface="Courier"/>
            </a:endParaRPr>
          </a:p>
        </p:txBody>
      </p:sp>
      <p:sp>
        <p:nvSpPr>
          <p:cNvPr id="20" name="Chart bar 20"/>
          <p:cNvSpPr/>
          <p:nvPr/>
        </p:nvSpPr>
        <p:spPr>
          <a:xfrm>
            <a:off x="4934102" y="4240987"/>
            <a:ext cx="1163117" cy="193853"/>
          </a:xfrm>
          <a:prstGeom prst="rect">
            <a:avLst/>
          </a:prstGeom>
          <a:solidFill>
            <a:srgbClr val="4A4A4F"/>
          </a:solidFill>
          <a:ln>
            <a:noFill/>
          </a:ln>
        </p:spPr>
        <p:style/>
      </p:sp>
      <p:sp>
        <p:nvSpPr>
          <p:cNvPr id="21" name="Text 21"/>
          <p:cNvSpPr txBox="1"/>
          <p:nvPr/>
        </p:nvSpPr>
        <p:spPr>
          <a:xfrm>
            <a:off x="4934102" y="4507992"/>
            <a:ext cx="1163117" cy="1463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640" dirty="0">
                <a:solidFill>
                  <a:srgbClr val="9B9BA8"/>
                </a:solidFill>
                <a:latin typeface="Courier"/>
              </a:rPr>
              <a:t>Pilot</a:t>
            </a:r>
            <a:endParaRPr lang="de-DE" sz="64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22" name="Text 22"/>
          <p:cNvSpPr txBox="1"/>
          <p:nvPr/>
        </p:nvSpPr>
        <p:spPr>
          <a:xfrm>
            <a:off x="4934102" y="4076395"/>
            <a:ext cx="1163117" cy="12801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700" dirty="0">
                <a:solidFill>
                  <a:srgbClr val="0A0A0F"/>
                </a:solidFill>
                <a:latin typeface="Courier"/>
              </a:rPr>
              <a:t>8</a:t>
            </a:r>
            <a:endParaRPr lang="de-DE" sz="700" dirty="0">
              <a:solidFill>
                <a:srgbClr val="0A0A0F"/>
              </a:solidFill>
              <a:latin typeface="Courier"/>
            </a:endParaRPr>
          </a:p>
        </p:txBody>
      </p:sp>
      <p:sp>
        <p:nvSpPr>
          <p:cNvPr id="23" name="Chart bar 23"/>
          <p:cNvSpPr/>
          <p:nvPr/>
        </p:nvSpPr>
        <p:spPr>
          <a:xfrm>
            <a:off x="6243523" y="3950208"/>
            <a:ext cx="1163117" cy="484632"/>
          </a:xfrm>
          <a:prstGeom prst="rect">
            <a:avLst/>
          </a:prstGeom>
          <a:solidFill>
            <a:srgbClr val="9B9BA8"/>
          </a:solidFill>
          <a:ln>
            <a:noFill/>
          </a:ln>
        </p:spPr>
        <p:style/>
      </p:sp>
      <p:sp>
        <p:nvSpPr>
          <p:cNvPr id="24" name="Text 24"/>
          <p:cNvSpPr txBox="1"/>
          <p:nvPr/>
        </p:nvSpPr>
        <p:spPr>
          <a:xfrm>
            <a:off x="6243523" y="4507992"/>
            <a:ext cx="1163117" cy="1463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640" dirty="0">
                <a:solidFill>
                  <a:srgbClr val="9B9BA8"/>
                </a:solidFill>
                <a:latin typeface="Courier"/>
              </a:rPr>
              <a:t>Expansion</a:t>
            </a:r>
            <a:endParaRPr lang="de-DE" sz="64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25" name="Text 25"/>
          <p:cNvSpPr txBox="1"/>
          <p:nvPr/>
        </p:nvSpPr>
        <p:spPr>
          <a:xfrm>
            <a:off x="6243523" y="3785616"/>
            <a:ext cx="1163117" cy="12801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700" dirty="0">
                <a:solidFill>
                  <a:srgbClr val="0A0A0F"/>
                </a:solidFill>
                <a:latin typeface="Courier"/>
              </a:rPr>
              <a:t>20</a:t>
            </a:r>
            <a:endParaRPr lang="de-DE" sz="700" dirty="0">
              <a:solidFill>
                <a:srgbClr val="0A0A0F"/>
              </a:solidFill>
              <a:latin typeface="Courier"/>
            </a:endParaRPr>
          </a:p>
        </p:txBody>
      </p:sp>
      <p:sp>
        <p:nvSpPr>
          <p:cNvPr id="26" name="Shape 26"/>
          <p:cNvSpPr/>
          <p:nvPr/>
        </p:nvSpPr>
        <p:spPr>
          <a:xfrm>
            <a:off x="8046720" y="1783080"/>
            <a:ext cx="2560320" cy="2651760"/>
          </a:xfrm>
          <a:prstGeom prst="rect">
            <a:avLst/>
          </a:prstGeom>
          <a:solidFill>
            <a:srgbClr val="F4F4F6"/>
          </a:solidFill>
          <a:ln w="6350">
            <a:solidFill>
              <a:srgbClr val="E8E8EC"/>
            </a:solidFill>
          </a:ln>
        </p:spPr>
        <p:style/>
      </p:sp>
      <p:sp>
        <p:nvSpPr>
          <p:cNvPr id="27" name="Text 27"/>
          <p:cNvSpPr txBox="1"/>
          <p:nvPr/>
        </p:nvSpPr>
        <p:spPr>
          <a:xfrm>
            <a:off x="8275320" y="1993392"/>
            <a:ext cx="205740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00" b="1" dirty="0">
                <a:solidFill>
                  <a:srgbClr val="1E6B72"/>
                </a:solidFill>
                <a:latin typeface="Courier"/>
              </a:rPr>
              <a:t>MODELLIERUNG</a:t>
            </a:r>
            <a:endParaRPr lang="de-DE" sz="700" dirty="0">
              <a:solidFill>
                <a:srgbClr val="1E6B72"/>
              </a:solidFill>
              <a:latin typeface="Courier"/>
            </a:endParaRPr>
          </a:p>
        </p:txBody>
      </p:sp>
      <p:sp>
        <p:nvSpPr>
          <p:cNvPr id="28" name="Bullets 28"/>
          <p:cNvSpPr txBox="1"/>
          <p:nvPr/>
        </p:nvSpPr>
        <p:spPr>
          <a:xfrm>
            <a:off x="8275320" y="2395728"/>
            <a:ext cx="2011680" cy="10972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" rIns="9144" tIns="9144" bIns="9144"/>
          <a:lstStyle/>
          <a:p>
            <a:pPr algn="l" marL="171450" indent="-114300">
              <a:buChar char="•"/>
            </a:pPr>
            <a:r>
              <a:rPr lang="de-DE" sz="860" dirty="0">
                <a:solidFill>
                  <a:srgbClr val="4A4A4F"/>
                </a:solidFill>
                <a:latin typeface="Helvetica"/>
              </a:rPr>
              <a:t>Pflege- und Versorgungseinheiten</a:t>
            </a:r>
            <a:endParaRPr lang="de-DE" sz="860" dirty="0">
              <a:solidFill>
                <a:srgbClr val="4A4A4F"/>
              </a:solidFill>
              <a:latin typeface="Helvetica"/>
            </a:endParaRPr>
          </a:p>
          <a:p>
            <a:pPr algn="l" marL="171450" indent="-114300">
              <a:buChar char="•"/>
            </a:pPr>
            <a:r>
              <a:rPr lang="de-DE" sz="860" dirty="0">
                <a:solidFill>
                  <a:srgbClr val="4A4A4F"/>
                </a:solidFill>
                <a:latin typeface="Helvetica"/>
              </a:rPr>
              <a:t>Dokumentationsfaelle pro Monat</a:t>
            </a:r>
            <a:endParaRPr lang="de-DE" sz="860" dirty="0">
              <a:solidFill>
                <a:srgbClr val="4A4A4F"/>
              </a:solidFill>
              <a:latin typeface="Helvetica"/>
            </a:endParaRPr>
          </a:p>
          <a:p>
            <a:pPr algn="l" marL="171450" indent="-114300">
              <a:buChar char="•"/>
            </a:pPr>
            <a:r>
              <a:rPr lang="de-DE" sz="860" dirty="0">
                <a:solidFill>
                  <a:srgbClr val="4A4A4F"/>
                </a:solidFill>
                <a:latin typeface="Helvetica"/>
              </a:rPr>
              <a:t>Preis pro Workflow-Sitz</a:t>
            </a:r>
            <a:endParaRPr lang="de-DE" sz="8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29" name="Text 29"/>
          <p:cNvSpPr txBox="1"/>
          <p:nvPr/>
        </p:nvSpPr>
        <p:spPr>
          <a:xfrm>
            <a:off x="1005840" y="5074920"/>
            <a:ext cx="768096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50" dirty="0">
                <a:solidFill>
                  <a:srgbClr val="9B9BA8"/>
                </a:solidFill>
                <a:latin typeface="Courier"/>
              </a:rPr>
              <a:t>Alle Zahlen sind Beispielwerte und fuer das echte Modell zu ersetzen.</a:t>
            </a:r>
            <a:endParaRPr lang="de-DE" sz="750" dirty="0">
              <a:solidFill>
                <a:srgbClr val="9B9BA8"/>
              </a:solidFill>
              <a:latin typeface="Courier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gment Scoring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EVO accent bar 2"/>
          <p:cNvSpPr/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3" name="Text 3"/>
          <p:cNvSpPr txBox="1"/>
          <p:nvPr/>
        </p:nvSpPr>
        <p:spPr>
          <a:xfrm>
            <a:off x="566928" y="292608"/>
            <a:ext cx="429768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50" b="1" dirty="0">
                <a:solidFill>
                  <a:srgbClr val="9B9BA8"/>
                </a:solidFill>
                <a:latin typeface="Courier"/>
              </a:rPr>
              <a:t>SEGMENTIERUNG</a:t>
            </a:r>
            <a:endParaRPr lang="de-DE" sz="75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4" name="Header rule 4"/>
          <p:cNvSpPr/>
          <p:nvPr/>
        </p:nvSpPr>
        <p:spPr>
          <a:xfrm>
            <a:off x="566928" y="658368"/>
            <a:ext cx="11045952" cy="5486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/>
      </p:sp>
      <p:sp>
        <p:nvSpPr>
          <p:cNvPr id="5" name="Text 5"/>
          <p:cNvSpPr txBox="1"/>
          <p:nvPr/>
        </p:nvSpPr>
        <p:spPr>
          <a:xfrm>
            <a:off x="566928" y="804672"/>
            <a:ext cx="10058400" cy="53035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2400" b="1" dirty="0">
                <a:solidFill>
                  <a:srgbClr val="0A0A0F"/>
                </a:solidFill>
                <a:latin typeface="Helvetica"/>
              </a:rPr>
              <a:t>Priorisierung folgt Schwere des Problems und Umsetzbarkeit</a:t>
            </a:r>
            <a:endParaRPr lang="de-DE" sz="24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6" name="Footer rule 6"/>
          <p:cNvSpPr/>
          <p:nvPr/>
        </p:nvSpPr>
        <p:spPr>
          <a:xfrm>
            <a:off x="566928" y="6419088"/>
            <a:ext cx="11045952" cy="5486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/>
      </p:sp>
      <p:sp>
        <p:nvSpPr>
          <p:cNvPr id="7" name="Text 7"/>
          <p:cNvSpPr txBox="1"/>
          <p:nvPr/>
        </p:nvSpPr>
        <p:spPr>
          <a:xfrm>
            <a:off x="566928" y="6510528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680" dirty="0">
                <a:solidFill>
                  <a:srgbClr val="9B9BA8"/>
                </a:solidFill>
                <a:latin typeface="Courier"/>
              </a:rPr>
              <a:t>CAREVO VC / CONSULTING TEMPLATE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8" name="Text 8"/>
          <p:cNvSpPr txBox="1"/>
          <p:nvPr/>
        </p:nvSpPr>
        <p:spPr>
          <a:xfrm>
            <a:off x="4572000" y="6510528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680" dirty="0">
                <a:solidFill>
                  <a:srgbClr val="9B9BA8"/>
                </a:solidFill>
                <a:latin typeface="Courier"/>
              </a:rPr>
              <a:t>CONFIDENTIAL - TEMPLATE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9" name="Text 9"/>
          <p:cNvSpPr txBox="1"/>
          <p:nvPr/>
        </p:nvSpPr>
        <p:spPr>
          <a:xfrm>
            <a:off x="11018520" y="6510528"/>
            <a:ext cx="59436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r"/>
            <a:r>
              <a:rPr lang="de-DE" sz="680" dirty="0">
                <a:solidFill>
                  <a:srgbClr val="9B9BA8"/>
                </a:solidFill>
                <a:latin typeface="Courier"/>
              </a:rPr>
              <a:t>14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10" name="Table header 10"/>
          <p:cNvSpPr/>
          <p:nvPr/>
        </p:nvSpPr>
        <p:spPr>
          <a:xfrm>
            <a:off x="749808" y="1572768"/>
            <a:ext cx="9418320" cy="4572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/>
      </p:sp>
      <p:sp>
        <p:nvSpPr>
          <p:cNvPr id="11" name="Text 11"/>
          <p:cNvSpPr txBox="1"/>
          <p:nvPr/>
        </p:nvSpPr>
        <p:spPr>
          <a:xfrm>
            <a:off x="822960" y="1664208"/>
            <a:ext cx="1773936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40" b="1" dirty="0">
                <a:solidFill>
                  <a:srgbClr val="FFFFFF"/>
                </a:solidFill>
                <a:latin typeface="Courier"/>
              </a:rPr>
              <a:t>Segment</a:t>
            </a:r>
            <a:endParaRPr lang="de-DE" sz="740" dirty="0">
              <a:solidFill>
                <a:srgbClr val="FFFFFF"/>
              </a:solidFill>
              <a:latin typeface="Courier"/>
            </a:endParaRPr>
          </a:p>
        </p:txBody>
      </p:sp>
      <p:sp>
        <p:nvSpPr>
          <p:cNvPr id="12" name="Text 12"/>
          <p:cNvSpPr txBox="1"/>
          <p:nvPr/>
        </p:nvSpPr>
        <p:spPr>
          <a:xfrm>
            <a:off x="2743200" y="1664208"/>
            <a:ext cx="1133856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40" b="1" dirty="0">
                <a:solidFill>
                  <a:srgbClr val="FFFFFF"/>
                </a:solidFill>
                <a:latin typeface="Courier"/>
              </a:rPr>
              <a:t>Pain</a:t>
            </a:r>
            <a:endParaRPr lang="de-DE" sz="740" dirty="0">
              <a:solidFill>
                <a:srgbClr val="FFFFFF"/>
              </a:solidFill>
              <a:latin typeface="Courier"/>
            </a:endParaRPr>
          </a:p>
        </p:txBody>
      </p:sp>
      <p:sp>
        <p:nvSpPr>
          <p:cNvPr id="13" name="Text 13"/>
          <p:cNvSpPr txBox="1"/>
          <p:nvPr/>
        </p:nvSpPr>
        <p:spPr>
          <a:xfrm>
            <a:off x="4023360" y="1664208"/>
            <a:ext cx="1225296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40" b="1" dirty="0">
                <a:solidFill>
                  <a:srgbClr val="FFFFFF"/>
                </a:solidFill>
                <a:latin typeface="Courier"/>
              </a:rPr>
              <a:t>Budget</a:t>
            </a:r>
            <a:endParaRPr lang="de-DE" sz="740" dirty="0">
              <a:solidFill>
                <a:srgbClr val="FFFFFF"/>
              </a:solidFill>
              <a:latin typeface="Courier"/>
            </a:endParaRPr>
          </a:p>
        </p:txBody>
      </p:sp>
      <p:sp>
        <p:nvSpPr>
          <p:cNvPr id="14" name="Text 14"/>
          <p:cNvSpPr txBox="1"/>
          <p:nvPr/>
        </p:nvSpPr>
        <p:spPr>
          <a:xfrm>
            <a:off x="5394960" y="1664208"/>
            <a:ext cx="1225296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40" b="1" dirty="0">
                <a:solidFill>
                  <a:srgbClr val="FFFFFF"/>
                </a:solidFill>
                <a:latin typeface="Courier"/>
              </a:rPr>
              <a:t>IT Fit</a:t>
            </a:r>
            <a:endParaRPr lang="de-DE" sz="740" dirty="0">
              <a:solidFill>
                <a:srgbClr val="FFFFFF"/>
              </a:solidFill>
              <a:latin typeface="Courier"/>
            </a:endParaRPr>
          </a:p>
        </p:txBody>
      </p:sp>
      <p:sp>
        <p:nvSpPr>
          <p:cNvPr id="15" name="Text 15"/>
          <p:cNvSpPr txBox="1"/>
          <p:nvPr/>
        </p:nvSpPr>
        <p:spPr>
          <a:xfrm>
            <a:off x="6766560" y="1664208"/>
            <a:ext cx="1316736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40" b="1" dirty="0">
                <a:solidFill>
                  <a:srgbClr val="FFFFFF"/>
                </a:solidFill>
                <a:latin typeface="Courier"/>
              </a:rPr>
              <a:t>Cycle</a:t>
            </a:r>
            <a:endParaRPr lang="de-DE" sz="740" dirty="0">
              <a:solidFill>
                <a:srgbClr val="FFFFFF"/>
              </a:solidFill>
              <a:latin typeface="Courier"/>
            </a:endParaRPr>
          </a:p>
        </p:txBody>
      </p:sp>
      <p:sp>
        <p:nvSpPr>
          <p:cNvPr id="16" name="Text 16"/>
          <p:cNvSpPr txBox="1"/>
          <p:nvPr/>
        </p:nvSpPr>
        <p:spPr>
          <a:xfrm>
            <a:off x="8229600" y="1664208"/>
            <a:ext cx="1865376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40" b="1" dirty="0">
                <a:solidFill>
                  <a:srgbClr val="FFFFFF"/>
                </a:solidFill>
                <a:latin typeface="Courier"/>
              </a:rPr>
              <a:t>Implikation</a:t>
            </a:r>
            <a:endParaRPr lang="de-DE" sz="740" dirty="0">
              <a:solidFill>
                <a:srgbClr val="FFFFFF"/>
              </a:solidFill>
              <a:latin typeface="Courier"/>
            </a:endParaRPr>
          </a:p>
        </p:txBody>
      </p:sp>
      <p:sp>
        <p:nvSpPr>
          <p:cNvPr id="17" name="Table cell 17"/>
          <p:cNvSpPr/>
          <p:nvPr/>
        </p:nvSpPr>
        <p:spPr>
          <a:xfrm>
            <a:off x="749808" y="2029968"/>
            <a:ext cx="1920240" cy="457200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18" name="Text 18"/>
          <p:cNvSpPr txBox="1"/>
          <p:nvPr/>
        </p:nvSpPr>
        <p:spPr>
          <a:xfrm>
            <a:off x="822960" y="2130552"/>
            <a:ext cx="1773936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0A0A0F"/>
                </a:solidFill>
                <a:latin typeface="Helvetica"/>
              </a:rPr>
              <a:t>Ambulante Pflege</a:t>
            </a:r>
            <a:endParaRPr lang="de-DE" sz="76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19" name="Table cell 19"/>
          <p:cNvSpPr/>
          <p:nvPr/>
        </p:nvSpPr>
        <p:spPr>
          <a:xfrm>
            <a:off x="2670048" y="2029968"/>
            <a:ext cx="1280160" cy="457200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20" name="Text 20"/>
          <p:cNvSpPr txBox="1"/>
          <p:nvPr/>
        </p:nvSpPr>
        <p:spPr>
          <a:xfrm>
            <a:off x="2743200" y="2130552"/>
            <a:ext cx="1133856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hoch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21" name="Table cell 21"/>
          <p:cNvSpPr/>
          <p:nvPr/>
        </p:nvSpPr>
        <p:spPr>
          <a:xfrm>
            <a:off x="3950208" y="2029968"/>
            <a:ext cx="1371600" cy="457200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22" name="Text 22"/>
          <p:cNvSpPr txBox="1"/>
          <p:nvPr/>
        </p:nvSpPr>
        <p:spPr>
          <a:xfrm>
            <a:off x="4023360" y="2130552"/>
            <a:ext cx="1225296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mittel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23" name="Table cell 23"/>
          <p:cNvSpPr/>
          <p:nvPr/>
        </p:nvSpPr>
        <p:spPr>
          <a:xfrm>
            <a:off x="5321808" y="2029968"/>
            <a:ext cx="1371600" cy="457200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24" name="Text 24"/>
          <p:cNvSpPr txBox="1"/>
          <p:nvPr/>
        </p:nvSpPr>
        <p:spPr>
          <a:xfrm>
            <a:off x="5394960" y="2130552"/>
            <a:ext cx="1225296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hoch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25" name="Table cell 25"/>
          <p:cNvSpPr/>
          <p:nvPr/>
        </p:nvSpPr>
        <p:spPr>
          <a:xfrm>
            <a:off x="6693408" y="2029968"/>
            <a:ext cx="1463040" cy="457200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26" name="Text 26"/>
          <p:cNvSpPr txBox="1"/>
          <p:nvPr/>
        </p:nvSpPr>
        <p:spPr>
          <a:xfrm>
            <a:off x="6766560" y="2130552"/>
            <a:ext cx="1316736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kurz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27" name="Table cell 27"/>
          <p:cNvSpPr/>
          <p:nvPr/>
        </p:nvSpPr>
        <p:spPr>
          <a:xfrm>
            <a:off x="8156448" y="2029968"/>
            <a:ext cx="2011680" cy="457200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28" name="Text 28"/>
          <p:cNvSpPr txBox="1"/>
          <p:nvPr/>
        </p:nvSpPr>
        <p:spPr>
          <a:xfrm>
            <a:off x="8229600" y="2130552"/>
            <a:ext cx="1865376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Pilot-Fokus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29" name="Table cell 29"/>
          <p:cNvSpPr/>
          <p:nvPr/>
        </p:nvSpPr>
        <p:spPr>
          <a:xfrm>
            <a:off x="749808" y="2487168"/>
            <a:ext cx="1920240" cy="457200"/>
          </a:xfrm>
          <a:prstGeom prst="rect">
            <a:avLst/>
          </a:prstGeom>
          <a:solidFill>
            <a:srgbClr val="FFFFFF"/>
          </a:solidFill>
          <a:ln w="4445">
            <a:solidFill>
              <a:srgbClr val="E8E8EC"/>
            </a:solidFill>
          </a:ln>
        </p:spPr>
        <p:style/>
      </p:sp>
      <p:sp>
        <p:nvSpPr>
          <p:cNvPr id="30" name="Text 30"/>
          <p:cNvSpPr txBox="1"/>
          <p:nvPr/>
        </p:nvSpPr>
        <p:spPr>
          <a:xfrm>
            <a:off x="822960" y="2587752"/>
            <a:ext cx="1773936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0A0A0F"/>
                </a:solidFill>
                <a:latin typeface="Helvetica"/>
              </a:rPr>
              <a:t>Stationaere Pflege</a:t>
            </a:r>
            <a:endParaRPr lang="de-DE" sz="76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31" name="Table cell 31"/>
          <p:cNvSpPr/>
          <p:nvPr/>
        </p:nvSpPr>
        <p:spPr>
          <a:xfrm>
            <a:off x="2670048" y="2487168"/>
            <a:ext cx="1280160" cy="457200"/>
          </a:xfrm>
          <a:prstGeom prst="rect">
            <a:avLst/>
          </a:prstGeom>
          <a:solidFill>
            <a:srgbClr val="FFFFFF"/>
          </a:solidFill>
          <a:ln w="4445">
            <a:solidFill>
              <a:srgbClr val="E8E8EC"/>
            </a:solidFill>
          </a:ln>
        </p:spPr>
        <p:style/>
      </p:sp>
      <p:sp>
        <p:nvSpPr>
          <p:cNvPr id="32" name="Text 32"/>
          <p:cNvSpPr txBox="1"/>
          <p:nvPr/>
        </p:nvSpPr>
        <p:spPr>
          <a:xfrm>
            <a:off x="2743200" y="2587752"/>
            <a:ext cx="1133856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hoch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33" name="Table cell 33"/>
          <p:cNvSpPr/>
          <p:nvPr/>
        </p:nvSpPr>
        <p:spPr>
          <a:xfrm>
            <a:off x="3950208" y="2487168"/>
            <a:ext cx="1371600" cy="457200"/>
          </a:xfrm>
          <a:prstGeom prst="rect">
            <a:avLst/>
          </a:prstGeom>
          <a:solidFill>
            <a:srgbClr val="FFFFFF"/>
          </a:solidFill>
          <a:ln w="4445">
            <a:solidFill>
              <a:srgbClr val="E8E8EC"/>
            </a:solidFill>
          </a:ln>
        </p:spPr>
        <p:style/>
      </p:sp>
      <p:sp>
        <p:nvSpPr>
          <p:cNvPr id="34" name="Text 34"/>
          <p:cNvSpPr txBox="1"/>
          <p:nvPr/>
        </p:nvSpPr>
        <p:spPr>
          <a:xfrm>
            <a:off x="4023360" y="2587752"/>
            <a:ext cx="1225296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hoch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35" name="Table cell 35"/>
          <p:cNvSpPr/>
          <p:nvPr/>
        </p:nvSpPr>
        <p:spPr>
          <a:xfrm>
            <a:off x="5321808" y="2487168"/>
            <a:ext cx="1371600" cy="457200"/>
          </a:xfrm>
          <a:prstGeom prst="rect">
            <a:avLst/>
          </a:prstGeom>
          <a:solidFill>
            <a:srgbClr val="FFFFFF"/>
          </a:solidFill>
          <a:ln w="4445">
            <a:solidFill>
              <a:srgbClr val="E8E8EC"/>
            </a:solidFill>
          </a:ln>
        </p:spPr>
        <p:style/>
      </p:sp>
      <p:sp>
        <p:nvSpPr>
          <p:cNvPr id="36" name="Text 36"/>
          <p:cNvSpPr txBox="1"/>
          <p:nvPr/>
        </p:nvSpPr>
        <p:spPr>
          <a:xfrm>
            <a:off x="5394960" y="2587752"/>
            <a:ext cx="1225296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mittel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37" name="Table cell 37"/>
          <p:cNvSpPr/>
          <p:nvPr/>
        </p:nvSpPr>
        <p:spPr>
          <a:xfrm>
            <a:off x="6693408" y="2487168"/>
            <a:ext cx="1463040" cy="457200"/>
          </a:xfrm>
          <a:prstGeom prst="rect">
            <a:avLst/>
          </a:prstGeom>
          <a:solidFill>
            <a:srgbClr val="FFFFFF"/>
          </a:solidFill>
          <a:ln w="4445">
            <a:solidFill>
              <a:srgbClr val="E8E8EC"/>
            </a:solidFill>
          </a:ln>
        </p:spPr>
        <p:style/>
      </p:sp>
      <p:sp>
        <p:nvSpPr>
          <p:cNvPr id="38" name="Text 38"/>
          <p:cNvSpPr txBox="1"/>
          <p:nvPr/>
        </p:nvSpPr>
        <p:spPr>
          <a:xfrm>
            <a:off x="6766560" y="2587752"/>
            <a:ext cx="1316736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mittel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39" name="Table cell 39"/>
          <p:cNvSpPr/>
          <p:nvPr/>
        </p:nvSpPr>
        <p:spPr>
          <a:xfrm>
            <a:off x="8156448" y="2487168"/>
            <a:ext cx="2011680" cy="457200"/>
          </a:xfrm>
          <a:prstGeom prst="rect">
            <a:avLst/>
          </a:prstGeom>
          <a:solidFill>
            <a:srgbClr val="FFFFFF"/>
          </a:solidFill>
          <a:ln w="4445">
            <a:solidFill>
              <a:srgbClr val="E8E8EC"/>
            </a:solidFill>
          </a:ln>
        </p:spPr>
        <p:style/>
      </p:sp>
      <p:sp>
        <p:nvSpPr>
          <p:cNvPr id="40" name="Text 40"/>
          <p:cNvSpPr txBox="1"/>
          <p:nvPr/>
        </p:nvSpPr>
        <p:spPr>
          <a:xfrm>
            <a:off x="8229600" y="2587752"/>
            <a:ext cx="1865376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Expansion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41" name="Table cell 41"/>
          <p:cNvSpPr/>
          <p:nvPr/>
        </p:nvSpPr>
        <p:spPr>
          <a:xfrm>
            <a:off x="749808" y="2944368"/>
            <a:ext cx="1920240" cy="457200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42" name="Text 42"/>
          <p:cNvSpPr txBox="1"/>
          <p:nvPr/>
        </p:nvSpPr>
        <p:spPr>
          <a:xfrm>
            <a:off x="822960" y="3044952"/>
            <a:ext cx="1773936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0A0A0F"/>
                </a:solidFill>
                <a:latin typeface="Helvetica"/>
              </a:rPr>
              <a:t>Praxen</a:t>
            </a:r>
            <a:endParaRPr lang="de-DE" sz="76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43" name="Table cell 43"/>
          <p:cNvSpPr/>
          <p:nvPr/>
        </p:nvSpPr>
        <p:spPr>
          <a:xfrm>
            <a:off x="2670048" y="2944368"/>
            <a:ext cx="1280160" cy="457200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44" name="Text 44"/>
          <p:cNvSpPr txBox="1"/>
          <p:nvPr/>
        </p:nvSpPr>
        <p:spPr>
          <a:xfrm>
            <a:off x="2743200" y="3044952"/>
            <a:ext cx="1133856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mittel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45" name="Table cell 45"/>
          <p:cNvSpPr/>
          <p:nvPr/>
        </p:nvSpPr>
        <p:spPr>
          <a:xfrm>
            <a:off x="3950208" y="2944368"/>
            <a:ext cx="1371600" cy="457200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46" name="Text 46"/>
          <p:cNvSpPr txBox="1"/>
          <p:nvPr/>
        </p:nvSpPr>
        <p:spPr>
          <a:xfrm>
            <a:off x="4023360" y="3044952"/>
            <a:ext cx="1225296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mittel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47" name="Table cell 47"/>
          <p:cNvSpPr/>
          <p:nvPr/>
        </p:nvSpPr>
        <p:spPr>
          <a:xfrm>
            <a:off x="5321808" y="2944368"/>
            <a:ext cx="1371600" cy="457200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48" name="Text 48"/>
          <p:cNvSpPr txBox="1"/>
          <p:nvPr/>
        </p:nvSpPr>
        <p:spPr>
          <a:xfrm>
            <a:off x="5394960" y="3044952"/>
            <a:ext cx="1225296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hoch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49" name="Table cell 49"/>
          <p:cNvSpPr/>
          <p:nvPr/>
        </p:nvSpPr>
        <p:spPr>
          <a:xfrm>
            <a:off x="6693408" y="2944368"/>
            <a:ext cx="1463040" cy="457200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50" name="Text 50"/>
          <p:cNvSpPr txBox="1"/>
          <p:nvPr/>
        </p:nvSpPr>
        <p:spPr>
          <a:xfrm>
            <a:off x="6766560" y="3044952"/>
            <a:ext cx="1316736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kurz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51" name="Table cell 51"/>
          <p:cNvSpPr/>
          <p:nvPr/>
        </p:nvSpPr>
        <p:spPr>
          <a:xfrm>
            <a:off x="8156448" y="2944368"/>
            <a:ext cx="2011680" cy="457200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52" name="Text 52"/>
          <p:cNvSpPr txBox="1"/>
          <p:nvPr/>
        </p:nvSpPr>
        <p:spPr>
          <a:xfrm>
            <a:off x="8229600" y="3044952"/>
            <a:ext cx="1865376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Low-touch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53" name="Table cell 53"/>
          <p:cNvSpPr/>
          <p:nvPr/>
        </p:nvSpPr>
        <p:spPr>
          <a:xfrm>
            <a:off x="749808" y="3401568"/>
            <a:ext cx="1920240" cy="457200"/>
          </a:xfrm>
          <a:prstGeom prst="rect">
            <a:avLst/>
          </a:prstGeom>
          <a:solidFill>
            <a:srgbClr val="FFFFFF"/>
          </a:solidFill>
          <a:ln w="4445">
            <a:solidFill>
              <a:srgbClr val="E8E8EC"/>
            </a:solidFill>
          </a:ln>
        </p:spPr>
        <p:style/>
      </p:sp>
      <p:sp>
        <p:nvSpPr>
          <p:cNvPr id="54" name="Text 54"/>
          <p:cNvSpPr txBox="1"/>
          <p:nvPr/>
        </p:nvSpPr>
        <p:spPr>
          <a:xfrm>
            <a:off x="822960" y="3502152"/>
            <a:ext cx="1773936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0A0A0F"/>
                </a:solidFill>
                <a:latin typeface="Helvetica"/>
              </a:rPr>
              <a:t>Kliniken</a:t>
            </a:r>
            <a:endParaRPr lang="de-DE" sz="76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55" name="Table cell 55"/>
          <p:cNvSpPr/>
          <p:nvPr/>
        </p:nvSpPr>
        <p:spPr>
          <a:xfrm>
            <a:off x="2670048" y="3401568"/>
            <a:ext cx="1280160" cy="457200"/>
          </a:xfrm>
          <a:prstGeom prst="rect">
            <a:avLst/>
          </a:prstGeom>
          <a:solidFill>
            <a:srgbClr val="FFFFFF"/>
          </a:solidFill>
          <a:ln w="4445">
            <a:solidFill>
              <a:srgbClr val="E8E8EC"/>
            </a:solidFill>
          </a:ln>
        </p:spPr>
        <p:style/>
      </p:sp>
      <p:sp>
        <p:nvSpPr>
          <p:cNvPr id="56" name="Text 56"/>
          <p:cNvSpPr txBox="1"/>
          <p:nvPr/>
        </p:nvSpPr>
        <p:spPr>
          <a:xfrm>
            <a:off x="2743200" y="3502152"/>
            <a:ext cx="1133856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hoch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57" name="Table cell 57"/>
          <p:cNvSpPr/>
          <p:nvPr/>
        </p:nvSpPr>
        <p:spPr>
          <a:xfrm>
            <a:off x="3950208" y="3401568"/>
            <a:ext cx="1371600" cy="457200"/>
          </a:xfrm>
          <a:prstGeom prst="rect">
            <a:avLst/>
          </a:prstGeom>
          <a:solidFill>
            <a:srgbClr val="FFFFFF"/>
          </a:solidFill>
          <a:ln w="4445">
            <a:solidFill>
              <a:srgbClr val="E8E8EC"/>
            </a:solidFill>
          </a:ln>
        </p:spPr>
        <p:style/>
      </p:sp>
      <p:sp>
        <p:nvSpPr>
          <p:cNvPr id="58" name="Text 58"/>
          <p:cNvSpPr txBox="1"/>
          <p:nvPr/>
        </p:nvSpPr>
        <p:spPr>
          <a:xfrm>
            <a:off x="4023360" y="3502152"/>
            <a:ext cx="1225296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hoch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59" name="Table cell 59"/>
          <p:cNvSpPr/>
          <p:nvPr/>
        </p:nvSpPr>
        <p:spPr>
          <a:xfrm>
            <a:off x="5321808" y="3401568"/>
            <a:ext cx="1371600" cy="457200"/>
          </a:xfrm>
          <a:prstGeom prst="rect">
            <a:avLst/>
          </a:prstGeom>
          <a:solidFill>
            <a:srgbClr val="FFFFFF"/>
          </a:solidFill>
          <a:ln w="4445">
            <a:solidFill>
              <a:srgbClr val="E8E8EC"/>
            </a:solidFill>
          </a:ln>
        </p:spPr>
        <p:style/>
      </p:sp>
      <p:sp>
        <p:nvSpPr>
          <p:cNvPr id="60" name="Text 60"/>
          <p:cNvSpPr txBox="1"/>
          <p:nvPr/>
        </p:nvSpPr>
        <p:spPr>
          <a:xfrm>
            <a:off x="5394960" y="3502152"/>
            <a:ext cx="1225296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niedrig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61" name="Table cell 61"/>
          <p:cNvSpPr/>
          <p:nvPr/>
        </p:nvSpPr>
        <p:spPr>
          <a:xfrm>
            <a:off x="6693408" y="3401568"/>
            <a:ext cx="1463040" cy="457200"/>
          </a:xfrm>
          <a:prstGeom prst="rect">
            <a:avLst/>
          </a:prstGeom>
          <a:solidFill>
            <a:srgbClr val="FFFFFF"/>
          </a:solidFill>
          <a:ln w="4445">
            <a:solidFill>
              <a:srgbClr val="E8E8EC"/>
            </a:solidFill>
          </a:ln>
        </p:spPr>
        <p:style/>
      </p:sp>
      <p:sp>
        <p:nvSpPr>
          <p:cNvPr id="62" name="Text 62"/>
          <p:cNvSpPr txBox="1"/>
          <p:nvPr/>
        </p:nvSpPr>
        <p:spPr>
          <a:xfrm>
            <a:off x="6766560" y="3502152"/>
            <a:ext cx="1316736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lang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63" name="Table cell 63"/>
          <p:cNvSpPr/>
          <p:nvPr/>
        </p:nvSpPr>
        <p:spPr>
          <a:xfrm>
            <a:off x="8156448" y="3401568"/>
            <a:ext cx="2011680" cy="457200"/>
          </a:xfrm>
          <a:prstGeom prst="rect">
            <a:avLst/>
          </a:prstGeom>
          <a:solidFill>
            <a:srgbClr val="FFFFFF"/>
          </a:solidFill>
          <a:ln w="4445">
            <a:solidFill>
              <a:srgbClr val="E8E8EC"/>
            </a:solidFill>
          </a:ln>
        </p:spPr>
        <p:style/>
      </p:sp>
      <p:sp>
        <p:nvSpPr>
          <p:cNvPr id="64" name="Text 64"/>
          <p:cNvSpPr txBox="1"/>
          <p:nvPr/>
        </p:nvSpPr>
        <p:spPr>
          <a:xfrm>
            <a:off x="8229600" y="3502152"/>
            <a:ext cx="1865376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Enterprise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65" name="Table cell 65"/>
          <p:cNvSpPr/>
          <p:nvPr/>
        </p:nvSpPr>
        <p:spPr>
          <a:xfrm>
            <a:off x="749808" y="3858768"/>
            <a:ext cx="1920240" cy="457200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66" name="Text 66"/>
          <p:cNvSpPr txBox="1"/>
          <p:nvPr/>
        </p:nvSpPr>
        <p:spPr>
          <a:xfrm>
            <a:off x="822960" y="3959352"/>
            <a:ext cx="1773936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0A0A0F"/>
                </a:solidFill>
                <a:latin typeface="Helvetica"/>
              </a:rPr>
              <a:t>Versorgungstraeger</a:t>
            </a:r>
            <a:endParaRPr lang="de-DE" sz="76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67" name="Table cell 67"/>
          <p:cNvSpPr/>
          <p:nvPr/>
        </p:nvSpPr>
        <p:spPr>
          <a:xfrm>
            <a:off x="2670048" y="3858768"/>
            <a:ext cx="1280160" cy="457200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68" name="Text 68"/>
          <p:cNvSpPr txBox="1"/>
          <p:nvPr/>
        </p:nvSpPr>
        <p:spPr>
          <a:xfrm>
            <a:off x="2743200" y="3959352"/>
            <a:ext cx="1133856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mittel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69" name="Table cell 69"/>
          <p:cNvSpPr/>
          <p:nvPr/>
        </p:nvSpPr>
        <p:spPr>
          <a:xfrm>
            <a:off x="3950208" y="3858768"/>
            <a:ext cx="1371600" cy="457200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70" name="Text 70"/>
          <p:cNvSpPr txBox="1"/>
          <p:nvPr/>
        </p:nvSpPr>
        <p:spPr>
          <a:xfrm>
            <a:off x="4023360" y="3959352"/>
            <a:ext cx="1225296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hoch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71" name="Table cell 71"/>
          <p:cNvSpPr/>
          <p:nvPr/>
        </p:nvSpPr>
        <p:spPr>
          <a:xfrm>
            <a:off x="5321808" y="3858768"/>
            <a:ext cx="1371600" cy="457200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72" name="Text 72"/>
          <p:cNvSpPr txBox="1"/>
          <p:nvPr/>
        </p:nvSpPr>
        <p:spPr>
          <a:xfrm>
            <a:off x="5394960" y="3959352"/>
            <a:ext cx="1225296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mittel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73" name="Table cell 73"/>
          <p:cNvSpPr/>
          <p:nvPr/>
        </p:nvSpPr>
        <p:spPr>
          <a:xfrm>
            <a:off x="6693408" y="3858768"/>
            <a:ext cx="1463040" cy="457200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74" name="Text 74"/>
          <p:cNvSpPr txBox="1"/>
          <p:nvPr/>
        </p:nvSpPr>
        <p:spPr>
          <a:xfrm>
            <a:off x="6766560" y="3959352"/>
            <a:ext cx="1316736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mittel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75" name="Table cell 75"/>
          <p:cNvSpPr/>
          <p:nvPr/>
        </p:nvSpPr>
        <p:spPr>
          <a:xfrm>
            <a:off x="8156448" y="3858768"/>
            <a:ext cx="2011680" cy="457200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76" name="Text 76"/>
          <p:cNvSpPr txBox="1"/>
          <p:nvPr/>
        </p:nvSpPr>
        <p:spPr>
          <a:xfrm>
            <a:off x="8229600" y="3959352"/>
            <a:ext cx="1865376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Partner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77" name="Table cell 77"/>
          <p:cNvSpPr/>
          <p:nvPr/>
        </p:nvSpPr>
        <p:spPr>
          <a:xfrm>
            <a:off x="749808" y="4315968"/>
            <a:ext cx="1920240" cy="457200"/>
          </a:xfrm>
          <a:prstGeom prst="rect">
            <a:avLst/>
          </a:prstGeom>
          <a:solidFill>
            <a:srgbClr val="FFFFFF"/>
          </a:solidFill>
          <a:ln w="4445">
            <a:solidFill>
              <a:srgbClr val="E8E8EC"/>
            </a:solidFill>
          </a:ln>
        </p:spPr>
        <p:style/>
      </p:sp>
      <p:sp>
        <p:nvSpPr>
          <p:cNvPr id="78" name="Text 78"/>
          <p:cNvSpPr txBox="1"/>
          <p:nvPr/>
        </p:nvSpPr>
        <p:spPr>
          <a:xfrm>
            <a:off x="822960" y="4416552"/>
            <a:ext cx="1773936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0A0A0F"/>
                </a:solidFill>
                <a:latin typeface="Helvetica"/>
              </a:rPr>
              <a:t>Spezialanbieter</a:t>
            </a:r>
            <a:endParaRPr lang="de-DE" sz="76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79" name="Table cell 79"/>
          <p:cNvSpPr/>
          <p:nvPr/>
        </p:nvSpPr>
        <p:spPr>
          <a:xfrm>
            <a:off x="2670048" y="4315968"/>
            <a:ext cx="1280160" cy="457200"/>
          </a:xfrm>
          <a:prstGeom prst="rect">
            <a:avLst/>
          </a:prstGeom>
          <a:solidFill>
            <a:srgbClr val="FFFFFF"/>
          </a:solidFill>
          <a:ln w="4445">
            <a:solidFill>
              <a:srgbClr val="E8E8EC"/>
            </a:solidFill>
          </a:ln>
        </p:spPr>
        <p:style/>
      </p:sp>
      <p:sp>
        <p:nvSpPr>
          <p:cNvPr id="80" name="Text 80"/>
          <p:cNvSpPr txBox="1"/>
          <p:nvPr/>
        </p:nvSpPr>
        <p:spPr>
          <a:xfrm>
            <a:off x="2743200" y="4416552"/>
            <a:ext cx="1133856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niedrig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81" name="Table cell 81"/>
          <p:cNvSpPr/>
          <p:nvPr/>
        </p:nvSpPr>
        <p:spPr>
          <a:xfrm>
            <a:off x="3950208" y="4315968"/>
            <a:ext cx="1371600" cy="457200"/>
          </a:xfrm>
          <a:prstGeom prst="rect">
            <a:avLst/>
          </a:prstGeom>
          <a:solidFill>
            <a:srgbClr val="FFFFFF"/>
          </a:solidFill>
          <a:ln w="4445">
            <a:solidFill>
              <a:srgbClr val="E8E8EC"/>
            </a:solidFill>
          </a:ln>
        </p:spPr>
        <p:style/>
      </p:sp>
      <p:sp>
        <p:nvSpPr>
          <p:cNvPr id="82" name="Text 82"/>
          <p:cNvSpPr txBox="1"/>
          <p:nvPr/>
        </p:nvSpPr>
        <p:spPr>
          <a:xfrm>
            <a:off x="4023360" y="4416552"/>
            <a:ext cx="1225296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mittel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83" name="Table cell 83"/>
          <p:cNvSpPr/>
          <p:nvPr/>
        </p:nvSpPr>
        <p:spPr>
          <a:xfrm>
            <a:off x="5321808" y="4315968"/>
            <a:ext cx="1371600" cy="457200"/>
          </a:xfrm>
          <a:prstGeom prst="rect">
            <a:avLst/>
          </a:prstGeom>
          <a:solidFill>
            <a:srgbClr val="FFFFFF"/>
          </a:solidFill>
          <a:ln w="4445">
            <a:solidFill>
              <a:srgbClr val="E8E8EC"/>
            </a:solidFill>
          </a:ln>
        </p:spPr>
        <p:style/>
      </p:sp>
      <p:sp>
        <p:nvSpPr>
          <p:cNvPr id="84" name="Text 84"/>
          <p:cNvSpPr txBox="1"/>
          <p:nvPr/>
        </p:nvSpPr>
        <p:spPr>
          <a:xfrm>
            <a:off x="5394960" y="4416552"/>
            <a:ext cx="1225296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hoch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85" name="Table cell 85"/>
          <p:cNvSpPr/>
          <p:nvPr/>
        </p:nvSpPr>
        <p:spPr>
          <a:xfrm>
            <a:off x="6693408" y="4315968"/>
            <a:ext cx="1463040" cy="457200"/>
          </a:xfrm>
          <a:prstGeom prst="rect">
            <a:avLst/>
          </a:prstGeom>
          <a:solidFill>
            <a:srgbClr val="FFFFFF"/>
          </a:solidFill>
          <a:ln w="4445">
            <a:solidFill>
              <a:srgbClr val="E8E8EC"/>
            </a:solidFill>
          </a:ln>
        </p:spPr>
        <p:style/>
      </p:sp>
      <p:sp>
        <p:nvSpPr>
          <p:cNvPr id="86" name="Text 86"/>
          <p:cNvSpPr txBox="1"/>
          <p:nvPr/>
        </p:nvSpPr>
        <p:spPr>
          <a:xfrm>
            <a:off x="6766560" y="4416552"/>
            <a:ext cx="1316736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kurz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87" name="Table cell 87"/>
          <p:cNvSpPr/>
          <p:nvPr/>
        </p:nvSpPr>
        <p:spPr>
          <a:xfrm>
            <a:off x="8156448" y="4315968"/>
            <a:ext cx="2011680" cy="457200"/>
          </a:xfrm>
          <a:prstGeom prst="rect">
            <a:avLst/>
          </a:prstGeom>
          <a:solidFill>
            <a:srgbClr val="FFFFFF"/>
          </a:solidFill>
          <a:ln w="4445">
            <a:solidFill>
              <a:srgbClr val="E8E8EC"/>
            </a:solidFill>
          </a:ln>
        </p:spPr>
        <p:style/>
      </p:sp>
      <p:sp>
        <p:nvSpPr>
          <p:cNvPr id="88" name="Text 88"/>
          <p:cNvSpPr txBox="1"/>
          <p:nvPr/>
        </p:nvSpPr>
        <p:spPr>
          <a:xfrm>
            <a:off x="8229600" y="4416552"/>
            <a:ext cx="1865376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Selektiv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etitive Landscap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EVO accent bar 2"/>
          <p:cNvSpPr/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3" name="Text 3"/>
          <p:cNvSpPr txBox="1"/>
          <p:nvPr/>
        </p:nvSpPr>
        <p:spPr>
          <a:xfrm>
            <a:off x="566928" y="292608"/>
            <a:ext cx="429768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50" b="1" dirty="0">
                <a:solidFill>
                  <a:srgbClr val="9B9BA8"/>
                </a:solidFill>
                <a:latin typeface="Courier"/>
              </a:rPr>
              <a:t>WETTBEWERB</a:t>
            </a:r>
            <a:endParaRPr lang="de-DE" sz="75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4" name="Header rule 4"/>
          <p:cNvSpPr/>
          <p:nvPr/>
        </p:nvSpPr>
        <p:spPr>
          <a:xfrm>
            <a:off x="566928" y="658368"/>
            <a:ext cx="11045952" cy="5486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/>
      </p:sp>
      <p:sp>
        <p:nvSpPr>
          <p:cNvPr id="5" name="Text 5"/>
          <p:cNvSpPr txBox="1"/>
          <p:nvPr/>
        </p:nvSpPr>
        <p:spPr>
          <a:xfrm>
            <a:off x="566928" y="804672"/>
            <a:ext cx="10058400" cy="53035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2400" b="1" dirty="0">
                <a:solidFill>
                  <a:srgbClr val="0A0A0F"/>
                </a:solidFill>
                <a:latin typeface="Helvetica"/>
              </a:rPr>
              <a:t>CAREVO differenziert ueber Workflow-Verantwortung, nicht ueber einzelne AI-Features</a:t>
            </a:r>
            <a:endParaRPr lang="de-DE" sz="24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6" name="Footer rule 6"/>
          <p:cNvSpPr/>
          <p:nvPr/>
        </p:nvSpPr>
        <p:spPr>
          <a:xfrm>
            <a:off x="566928" y="6419088"/>
            <a:ext cx="11045952" cy="5486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/>
      </p:sp>
      <p:sp>
        <p:nvSpPr>
          <p:cNvPr id="7" name="Text 7"/>
          <p:cNvSpPr txBox="1"/>
          <p:nvPr/>
        </p:nvSpPr>
        <p:spPr>
          <a:xfrm>
            <a:off x="566928" y="6510528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680" dirty="0">
                <a:solidFill>
                  <a:srgbClr val="9B9BA8"/>
                </a:solidFill>
                <a:latin typeface="Courier"/>
              </a:rPr>
              <a:t>CAREVO VC / CONSULTING TEMPLATE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8" name="Text 8"/>
          <p:cNvSpPr txBox="1"/>
          <p:nvPr/>
        </p:nvSpPr>
        <p:spPr>
          <a:xfrm>
            <a:off x="4572000" y="6510528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680" dirty="0">
                <a:solidFill>
                  <a:srgbClr val="9B9BA8"/>
                </a:solidFill>
                <a:latin typeface="Courier"/>
              </a:rPr>
              <a:t>CONFIDENTIAL - TEMPLATE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9" name="Text 9"/>
          <p:cNvSpPr txBox="1"/>
          <p:nvPr/>
        </p:nvSpPr>
        <p:spPr>
          <a:xfrm>
            <a:off x="11018520" y="6510528"/>
            <a:ext cx="59436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r"/>
            <a:r>
              <a:rPr lang="de-DE" sz="680" dirty="0">
                <a:solidFill>
                  <a:srgbClr val="9B9BA8"/>
                </a:solidFill>
                <a:latin typeface="Courier"/>
              </a:rPr>
              <a:t>15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10" name="Table header 10"/>
          <p:cNvSpPr/>
          <p:nvPr/>
        </p:nvSpPr>
        <p:spPr>
          <a:xfrm>
            <a:off x="749808" y="1572768"/>
            <a:ext cx="9829800" cy="438912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/>
      </p:sp>
      <p:sp>
        <p:nvSpPr>
          <p:cNvPr id="11" name="Text 11"/>
          <p:cNvSpPr txBox="1"/>
          <p:nvPr/>
        </p:nvSpPr>
        <p:spPr>
          <a:xfrm>
            <a:off x="822960" y="1664208"/>
            <a:ext cx="1819656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40" b="1" dirty="0">
                <a:solidFill>
                  <a:srgbClr val="FFFFFF"/>
                </a:solidFill>
                <a:latin typeface="Courier"/>
              </a:rPr>
              <a:t>Anbieter-Typ</a:t>
            </a:r>
            <a:endParaRPr lang="de-DE" sz="740" dirty="0">
              <a:solidFill>
                <a:srgbClr val="FFFFFF"/>
              </a:solidFill>
              <a:latin typeface="Courier"/>
            </a:endParaRPr>
          </a:p>
        </p:txBody>
      </p:sp>
      <p:sp>
        <p:nvSpPr>
          <p:cNvPr id="12" name="Text 12"/>
          <p:cNvSpPr txBox="1"/>
          <p:nvPr/>
        </p:nvSpPr>
        <p:spPr>
          <a:xfrm>
            <a:off x="2788920" y="1664208"/>
            <a:ext cx="1865376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40" b="1" dirty="0">
                <a:solidFill>
                  <a:srgbClr val="FFFFFF"/>
                </a:solidFill>
                <a:latin typeface="Courier"/>
              </a:rPr>
              <a:t>AI Draft</a:t>
            </a:r>
            <a:endParaRPr lang="de-DE" sz="740" dirty="0">
              <a:solidFill>
                <a:srgbClr val="FFFFFF"/>
              </a:solidFill>
              <a:latin typeface="Courier"/>
            </a:endParaRPr>
          </a:p>
        </p:txBody>
      </p:sp>
      <p:sp>
        <p:nvSpPr>
          <p:cNvPr id="13" name="Text 13"/>
          <p:cNvSpPr txBox="1"/>
          <p:nvPr/>
        </p:nvSpPr>
        <p:spPr>
          <a:xfrm>
            <a:off x="4800600" y="1664208"/>
            <a:ext cx="1865376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40" b="1" dirty="0">
                <a:solidFill>
                  <a:srgbClr val="FFFFFF"/>
                </a:solidFill>
                <a:latin typeface="Courier"/>
              </a:rPr>
              <a:t>Workflow</a:t>
            </a:r>
            <a:endParaRPr lang="de-DE" sz="740" dirty="0">
              <a:solidFill>
                <a:srgbClr val="FFFFFF"/>
              </a:solidFill>
              <a:latin typeface="Courier"/>
            </a:endParaRPr>
          </a:p>
        </p:txBody>
      </p:sp>
      <p:sp>
        <p:nvSpPr>
          <p:cNvPr id="14" name="Text 14"/>
          <p:cNvSpPr txBox="1"/>
          <p:nvPr/>
        </p:nvSpPr>
        <p:spPr>
          <a:xfrm>
            <a:off x="6812280" y="1664208"/>
            <a:ext cx="1865376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40" b="1" dirty="0">
                <a:solidFill>
                  <a:srgbClr val="FFFFFF"/>
                </a:solidFill>
                <a:latin typeface="Courier"/>
              </a:rPr>
              <a:t>Reviewbarkeit</a:t>
            </a:r>
            <a:endParaRPr lang="de-DE" sz="740" dirty="0">
              <a:solidFill>
                <a:srgbClr val="FFFFFF"/>
              </a:solidFill>
              <a:latin typeface="Courier"/>
            </a:endParaRPr>
          </a:p>
        </p:txBody>
      </p:sp>
      <p:sp>
        <p:nvSpPr>
          <p:cNvPr id="15" name="Text 15"/>
          <p:cNvSpPr txBox="1"/>
          <p:nvPr/>
        </p:nvSpPr>
        <p:spPr>
          <a:xfrm>
            <a:off x="8823960" y="1664208"/>
            <a:ext cx="1682496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40" b="1" dirty="0">
                <a:solidFill>
                  <a:srgbClr val="FFFFFF"/>
                </a:solidFill>
                <a:latin typeface="Courier"/>
              </a:rPr>
              <a:t>CAREVO Vorteil</a:t>
            </a:r>
            <a:endParaRPr lang="de-DE" sz="740" dirty="0">
              <a:solidFill>
                <a:srgbClr val="FFFFFF"/>
              </a:solidFill>
              <a:latin typeface="Courier"/>
            </a:endParaRPr>
          </a:p>
        </p:txBody>
      </p:sp>
      <p:sp>
        <p:nvSpPr>
          <p:cNvPr id="16" name="Table cell 16"/>
          <p:cNvSpPr/>
          <p:nvPr/>
        </p:nvSpPr>
        <p:spPr>
          <a:xfrm>
            <a:off x="749808" y="2011680"/>
            <a:ext cx="1965960" cy="438912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17" name="Text 17"/>
          <p:cNvSpPr txBox="1"/>
          <p:nvPr/>
        </p:nvSpPr>
        <p:spPr>
          <a:xfrm>
            <a:off x="822960" y="2112264"/>
            <a:ext cx="1819656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0A0A0F"/>
                </a:solidFill>
                <a:latin typeface="Helvetica"/>
              </a:rPr>
              <a:t>Manuelle Doku</a:t>
            </a:r>
            <a:endParaRPr lang="de-DE" sz="76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18" name="Table cell 18"/>
          <p:cNvSpPr/>
          <p:nvPr/>
        </p:nvSpPr>
        <p:spPr>
          <a:xfrm>
            <a:off x="2715768" y="2011680"/>
            <a:ext cx="2011680" cy="438912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19" name="Text 19"/>
          <p:cNvSpPr txBox="1"/>
          <p:nvPr/>
        </p:nvSpPr>
        <p:spPr>
          <a:xfrm>
            <a:off x="2788920" y="2112264"/>
            <a:ext cx="1865376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nein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20" name="Table cell 20"/>
          <p:cNvSpPr/>
          <p:nvPr/>
        </p:nvSpPr>
        <p:spPr>
          <a:xfrm>
            <a:off x="4727448" y="2011680"/>
            <a:ext cx="2011680" cy="438912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21" name="Text 21"/>
          <p:cNvSpPr txBox="1"/>
          <p:nvPr/>
        </p:nvSpPr>
        <p:spPr>
          <a:xfrm>
            <a:off x="4800600" y="2112264"/>
            <a:ext cx="1865376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fragmentiert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22" name="Table cell 22"/>
          <p:cNvSpPr/>
          <p:nvPr/>
        </p:nvSpPr>
        <p:spPr>
          <a:xfrm>
            <a:off x="6739128" y="2011680"/>
            <a:ext cx="2011680" cy="438912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23" name="Text 23"/>
          <p:cNvSpPr txBox="1"/>
          <p:nvPr/>
        </p:nvSpPr>
        <p:spPr>
          <a:xfrm>
            <a:off x="6812280" y="2112264"/>
            <a:ext cx="1865376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hoch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24" name="Table cell 24"/>
          <p:cNvSpPr/>
          <p:nvPr/>
        </p:nvSpPr>
        <p:spPr>
          <a:xfrm>
            <a:off x="8750808" y="2011680"/>
            <a:ext cx="1828800" cy="438912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25" name="Text 25"/>
          <p:cNvSpPr txBox="1"/>
          <p:nvPr/>
        </p:nvSpPr>
        <p:spPr>
          <a:xfrm>
            <a:off x="8823960" y="2112264"/>
            <a:ext cx="1682496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Zeithebel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26" name="Table cell 26"/>
          <p:cNvSpPr/>
          <p:nvPr/>
        </p:nvSpPr>
        <p:spPr>
          <a:xfrm>
            <a:off x="749808" y="2450592"/>
            <a:ext cx="1965960" cy="438912"/>
          </a:xfrm>
          <a:prstGeom prst="rect">
            <a:avLst/>
          </a:prstGeom>
          <a:solidFill>
            <a:srgbClr val="FFFFFF"/>
          </a:solidFill>
          <a:ln w="4445">
            <a:solidFill>
              <a:srgbClr val="E8E8EC"/>
            </a:solidFill>
          </a:ln>
        </p:spPr>
        <p:style/>
      </p:sp>
      <p:sp>
        <p:nvSpPr>
          <p:cNvPr id="27" name="Text 27"/>
          <p:cNvSpPr txBox="1"/>
          <p:nvPr/>
        </p:nvSpPr>
        <p:spPr>
          <a:xfrm>
            <a:off x="822960" y="2551176"/>
            <a:ext cx="1819656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0A0A0F"/>
                </a:solidFill>
                <a:latin typeface="Helvetica"/>
              </a:rPr>
              <a:t>Diktat-Tools</a:t>
            </a:r>
            <a:endParaRPr lang="de-DE" sz="76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28" name="Table cell 28"/>
          <p:cNvSpPr/>
          <p:nvPr/>
        </p:nvSpPr>
        <p:spPr>
          <a:xfrm>
            <a:off x="2715768" y="2450592"/>
            <a:ext cx="2011680" cy="438912"/>
          </a:xfrm>
          <a:prstGeom prst="rect">
            <a:avLst/>
          </a:prstGeom>
          <a:solidFill>
            <a:srgbClr val="FFFFFF"/>
          </a:solidFill>
          <a:ln w="4445">
            <a:solidFill>
              <a:srgbClr val="E8E8EC"/>
            </a:solidFill>
          </a:ln>
        </p:spPr>
        <p:style/>
      </p:sp>
      <p:sp>
        <p:nvSpPr>
          <p:cNvPr id="29" name="Text 29"/>
          <p:cNvSpPr txBox="1"/>
          <p:nvPr/>
        </p:nvSpPr>
        <p:spPr>
          <a:xfrm>
            <a:off x="2788920" y="2551176"/>
            <a:ext cx="1865376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teilweise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30" name="Table cell 30"/>
          <p:cNvSpPr/>
          <p:nvPr/>
        </p:nvSpPr>
        <p:spPr>
          <a:xfrm>
            <a:off x="4727448" y="2450592"/>
            <a:ext cx="2011680" cy="438912"/>
          </a:xfrm>
          <a:prstGeom prst="rect">
            <a:avLst/>
          </a:prstGeom>
          <a:solidFill>
            <a:srgbClr val="FFFFFF"/>
          </a:solidFill>
          <a:ln w="4445">
            <a:solidFill>
              <a:srgbClr val="E8E8EC"/>
            </a:solidFill>
          </a:ln>
        </p:spPr>
        <p:style/>
      </p:sp>
      <p:sp>
        <p:nvSpPr>
          <p:cNvPr id="31" name="Text 31"/>
          <p:cNvSpPr txBox="1"/>
          <p:nvPr/>
        </p:nvSpPr>
        <p:spPr>
          <a:xfrm>
            <a:off x="4800600" y="2551176"/>
            <a:ext cx="1865376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punktuell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32" name="Table cell 32"/>
          <p:cNvSpPr/>
          <p:nvPr/>
        </p:nvSpPr>
        <p:spPr>
          <a:xfrm>
            <a:off x="6739128" y="2450592"/>
            <a:ext cx="2011680" cy="438912"/>
          </a:xfrm>
          <a:prstGeom prst="rect">
            <a:avLst/>
          </a:prstGeom>
          <a:solidFill>
            <a:srgbClr val="FFFFFF"/>
          </a:solidFill>
          <a:ln w="4445">
            <a:solidFill>
              <a:srgbClr val="E8E8EC"/>
            </a:solidFill>
          </a:ln>
        </p:spPr>
        <p:style/>
      </p:sp>
      <p:sp>
        <p:nvSpPr>
          <p:cNvPr id="33" name="Text 33"/>
          <p:cNvSpPr txBox="1"/>
          <p:nvPr/>
        </p:nvSpPr>
        <p:spPr>
          <a:xfrm>
            <a:off x="6812280" y="2551176"/>
            <a:ext cx="1865376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mittel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34" name="Table cell 34"/>
          <p:cNvSpPr/>
          <p:nvPr/>
        </p:nvSpPr>
        <p:spPr>
          <a:xfrm>
            <a:off x="8750808" y="2450592"/>
            <a:ext cx="1828800" cy="438912"/>
          </a:xfrm>
          <a:prstGeom prst="rect">
            <a:avLst/>
          </a:prstGeom>
          <a:solidFill>
            <a:srgbClr val="FFFFFF"/>
          </a:solidFill>
          <a:ln w="4445">
            <a:solidFill>
              <a:srgbClr val="E8E8EC"/>
            </a:solidFill>
          </a:ln>
        </p:spPr>
        <p:style/>
      </p:sp>
      <p:sp>
        <p:nvSpPr>
          <p:cNvPr id="35" name="Text 35"/>
          <p:cNvSpPr txBox="1"/>
          <p:nvPr/>
        </p:nvSpPr>
        <p:spPr>
          <a:xfrm>
            <a:off x="8823960" y="2551176"/>
            <a:ext cx="1682496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End-to-End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36" name="Table cell 36"/>
          <p:cNvSpPr/>
          <p:nvPr/>
        </p:nvSpPr>
        <p:spPr>
          <a:xfrm>
            <a:off x="749808" y="2889504"/>
            <a:ext cx="1965960" cy="438912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37" name="Text 37"/>
          <p:cNvSpPr txBox="1"/>
          <p:nvPr/>
        </p:nvSpPr>
        <p:spPr>
          <a:xfrm>
            <a:off x="822960" y="2990088"/>
            <a:ext cx="1819656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0A0A0F"/>
                </a:solidFill>
                <a:latin typeface="Helvetica"/>
              </a:rPr>
              <a:t>Horizontale AI</a:t>
            </a:r>
            <a:endParaRPr lang="de-DE" sz="76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38" name="Table cell 38"/>
          <p:cNvSpPr/>
          <p:nvPr/>
        </p:nvSpPr>
        <p:spPr>
          <a:xfrm>
            <a:off x="2715768" y="2889504"/>
            <a:ext cx="2011680" cy="438912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39" name="Text 39"/>
          <p:cNvSpPr txBox="1"/>
          <p:nvPr/>
        </p:nvSpPr>
        <p:spPr>
          <a:xfrm>
            <a:off x="2788920" y="2990088"/>
            <a:ext cx="1865376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ja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40" name="Table cell 40"/>
          <p:cNvSpPr/>
          <p:nvPr/>
        </p:nvSpPr>
        <p:spPr>
          <a:xfrm>
            <a:off x="4727448" y="2889504"/>
            <a:ext cx="2011680" cy="438912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41" name="Text 41"/>
          <p:cNvSpPr txBox="1"/>
          <p:nvPr/>
        </p:nvSpPr>
        <p:spPr>
          <a:xfrm>
            <a:off x="4800600" y="2990088"/>
            <a:ext cx="1865376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niedrig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42" name="Table cell 42"/>
          <p:cNvSpPr/>
          <p:nvPr/>
        </p:nvSpPr>
        <p:spPr>
          <a:xfrm>
            <a:off x="6739128" y="2889504"/>
            <a:ext cx="2011680" cy="438912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43" name="Text 43"/>
          <p:cNvSpPr txBox="1"/>
          <p:nvPr/>
        </p:nvSpPr>
        <p:spPr>
          <a:xfrm>
            <a:off x="6812280" y="2990088"/>
            <a:ext cx="1865376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niedrig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44" name="Table cell 44"/>
          <p:cNvSpPr/>
          <p:nvPr/>
        </p:nvSpPr>
        <p:spPr>
          <a:xfrm>
            <a:off x="8750808" y="2889504"/>
            <a:ext cx="1828800" cy="438912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45" name="Text 45"/>
          <p:cNvSpPr txBox="1"/>
          <p:nvPr/>
        </p:nvSpPr>
        <p:spPr>
          <a:xfrm>
            <a:off x="8823960" y="2990088"/>
            <a:ext cx="1682496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Vertical Trust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46" name="Table cell 46"/>
          <p:cNvSpPr/>
          <p:nvPr/>
        </p:nvSpPr>
        <p:spPr>
          <a:xfrm>
            <a:off x="749808" y="3328416"/>
            <a:ext cx="1965960" cy="438912"/>
          </a:xfrm>
          <a:prstGeom prst="rect">
            <a:avLst/>
          </a:prstGeom>
          <a:solidFill>
            <a:srgbClr val="FFFFFF"/>
          </a:solidFill>
          <a:ln w="4445">
            <a:solidFill>
              <a:srgbClr val="E8E8EC"/>
            </a:solidFill>
          </a:ln>
        </p:spPr>
        <p:style/>
      </p:sp>
      <p:sp>
        <p:nvSpPr>
          <p:cNvPr id="47" name="Text 47"/>
          <p:cNvSpPr txBox="1"/>
          <p:nvPr/>
        </p:nvSpPr>
        <p:spPr>
          <a:xfrm>
            <a:off x="822960" y="3429000"/>
            <a:ext cx="1819656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0A0A0F"/>
                </a:solidFill>
                <a:latin typeface="Helvetica"/>
              </a:rPr>
              <a:t>Legacy EHR</a:t>
            </a:r>
            <a:endParaRPr lang="de-DE" sz="76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48" name="Table cell 48"/>
          <p:cNvSpPr/>
          <p:nvPr/>
        </p:nvSpPr>
        <p:spPr>
          <a:xfrm>
            <a:off x="2715768" y="3328416"/>
            <a:ext cx="2011680" cy="438912"/>
          </a:xfrm>
          <a:prstGeom prst="rect">
            <a:avLst/>
          </a:prstGeom>
          <a:solidFill>
            <a:srgbClr val="FFFFFF"/>
          </a:solidFill>
          <a:ln w="4445">
            <a:solidFill>
              <a:srgbClr val="E8E8EC"/>
            </a:solidFill>
          </a:ln>
        </p:spPr>
        <p:style/>
      </p:sp>
      <p:sp>
        <p:nvSpPr>
          <p:cNvPr id="49" name="Text 49"/>
          <p:cNvSpPr txBox="1"/>
          <p:nvPr/>
        </p:nvSpPr>
        <p:spPr>
          <a:xfrm>
            <a:off x="2788920" y="3429000"/>
            <a:ext cx="1865376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nein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50" name="Table cell 50"/>
          <p:cNvSpPr/>
          <p:nvPr/>
        </p:nvSpPr>
        <p:spPr>
          <a:xfrm>
            <a:off x="4727448" y="3328416"/>
            <a:ext cx="2011680" cy="438912"/>
          </a:xfrm>
          <a:prstGeom prst="rect">
            <a:avLst/>
          </a:prstGeom>
          <a:solidFill>
            <a:srgbClr val="FFFFFF"/>
          </a:solidFill>
          <a:ln w="4445">
            <a:solidFill>
              <a:srgbClr val="E8E8EC"/>
            </a:solidFill>
          </a:ln>
        </p:spPr>
        <p:style/>
      </p:sp>
      <p:sp>
        <p:nvSpPr>
          <p:cNvPr id="51" name="Text 51"/>
          <p:cNvSpPr txBox="1"/>
          <p:nvPr/>
        </p:nvSpPr>
        <p:spPr>
          <a:xfrm>
            <a:off x="4800600" y="3429000"/>
            <a:ext cx="1865376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hoch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52" name="Table cell 52"/>
          <p:cNvSpPr/>
          <p:nvPr/>
        </p:nvSpPr>
        <p:spPr>
          <a:xfrm>
            <a:off x="6739128" y="3328416"/>
            <a:ext cx="2011680" cy="438912"/>
          </a:xfrm>
          <a:prstGeom prst="rect">
            <a:avLst/>
          </a:prstGeom>
          <a:solidFill>
            <a:srgbClr val="FFFFFF"/>
          </a:solidFill>
          <a:ln w="4445">
            <a:solidFill>
              <a:srgbClr val="E8E8EC"/>
            </a:solidFill>
          </a:ln>
        </p:spPr>
        <p:style/>
      </p:sp>
      <p:sp>
        <p:nvSpPr>
          <p:cNvPr id="53" name="Text 53"/>
          <p:cNvSpPr txBox="1"/>
          <p:nvPr/>
        </p:nvSpPr>
        <p:spPr>
          <a:xfrm>
            <a:off x="6812280" y="3429000"/>
            <a:ext cx="1865376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hoch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54" name="Table cell 54"/>
          <p:cNvSpPr/>
          <p:nvPr/>
        </p:nvSpPr>
        <p:spPr>
          <a:xfrm>
            <a:off x="8750808" y="3328416"/>
            <a:ext cx="1828800" cy="438912"/>
          </a:xfrm>
          <a:prstGeom prst="rect">
            <a:avLst/>
          </a:prstGeom>
          <a:solidFill>
            <a:srgbClr val="FFFFFF"/>
          </a:solidFill>
          <a:ln w="4445">
            <a:solidFill>
              <a:srgbClr val="E8E8EC"/>
            </a:solidFill>
          </a:ln>
        </p:spPr>
        <p:style/>
      </p:sp>
      <p:sp>
        <p:nvSpPr>
          <p:cNvPr id="55" name="Text 55"/>
          <p:cNvSpPr txBox="1"/>
          <p:nvPr/>
        </p:nvSpPr>
        <p:spPr>
          <a:xfrm>
            <a:off x="8823960" y="3429000"/>
            <a:ext cx="1682496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Usability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56" name="Table cell 56"/>
          <p:cNvSpPr/>
          <p:nvPr/>
        </p:nvSpPr>
        <p:spPr>
          <a:xfrm>
            <a:off x="749808" y="3767328"/>
            <a:ext cx="1965960" cy="438912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57" name="Text 57"/>
          <p:cNvSpPr txBox="1"/>
          <p:nvPr/>
        </p:nvSpPr>
        <p:spPr>
          <a:xfrm>
            <a:off x="822960" y="3867912"/>
            <a:ext cx="1819656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0A0A0F"/>
                </a:solidFill>
                <a:latin typeface="Helvetica"/>
              </a:rPr>
              <a:t>CAREVO</a:t>
            </a:r>
            <a:endParaRPr lang="de-DE" sz="76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58" name="Table cell 58"/>
          <p:cNvSpPr/>
          <p:nvPr/>
        </p:nvSpPr>
        <p:spPr>
          <a:xfrm>
            <a:off x="2715768" y="3767328"/>
            <a:ext cx="2011680" cy="438912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59" name="Text 59"/>
          <p:cNvSpPr txBox="1"/>
          <p:nvPr/>
        </p:nvSpPr>
        <p:spPr>
          <a:xfrm>
            <a:off x="2788920" y="3867912"/>
            <a:ext cx="1865376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ja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60" name="Table cell 60"/>
          <p:cNvSpPr/>
          <p:nvPr/>
        </p:nvSpPr>
        <p:spPr>
          <a:xfrm>
            <a:off x="4727448" y="3767328"/>
            <a:ext cx="2011680" cy="438912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61" name="Text 61"/>
          <p:cNvSpPr txBox="1"/>
          <p:nvPr/>
        </p:nvSpPr>
        <p:spPr>
          <a:xfrm>
            <a:off x="4800600" y="3867912"/>
            <a:ext cx="1865376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hoch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62" name="Table cell 62"/>
          <p:cNvSpPr/>
          <p:nvPr/>
        </p:nvSpPr>
        <p:spPr>
          <a:xfrm>
            <a:off x="6739128" y="3767328"/>
            <a:ext cx="2011680" cy="438912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63" name="Text 63"/>
          <p:cNvSpPr txBox="1"/>
          <p:nvPr/>
        </p:nvSpPr>
        <p:spPr>
          <a:xfrm>
            <a:off x="6812280" y="3867912"/>
            <a:ext cx="1865376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hoch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64" name="Table cell 64"/>
          <p:cNvSpPr/>
          <p:nvPr/>
        </p:nvSpPr>
        <p:spPr>
          <a:xfrm>
            <a:off x="8750808" y="3767328"/>
            <a:ext cx="1828800" cy="438912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65" name="Text 65"/>
          <p:cNvSpPr txBox="1"/>
          <p:nvPr/>
        </p:nvSpPr>
        <p:spPr>
          <a:xfrm>
            <a:off x="8823960" y="3867912"/>
            <a:ext cx="1682496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ruhig + pruefbar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ositioning Map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EVO accent bar 2"/>
          <p:cNvSpPr/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3" name="Text 3"/>
          <p:cNvSpPr txBox="1"/>
          <p:nvPr/>
        </p:nvSpPr>
        <p:spPr>
          <a:xfrm>
            <a:off x="566928" y="292608"/>
            <a:ext cx="429768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50" b="1" dirty="0">
                <a:solidFill>
                  <a:srgbClr val="9B9BA8"/>
                </a:solidFill>
                <a:latin typeface="Courier"/>
              </a:rPr>
              <a:t>POSITIONIERUNG</a:t>
            </a:r>
            <a:endParaRPr lang="de-DE" sz="75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4" name="Header rule 4"/>
          <p:cNvSpPr/>
          <p:nvPr/>
        </p:nvSpPr>
        <p:spPr>
          <a:xfrm>
            <a:off x="566928" y="658368"/>
            <a:ext cx="11045952" cy="5486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/>
      </p:sp>
      <p:sp>
        <p:nvSpPr>
          <p:cNvPr id="5" name="Text 5"/>
          <p:cNvSpPr txBox="1"/>
          <p:nvPr/>
        </p:nvSpPr>
        <p:spPr>
          <a:xfrm>
            <a:off x="566928" y="804672"/>
            <a:ext cx="10058400" cy="53035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2400" b="1" dirty="0">
                <a:solidFill>
                  <a:srgbClr val="0A0A0F"/>
                </a:solidFill>
                <a:latin typeface="Helvetica"/>
              </a:rPr>
              <a:t>Die strategische Luecke liegt zwischen AI-Speed und klinischer Kontrolle</a:t>
            </a:r>
            <a:endParaRPr lang="de-DE" sz="24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6" name="Footer rule 6"/>
          <p:cNvSpPr/>
          <p:nvPr/>
        </p:nvSpPr>
        <p:spPr>
          <a:xfrm>
            <a:off x="566928" y="6419088"/>
            <a:ext cx="11045952" cy="5486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/>
      </p:sp>
      <p:sp>
        <p:nvSpPr>
          <p:cNvPr id="7" name="Text 7"/>
          <p:cNvSpPr txBox="1"/>
          <p:nvPr/>
        </p:nvSpPr>
        <p:spPr>
          <a:xfrm>
            <a:off x="566928" y="6510528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680" dirty="0">
                <a:solidFill>
                  <a:srgbClr val="9B9BA8"/>
                </a:solidFill>
                <a:latin typeface="Courier"/>
              </a:rPr>
              <a:t>CAREVO VC / CONSULTING TEMPLATE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8" name="Text 8"/>
          <p:cNvSpPr txBox="1"/>
          <p:nvPr/>
        </p:nvSpPr>
        <p:spPr>
          <a:xfrm>
            <a:off x="4572000" y="6510528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680" dirty="0">
                <a:solidFill>
                  <a:srgbClr val="9B9BA8"/>
                </a:solidFill>
                <a:latin typeface="Courier"/>
              </a:rPr>
              <a:t>CONFIDENTIAL - TEMPLATE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9" name="Text 9"/>
          <p:cNvSpPr txBox="1"/>
          <p:nvPr/>
        </p:nvSpPr>
        <p:spPr>
          <a:xfrm>
            <a:off x="11018520" y="6510528"/>
            <a:ext cx="59436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r"/>
            <a:r>
              <a:rPr lang="de-DE" sz="680" dirty="0">
                <a:solidFill>
                  <a:srgbClr val="9B9BA8"/>
                </a:solidFill>
                <a:latin typeface="Courier"/>
              </a:rPr>
              <a:t>16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10" name="Shape 10"/>
          <p:cNvSpPr/>
          <p:nvPr/>
        </p:nvSpPr>
        <p:spPr>
          <a:xfrm>
            <a:off x="1143000" y="1627632"/>
            <a:ext cx="768096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11" name="Shape 11"/>
          <p:cNvSpPr/>
          <p:nvPr/>
        </p:nvSpPr>
        <p:spPr>
          <a:xfrm>
            <a:off x="1143000" y="3547872"/>
            <a:ext cx="7680960" cy="9144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/>
      </p:sp>
      <p:sp>
        <p:nvSpPr>
          <p:cNvPr id="12" name="Shape 12"/>
          <p:cNvSpPr/>
          <p:nvPr/>
        </p:nvSpPr>
        <p:spPr>
          <a:xfrm>
            <a:off x="4983480" y="1627632"/>
            <a:ext cx="9144" cy="3840480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/>
      </p:sp>
      <p:sp>
        <p:nvSpPr>
          <p:cNvPr id="13" name="Shape 13"/>
          <p:cNvSpPr/>
          <p:nvPr/>
        </p:nvSpPr>
        <p:spPr>
          <a:xfrm>
            <a:off x="1965960" y="4526280"/>
            <a:ext cx="1170432" cy="438912"/>
          </a:xfrm>
          <a:prstGeom prst="rect">
            <a:avLst/>
          </a:prstGeom>
          <a:solidFill>
            <a:srgbClr val="F4F4F6"/>
          </a:solidFill>
          <a:ln w="6350">
            <a:solidFill>
              <a:srgbClr val="E8E8EC"/>
            </a:solidFill>
          </a:ln>
        </p:spPr>
        <p:style/>
      </p:sp>
      <p:sp>
        <p:nvSpPr>
          <p:cNvPr id="14" name="Text 14"/>
          <p:cNvSpPr txBox="1"/>
          <p:nvPr/>
        </p:nvSpPr>
        <p:spPr>
          <a:xfrm>
            <a:off x="2039112" y="4663440"/>
            <a:ext cx="1005840" cy="12801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730" b="1" dirty="0">
                <a:solidFill>
                  <a:srgbClr val="4A4A4F"/>
                </a:solidFill>
                <a:latin typeface="Courier"/>
              </a:rPr>
              <a:t>Manual</a:t>
            </a:r>
            <a:endParaRPr lang="de-DE" sz="730" dirty="0">
              <a:solidFill>
                <a:srgbClr val="4A4A4F"/>
              </a:solidFill>
              <a:latin typeface="Courier"/>
            </a:endParaRPr>
          </a:p>
        </p:txBody>
      </p:sp>
      <p:sp>
        <p:nvSpPr>
          <p:cNvPr id="15" name="Shape 15"/>
          <p:cNvSpPr/>
          <p:nvPr/>
        </p:nvSpPr>
        <p:spPr>
          <a:xfrm>
            <a:off x="3154680" y="2971800"/>
            <a:ext cx="1170432" cy="438912"/>
          </a:xfrm>
          <a:prstGeom prst="rect">
            <a:avLst/>
          </a:prstGeom>
          <a:solidFill>
            <a:srgbClr val="F4F4F6"/>
          </a:solidFill>
          <a:ln w="6350">
            <a:solidFill>
              <a:srgbClr val="E8E8EC"/>
            </a:solidFill>
          </a:ln>
        </p:spPr>
        <p:style/>
      </p:sp>
      <p:sp>
        <p:nvSpPr>
          <p:cNvPr id="16" name="Text 16"/>
          <p:cNvSpPr txBox="1"/>
          <p:nvPr/>
        </p:nvSpPr>
        <p:spPr>
          <a:xfrm>
            <a:off x="3227832" y="3108960"/>
            <a:ext cx="1005840" cy="12801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730" b="1" dirty="0">
                <a:solidFill>
                  <a:srgbClr val="4A4A4F"/>
                </a:solidFill>
                <a:latin typeface="Courier"/>
              </a:rPr>
              <a:t>Dictation</a:t>
            </a:r>
            <a:endParaRPr lang="de-DE" sz="730" dirty="0">
              <a:solidFill>
                <a:srgbClr val="4A4A4F"/>
              </a:solidFill>
              <a:latin typeface="Courier"/>
            </a:endParaRPr>
          </a:p>
        </p:txBody>
      </p:sp>
      <p:sp>
        <p:nvSpPr>
          <p:cNvPr id="17" name="Shape 17"/>
          <p:cNvSpPr/>
          <p:nvPr/>
        </p:nvSpPr>
        <p:spPr>
          <a:xfrm>
            <a:off x="5715000" y="4069080"/>
            <a:ext cx="1170432" cy="438912"/>
          </a:xfrm>
          <a:prstGeom prst="rect">
            <a:avLst/>
          </a:prstGeom>
          <a:solidFill>
            <a:srgbClr val="F4F4F6"/>
          </a:solidFill>
          <a:ln w="6350">
            <a:solidFill>
              <a:srgbClr val="E8E8EC"/>
            </a:solidFill>
          </a:ln>
        </p:spPr>
        <p:style/>
      </p:sp>
      <p:sp>
        <p:nvSpPr>
          <p:cNvPr id="18" name="Text 18"/>
          <p:cNvSpPr txBox="1"/>
          <p:nvPr/>
        </p:nvSpPr>
        <p:spPr>
          <a:xfrm>
            <a:off x="5788152" y="4206240"/>
            <a:ext cx="1005840" cy="12801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730" b="1" dirty="0">
                <a:solidFill>
                  <a:srgbClr val="4A4A4F"/>
                </a:solidFill>
                <a:latin typeface="Courier"/>
              </a:rPr>
              <a:t>Horizontal AI</a:t>
            </a:r>
            <a:endParaRPr lang="de-DE" sz="730" dirty="0">
              <a:solidFill>
                <a:srgbClr val="4A4A4F"/>
              </a:solidFill>
              <a:latin typeface="Courier"/>
            </a:endParaRPr>
          </a:p>
        </p:txBody>
      </p:sp>
      <p:sp>
        <p:nvSpPr>
          <p:cNvPr id="19" name="Shape 19"/>
          <p:cNvSpPr/>
          <p:nvPr/>
        </p:nvSpPr>
        <p:spPr>
          <a:xfrm>
            <a:off x="6720840" y="2240280"/>
            <a:ext cx="1170432" cy="438912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/>
      </p:sp>
      <p:sp>
        <p:nvSpPr>
          <p:cNvPr id="20" name="Text 20"/>
          <p:cNvSpPr txBox="1"/>
          <p:nvPr/>
        </p:nvSpPr>
        <p:spPr>
          <a:xfrm>
            <a:off x="6793992" y="2377440"/>
            <a:ext cx="1005840" cy="12801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730" b="1" dirty="0">
                <a:solidFill>
                  <a:srgbClr val="FFFFFF"/>
                </a:solidFill>
                <a:latin typeface="Courier"/>
              </a:rPr>
              <a:t>CAREVO</a:t>
            </a:r>
            <a:endParaRPr lang="de-DE" sz="730" dirty="0">
              <a:solidFill>
                <a:srgbClr val="FFFFFF"/>
              </a:solidFill>
              <a:latin typeface="Courier"/>
            </a:endParaRPr>
          </a:p>
        </p:txBody>
      </p:sp>
      <p:sp>
        <p:nvSpPr>
          <p:cNvPr id="21" name="Text 21"/>
          <p:cNvSpPr txBox="1"/>
          <p:nvPr/>
        </p:nvSpPr>
        <p:spPr>
          <a:xfrm>
            <a:off x="3703320" y="5632704"/>
            <a:ext cx="2377440" cy="1463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800" dirty="0">
                <a:solidFill>
                  <a:srgbClr val="9B9BA8"/>
                </a:solidFill>
                <a:latin typeface="Courier"/>
              </a:rPr>
              <a:t>AI Automatisierung -&gt;</a:t>
            </a:r>
            <a:endParaRPr lang="de-DE" sz="80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22" name="Text 22"/>
          <p:cNvSpPr txBox="1"/>
          <p:nvPr/>
        </p:nvSpPr>
        <p:spPr>
          <a:xfrm>
            <a:off x="9189720" y="1965960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800" dirty="0">
                <a:solidFill>
                  <a:srgbClr val="9B9BA8"/>
                </a:solidFill>
                <a:latin typeface="Courier"/>
              </a:rPr>
              <a:t>Kontrolle</a:t>
            </a:r>
            <a:endParaRPr lang="de-DE" sz="80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23" name="Text 23"/>
          <p:cNvSpPr txBox="1"/>
          <p:nvPr/>
        </p:nvSpPr>
        <p:spPr>
          <a:xfrm>
            <a:off x="9189720" y="5074920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800" dirty="0">
                <a:solidFill>
                  <a:srgbClr val="9B9BA8"/>
                </a:solidFill>
                <a:latin typeface="Courier"/>
              </a:rPr>
              <a:t>Geschwindigkeit</a:t>
            </a:r>
            <a:endParaRPr lang="de-DE" sz="800" dirty="0">
              <a:solidFill>
                <a:srgbClr val="9B9BA8"/>
              </a:solidFill>
              <a:latin typeface="Courier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Business 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EVO accent bar 2"/>
          <p:cNvSpPr/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3" name="Text 3"/>
          <p:cNvSpPr txBox="1"/>
          <p:nvPr/>
        </p:nvSpPr>
        <p:spPr>
          <a:xfrm>
            <a:off x="566928" y="292608"/>
            <a:ext cx="429768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50" b="1" dirty="0">
                <a:solidFill>
                  <a:srgbClr val="9B9BA8"/>
                </a:solidFill>
                <a:latin typeface="Courier"/>
              </a:rPr>
              <a:t>BUSINESS MODEL</a:t>
            </a:r>
            <a:endParaRPr lang="de-DE" sz="75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4" name="Header rule 4"/>
          <p:cNvSpPr/>
          <p:nvPr/>
        </p:nvSpPr>
        <p:spPr>
          <a:xfrm>
            <a:off x="566928" y="658368"/>
            <a:ext cx="11045952" cy="5486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/>
      </p:sp>
      <p:sp>
        <p:nvSpPr>
          <p:cNvPr id="5" name="Text 5"/>
          <p:cNvSpPr txBox="1"/>
          <p:nvPr/>
        </p:nvSpPr>
        <p:spPr>
          <a:xfrm>
            <a:off x="566928" y="804672"/>
            <a:ext cx="10058400" cy="53035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2400" b="1" dirty="0">
                <a:solidFill>
                  <a:srgbClr val="0A0A0F"/>
                </a:solidFill>
                <a:latin typeface="Helvetica"/>
              </a:rPr>
              <a:t>Preismodell kann von Pilot zu Enterprise ohne Designbruch wachsen</a:t>
            </a:r>
            <a:endParaRPr lang="de-DE" sz="24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6" name="Footer rule 6"/>
          <p:cNvSpPr/>
          <p:nvPr/>
        </p:nvSpPr>
        <p:spPr>
          <a:xfrm>
            <a:off x="566928" y="6419088"/>
            <a:ext cx="11045952" cy="5486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/>
      </p:sp>
      <p:sp>
        <p:nvSpPr>
          <p:cNvPr id="7" name="Text 7"/>
          <p:cNvSpPr txBox="1"/>
          <p:nvPr/>
        </p:nvSpPr>
        <p:spPr>
          <a:xfrm>
            <a:off x="566928" y="6510528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680" dirty="0">
                <a:solidFill>
                  <a:srgbClr val="9B9BA8"/>
                </a:solidFill>
                <a:latin typeface="Courier"/>
              </a:rPr>
              <a:t>CAREVO VC / CONSULTING TEMPLATE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8" name="Text 8"/>
          <p:cNvSpPr txBox="1"/>
          <p:nvPr/>
        </p:nvSpPr>
        <p:spPr>
          <a:xfrm>
            <a:off x="4572000" y="6510528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680" dirty="0">
                <a:solidFill>
                  <a:srgbClr val="9B9BA8"/>
                </a:solidFill>
                <a:latin typeface="Courier"/>
              </a:rPr>
              <a:t>CONFIDENTIAL - TEMPLATE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9" name="Text 9"/>
          <p:cNvSpPr txBox="1"/>
          <p:nvPr/>
        </p:nvSpPr>
        <p:spPr>
          <a:xfrm>
            <a:off x="11018520" y="6510528"/>
            <a:ext cx="59436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r"/>
            <a:r>
              <a:rPr lang="de-DE" sz="680" dirty="0">
                <a:solidFill>
                  <a:srgbClr val="9B9BA8"/>
                </a:solidFill>
                <a:latin typeface="Courier"/>
              </a:rPr>
              <a:t>17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10" name="Card 10"/>
          <p:cNvSpPr/>
          <p:nvPr/>
        </p:nvSpPr>
        <p:spPr>
          <a:xfrm>
            <a:off x="749808" y="1664208"/>
            <a:ext cx="30632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11" name="Card marker 11"/>
          <p:cNvSpPr/>
          <p:nvPr/>
        </p:nvSpPr>
        <p:spPr>
          <a:xfrm>
            <a:off x="896112" y="1828800"/>
            <a:ext cx="36576" cy="36576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12" name="Text 12"/>
          <p:cNvSpPr txBox="1"/>
          <p:nvPr/>
        </p:nvSpPr>
        <p:spPr>
          <a:xfrm>
            <a:off x="896112" y="1947672"/>
            <a:ext cx="2770632" cy="1463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680" b="1" dirty="0">
                <a:solidFill>
                  <a:srgbClr val="9B9BA8"/>
                </a:solidFill>
                <a:latin typeface="Courier"/>
              </a:rPr>
              <a:t>PILOT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13" name="Text 13"/>
          <p:cNvSpPr txBox="1"/>
          <p:nvPr/>
        </p:nvSpPr>
        <p:spPr>
          <a:xfrm>
            <a:off x="896112" y="2167128"/>
            <a:ext cx="2770632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1300" b="1" dirty="0">
                <a:solidFill>
                  <a:srgbClr val="0A0A0F"/>
                </a:solidFill>
                <a:latin typeface="Helvetica"/>
              </a:rPr>
              <a:t>Team / Monat</a:t>
            </a:r>
            <a:endParaRPr lang="de-DE" sz="13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14" name="Text 14"/>
          <p:cNvSpPr txBox="1"/>
          <p:nvPr/>
        </p:nvSpPr>
        <p:spPr>
          <a:xfrm>
            <a:off x="896112" y="2560320"/>
            <a:ext cx="2770632" cy="8686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920" dirty="0">
                <a:solidFill>
                  <a:srgbClr val="4A4A4F"/>
                </a:solidFill>
                <a:latin typeface="Helvetica"/>
              </a:rPr>
              <a:t>Schneller Einstieg mit klarer Workflowschale, begrenzter Nutzerzahl und Templates.</a:t>
            </a:r>
            <a:endParaRPr lang="de-DE" sz="92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15" name="Card 15"/>
          <p:cNvSpPr/>
          <p:nvPr/>
        </p:nvSpPr>
        <p:spPr>
          <a:xfrm>
            <a:off x="4069080" y="1664208"/>
            <a:ext cx="30632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16" name="Card marker 16"/>
          <p:cNvSpPr/>
          <p:nvPr/>
        </p:nvSpPr>
        <p:spPr>
          <a:xfrm>
            <a:off x="4215384" y="1828800"/>
            <a:ext cx="36576" cy="36576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17" name="Text 17"/>
          <p:cNvSpPr txBox="1"/>
          <p:nvPr/>
        </p:nvSpPr>
        <p:spPr>
          <a:xfrm>
            <a:off x="4215384" y="1947672"/>
            <a:ext cx="2770632" cy="1463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680" b="1" dirty="0">
                <a:solidFill>
                  <a:srgbClr val="9B9BA8"/>
                </a:solidFill>
                <a:latin typeface="Courier"/>
              </a:rPr>
              <a:t>SCALE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18" name="Text 18"/>
          <p:cNvSpPr txBox="1"/>
          <p:nvPr/>
        </p:nvSpPr>
        <p:spPr>
          <a:xfrm>
            <a:off x="4215384" y="2167128"/>
            <a:ext cx="2770632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1300" b="1" dirty="0">
                <a:solidFill>
                  <a:srgbClr val="0A0A0F"/>
                </a:solidFill>
                <a:latin typeface="Helvetica"/>
              </a:rPr>
              <a:t>Sitz + Nutzung</a:t>
            </a:r>
            <a:endParaRPr lang="de-DE" sz="13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19" name="Text 19"/>
          <p:cNvSpPr txBox="1"/>
          <p:nvPr/>
        </p:nvSpPr>
        <p:spPr>
          <a:xfrm>
            <a:off x="4215384" y="2560320"/>
            <a:ext cx="2770632" cy="8686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920" dirty="0">
                <a:solidFill>
                  <a:srgbClr val="4A4A4F"/>
                </a:solidFill>
                <a:latin typeface="Helvetica"/>
              </a:rPr>
              <a:t>Mehr Teams, Export-Volumen, Vorlagen-Versionierung und Reporting.</a:t>
            </a:r>
            <a:endParaRPr lang="de-DE" sz="92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20" name="Card 20"/>
          <p:cNvSpPr/>
          <p:nvPr/>
        </p:nvSpPr>
        <p:spPr>
          <a:xfrm>
            <a:off x="7388352" y="1664208"/>
            <a:ext cx="30632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21" name="Card marker 21"/>
          <p:cNvSpPr/>
          <p:nvPr/>
        </p:nvSpPr>
        <p:spPr>
          <a:xfrm>
            <a:off x="7534656" y="1828800"/>
            <a:ext cx="36576" cy="36576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22" name="Text 22"/>
          <p:cNvSpPr txBox="1"/>
          <p:nvPr/>
        </p:nvSpPr>
        <p:spPr>
          <a:xfrm>
            <a:off x="7534656" y="1947672"/>
            <a:ext cx="2770632" cy="1463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680" b="1" dirty="0">
                <a:solidFill>
                  <a:srgbClr val="9B9BA8"/>
                </a:solidFill>
                <a:latin typeface="Courier"/>
              </a:rPr>
              <a:t>ENTERPRISE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23" name="Text 23"/>
          <p:cNvSpPr txBox="1"/>
          <p:nvPr/>
        </p:nvSpPr>
        <p:spPr>
          <a:xfrm>
            <a:off x="7534656" y="2167128"/>
            <a:ext cx="2770632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1300" b="1" dirty="0">
                <a:solidFill>
                  <a:srgbClr val="0A0A0F"/>
                </a:solidFill>
                <a:latin typeface="Helvetica"/>
              </a:rPr>
              <a:t>Plattform</a:t>
            </a:r>
            <a:endParaRPr lang="de-DE" sz="13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24" name="Text 24"/>
          <p:cNvSpPr txBox="1"/>
          <p:nvPr/>
        </p:nvSpPr>
        <p:spPr>
          <a:xfrm>
            <a:off x="7534656" y="2560320"/>
            <a:ext cx="2770632" cy="8686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920" dirty="0">
                <a:solidFill>
                  <a:srgbClr val="4A4A4F"/>
                </a:solidFill>
                <a:latin typeface="Helvetica"/>
              </a:rPr>
              <a:t>SLA, Audit, Integrationen, Custom Templates und Admin-Kontrollen.</a:t>
            </a:r>
            <a:endParaRPr lang="de-DE" sz="92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25" name="Shape 25"/>
          <p:cNvSpPr/>
          <p:nvPr/>
        </p:nvSpPr>
        <p:spPr>
          <a:xfrm>
            <a:off x="749808" y="4096512"/>
            <a:ext cx="9710928" cy="749808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/>
      </p:sp>
      <p:sp>
        <p:nvSpPr>
          <p:cNvPr id="26" name="Text 26"/>
          <p:cNvSpPr txBox="1"/>
          <p:nvPr/>
        </p:nvSpPr>
        <p:spPr>
          <a:xfrm>
            <a:off x="1005840" y="4315968"/>
            <a:ext cx="905256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1240" b="1" dirty="0">
                <a:solidFill>
                  <a:srgbClr val="FFFFFF"/>
                </a:solidFill>
                <a:latin typeface="Helvetica"/>
              </a:rPr>
              <a:t>Investor Lens: Revenue expandiert entlang von Nutzung, Compliance und organisatorischer Tiefe.</a:t>
            </a:r>
            <a:endParaRPr lang="de-DE" sz="1240" dirty="0">
              <a:solidFill>
                <a:srgbClr val="FFFFFF"/>
              </a:solidFill>
              <a:latin typeface="Helvetic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nit Economic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EVO accent bar 2"/>
          <p:cNvSpPr/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3" name="Text 3"/>
          <p:cNvSpPr txBox="1"/>
          <p:nvPr/>
        </p:nvSpPr>
        <p:spPr>
          <a:xfrm>
            <a:off x="566928" y="292608"/>
            <a:ext cx="429768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50" b="1" dirty="0">
                <a:solidFill>
                  <a:srgbClr val="9B9BA8"/>
                </a:solidFill>
                <a:latin typeface="Courier"/>
              </a:rPr>
              <a:t>ECONOMICS</a:t>
            </a:r>
            <a:endParaRPr lang="de-DE" sz="75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4" name="Header rule 4"/>
          <p:cNvSpPr/>
          <p:nvPr/>
        </p:nvSpPr>
        <p:spPr>
          <a:xfrm>
            <a:off x="566928" y="658368"/>
            <a:ext cx="11045952" cy="5486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/>
      </p:sp>
      <p:sp>
        <p:nvSpPr>
          <p:cNvPr id="5" name="Text 5"/>
          <p:cNvSpPr txBox="1"/>
          <p:nvPr/>
        </p:nvSpPr>
        <p:spPr>
          <a:xfrm>
            <a:off x="566928" y="804672"/>
            <a:ext cx="10058400" cy="53035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2400" b="1" dirty="0">
                <a:solidFill>
                  <a:srgbClr val="0A0A0F"/>
                </a:solidFill>
                <a:latin typeface="Helvetica"/>
              </a:rPr>
              <a:t>Unit Economics werden als Bruecke aus Zeitersparnis und Nutzungsdichte modelliert</a:t>
            </a:r>
            <a:endParaRPr lang="de-DE" sz="24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6" name="Footer rule 6"/>
          <p:cNvSpPr/>
          <p:nvPr/>
        </p:nvSpPr>
        <p:spPr>
          <a:xfrm>
            <a:off x="566928" y="6419088"/>
            <a:ext cx="11045952" cy="5486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/>
      </p:sp>
      <p:sp>
        <p:nvSpPr>
          <p:cNvPr id="7" name="Text 7"/>
          <p:cNvSpPr txBox="1"/>
          <p:nvPr/>
        </p:nvSpPr>
        <p:spPr>
          <a:xfrm>
            <a:off x="566928" y="6510528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680" dirty="0">
                <a:solidFill>
                  <a:srgbClr val="9B9BA8"/>
                </a:solidFill>
                <a:latin typeface="Courier"/>
              </a:rPr>
              <a:t>CAREVO VC / CONSULTING TEMPLATE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8" name="Text 8"/>
          <p:cNvSpPr txBox="1"/>
          <p:nvPr/>
        </p:nvSpPr>
        <p:spPr>
          <a:xfrm>
            <a:off x="4572000" y="6510528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680" dirty="0">
                <a:solidFill>
                  <a:srgbClr val="9B9BA8"/>
                </a:solidFill>
                <a:latin typeface="Courier"/>
              </a:rPr>
              <a:t>CONFIDENTIAL - TEMPLATE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9" name="Text 9"/>
          <p:cNvSpPr txBox="1"/>
          <p:nvPr/>
        </p:nvSpPr>
        <p:spPr>
          <a:xfrm>
            <a:off x="11018520" y="6510528"/>
            <a:ext cx="59436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r"/>
            <a:r>
              <a:rPr lang="de-DE" sz="680" dirty="0">
                <a:solidFill>
                  <a:srgbClr val="9B9BA8"/>
                </a:solidFill>
                <a:latin typeface="Courier"/>
              </a:rPr>
              <a:t>18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10" name="Chart baseline 10"/>
          <p:cNvSpPr/>
          <p:nvPr/>
        </p:nvSpPr>
        <p:spPr>
          <a:xfrm>
            <a:off x="960120" y="4096512"/>
            <a:ext cx="4754880" cy="7315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/>
      </p:sp>
      <p:sp>
        <p:nvSpPr>
          <p:cNvPr id="11" name="Chart bar 11"/>
          <p:cNvSpPr/>
          <p:nvPr/>
        </p:nvSpPr>
        <p:spPr>
          <a:xfrm>
            <a:off x="960120" y="3182112"/>
            <a:ext cx="1078992" cy="914400"/>
          </a:xfrm>
          <a:prstGeom prst="rect">
            <a:avLst/>
          </a:prstGeom>
          <a:solidFill>
            <a:srgbClr val="9B9BA8"/>
          </a:solidFill>
          <a:ln>
            <a:noFill/>
          </a:ln>
        </p:spPr>
        <p:style/>
      </p:sp>
      <p:sp>
        <p:nvSpPr>
          <p:cNvPr id="12" name="Text 12"/>
          <p:cNvSpPr txBox="1"/>
          <p:nvPr/>
        </p:nvSpPr>
        <p:spPr>
          <a:xfrm>
            <a:off x="960120" y="4169664"/>
            <a:ext cx="1078992" cy="1463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640" dirty="0">
                <a:solidFill>
                  <a:srgbClr val="9B9BA8"/>
                </a:solidFill>
                <a:latin typeface="Courier"/>
              </a:rPr>
              <a:t>Seats</a:t>
            </a:r>
            <a:endParaRPr lang="de-DE" sz="64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13" name="Text 13"/>
          <p:cNvSpPr txBox="1"/>
          <p:nvPr/>
        </p:nvSpPr>
        <p:spPr>
          <a:xfrm>
            <a:off x="960120" y="3017520"/>
            <a:ext cx="1078992" cy="12801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700" dirty="0">
                <a:solidFill>
                  <a:srgbClr val="0A0A0F"/>
                </a:solidFill>
                <a:latin typeface="Courier"/>
              </a:rPr>
              <a:t>35</a:t>
            </a:r>
            <a:endParaRPr lang="de-DE" sz="700" dirty="0">
              <a:solidFill>
                <a:srgbClr val="0A0A0F"/>
              </a:solidFill>
              <a:latin typeface="Courier"/>
            </a:endParaRPr>
          </a:p>
        </p:txBody>
      </p:sp>
      <p:sp>
        <p:nvSpPr>
          <p:cNvPr id="14" name="Chart bar 14"/>
          <p:cNvSpPr/>
          <p:nvPr/>
        </p:nvSpPr>
        <p:spPr>
          <a:xfrm>
            <a:off x="2185416" y="2476718"/>
            <a:ext cx="1078992" cy="1619794"/>
          </a:xfrm>
          <a:prstGeom prst="rect">
            <a:avLst/>
          </a:prstGeom>
          <a:solidFill>
            <a:srgbClr val="4A4A4F"/>
          </a:solidFill>
          <a:ln>
            <a:noFill/>
          </a:ln>
        </p:spPr>
        <p:style/>
      </p:sp>
      <p:sp>
        <p:nvSpPr>
          <p:cNvPr id="15" name="Text 15"/>
          <p:cNvSpPr txBox="1"/>
          <p:nvPr/>
        </p:nvSpPr>
        <p:spPr>
          <a:xfrm>
            <a:off x="2185416" y="4169664"/>
            <a:ext cx="1078992" cy="1463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640" dirty="0">
                <a:solidFill>
                  <a:srgbClr val="9B9BA8"/>
                </a:solidFill>
                <a:latin typeface="Courier"/>
              </a:rPr>
              <a:t>Usage</a:t>
            </a:r>
            <a:endParaRPr lang="de-DE" sz="64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16" name="Text 16"/>
          <p:cNvSpPr txBox="1"/>
          <p:nvPr/>
        </p:nvSpPr>
        <p:spPr>
          <a:xfrm>
            <a:off x="2185416" y="2312126"/>
            <a:ext cx="1078992" cy="12801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700" dirty="0">
                <a:solidFill>
                  <a:srgbClr val="0A0A0F"/>
                </a:solidFill>
                <a:latin typeface="Courier"/>
              </a:rPr>
              <a:t>62</a:t>
            </a:r>
            <a:endParaRPr lang="de-DE" sz="700" dirty="0">
              <a:solidFill>
                <a:srgbClr val="0A0A0F"/>
              </a:solidFill>
              <a:latin typeface="Courier"/>
            </a:endParaRPr>
          </a:p>
        </p:txBody>
      </p:sp>
      <p:sp>
        <p:nvSpPr>
          <p:cNvPr id="17" name="Chart bar 17"/>
          <p:cNvSpPr/>
          <p:nvPr/>
        </p:nvSpPr>
        <p:spPr>
          <a:xfrm>
            <a:off x="3410712" y="2058706"/>
            <a:ext cx="1078992" cy="2037806"/>
          </a:xfrm>
          <a:prstGeom prst="rect">
            <a:avLst/>
          </a:prstGeom>
          <a:solidFill>
            <a:srgbClr val="9B9BA8"/>
          </a:solidFill>
          <a:ln>
            <a:noFill/>
          </a:ln>
        </p:spPr>
        <p:style/>
      </p:sp>
      <p:sp>
        <p:nvSpPr>
          <p:cNvPr id="18" name="Text 18"/>
          <p:cNvSpPr txBox="1"/>
          <p:nvPr/>
        </p:nvSpPr>
        <p:spPr>
          <a:xfrm>
            <a:off x="3410712" y="4169664"/>
            <a:ext cx="1078992" cy="1463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640" dirty="0">
                <a:solidFill>
                  <a:srgbClr val="9B9BA8"/>
                </a:solidFill>
                <a:latin typeface="Courier"/>
              </a:rPr>
              <a:t>ARPA</a:t>
            </a:r>
            <a:endParaRPr lang="de-DE" sz="64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19" name="Text 19"/>
          <p:cNvSpPr txBox="1"/>
          <p:nvPr/>
        </p:nvSpPr>
        <p:spPr>
          <a:xfrm>
            <a:off x="3410712" y="1894114"/>
            <a:ext cx="1078992" cy="12801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700" dirty="0">
                <a:solidFill>
                  <a:srgbClr val="0A0A0F"/>
                </a:solidFill>
                <a:latin typeface="Courier"/>
              </a:rPr>
              <a:t>78</a:t>
            </a:r>
            <a:endParaRPr lang="de-DE" sz="700" dirty="0">
              <a:solidFill>
                <a:srgbClr val="0A0A0F"/>
              </a:solidFill>
              <a:latin typeface="Courier"/>
            </a:endParaRPr>
          </a:p>
        </p:txBody>
      </p:sp>
      <p:sp>
        <p:nvSpPr>
          <p:cNvPr id="20" name="Chart bar 20"/>
          <p:cNvSpPr/>
          <p:nvPr/>
        </p:nvSpPr>
        <p:spPr>
          <a:xfrm>
            <a:off x="4636008" y="1901952"/>
            <a:ext cx="1078992" cy="2194560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21" name="Text 21"/>
          <p:cNvSpPr txBox="1"/>
          <p:nvPr/>
        </p:nvSpPr>
        <p:spPr>
          <a:xfrm>
            <a:off x="4636008" y="4169664"/>
            <a:ext cx="1078992" cy="1463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640" dirty="0">
                <a:solidFill>
                  <a:srgbClr val="9B9BA8"/>
                </a:solidFill>
                <a:latin typeface="Courier"/>
              </a:rPr>
              <a:t>GM</a:t>
            </a:r>
            <a:endParaRPr lang="de-DE" sz="64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22" name="Text 22"/>
          <p:cNvSpPr txBox="1"/>
          <p:nvPr/>
        </p:nvSpPr>
        <p:spPr>
          <a:xfrm>
            <a:off x="4636008" y="1737360"/>
            <a:ext cx="1078992" cy="12801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700" dirty="0">
                <a:solidFill>
                  <a:srgbClr val="0A0A0F"/>
                </a:solidFill>
                <a:latin typeface="Courier"/>
              </a:rPr>
              <a:t>84</a:t>
            </a:r>
            <a:endParaRPr lang="de-DE" sz="700" dirty="0">
              <a:solidFill>
                <a:srgbClr val="0A0A0F"/>
              </a:solidFill>
              <a:latin typeface="Courier"/>
            </a:endParaRPr>
          </a:p>
        </p:txBody>
      </p:sp>
      <p:sp>
        <p:nvSpPr>
          <p:cNvPr id="23" name="Shape 23"/>
          <p:cNvSpPr/>
          <p:nvPr/>
        </p:nvSpPr>
        <p:spPr>
          <a:xfrm>
            <a:off x="6492240" y="1719072"/>
            <a:ext cx="3703320" cy="26700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24" name="Text 24"/>
          <p:cNvSpPr txBox="1"/>
          <p:nvPr/>
        </p:nvSpPr>
        <p:spPr>
          <a:xfrm>
            <a:off x="6720840" y="1938528"/>
            <a:ext cx="324612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1300" b="1" dirty="0">
                <a:solidFill>
                  <a:srgbClr val="0A0A0F"/>
                </a:solidFill>
                <a:latin typeface="Helvetica"/>
              </a:rPr>
              <a:t>Modellannahmen</a:t>
            </a:r>
            <a:endParaRPr lang="de-DE" sz="13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25" name="Bullets 25"/>
          <p:cNvSpPr txBox="1"/>
          <p:nvPr/>
        </p:nvSpPr>
        <p:spPr>
          <a:xfrm>
            <a:off x="6720840" y="2359152"/>
            <a:ext cx="2926080" cy="10972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" rIns="9144" tIns="9144" bIns="9144"/>
          <a:lstStyle/>
          <a:p>
            <a:pPr algn="l" marL="171450" indent="-114300">
              <a:buChar char="•"/>
            </a:pPr>
            <a:r>
              <a:rPr lang="de-DE" sz="900" dirty="0">
                <a:solidFill>
                  <a:srgbClr val="4A4A4F"/>
                </a:solidFill>
                <a:latin typeface="Helvetica"/>
              </a:rPr>
              <a:t>Preis je aktiver Workflow-Einheit</a:t>
            </a:r>
            <a:endParaRPr lang="de-DE" sz="900" dirty="0">
              <a:solidFill>
                <a:srgbClr val="4A4A4F"/>
              </a:solidFill>
              <a:latin typeface="Helvetica"/>
            </a:endParaRPr>
          </a:p>
          <a:p>
            <a:pPr algn="l" marL="171450" indent="-114300">
              <a:buChar char="•"/>
            </a:pPr>
            <a:r>
              <a:rPr lang="de-DE" sz="900" dirty="0">
                <a:solidFill>
                  <a:srgbClr val="4A4A4F"/>
                </a:solidFill>
                <a:latin typeface="Helvetica"/>
              </a:rPr>
              <a:t>Nutzungsdichte pro Team</a:t>
            </a:r>
            <a:endParaRPr lang="de-DE" sz="900" dirty="0">
              <a:solidFill>
                <a:srgbClr val="4A4A4F"/>
              </a:solidFill>
              <a:latin typeface="Helvetica"/>
            </a:endParaRPr>
          </a:p>
          <a:p>
            <a:pPr algn="l" marL="171450" indent="-114300">
              <a:buChar char="•"/>
            </a:pPr>
            <a:r>
              <a:rPr lang="de-DE" sz="900" dirty="0">
                <a:solidFill>
                  <a:srgbClr val="4A4A4F"/>
                </a:solidFill>
                <a:latin typeface="Helvetica"/>
              </a:rPr>
              <a:t>Supportkosten sinken mit Template-Reife</a:t>
            </a:r>
            <a:endParaRPr lang="de-DE" sz="900" dirty="0">
              <a:solidFill>
                <a:srgbClr val="4A4A4F"/>
              </a:solidFill>
              <a:latin typeface="Helvetica"/>
            </a:endParaRPr>
          </a:p>
          <a:p>
            <a:pPr algn="l" marL="171450" indent="-114300">
              <a:buChar char="•"/>
            </a:pPr>
            <a:r>
              <a:rPr lang="de-DE" sz="900" dirty="0">
                <a:solidFill>
                  <a:srgbClr val="4A4A4F"/>
                </a:solidFill>
                <a:latin typeface="Helvetica"/>
              </a:rPr>
              <a:t>Compliance als Enterprise-Upsell</a:t>
            </a:r>
            <a:endParaRPr lang="de-DE" sz="90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26" name="Text 26"/>
          <p:cNvSpPr txBox="1"/>
          <p:nvPr/>
        </p:nvSpPr>
        <p:spPr>
          <a:xfrm>
            <a:off x="960120" y="5074920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50" dirty="0">
                <a:solidFill>
                  <a:srgbClr val="9B9BA8"/>
                </a:solidFill>
                <a:latin typeface="Courier"/>
              </a:rPr>
              <a:t>Beispielwerte; echte Daten aus Produktanalytics und Pilotkohorten einsetzen.</a:t>
            </a:r>
            <a:endParaRPr lang="de-DE" sz="750" dirty="0">
              <a:solidFill>
                <a:srgbClr val="9B9BA8"/>
              </a:solidFill>
              <a:latin typeface="Courier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KPI Dashbo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EVO accent bar 2"/>
          <p:cNvSpPr/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3" name="Text 3"/>
          <p:cNvSpPr txBox="1"/>
          <p:nvPr/>
        </p:nvSpPr>
        <p:spPr>
          <a:xfrm>
            <a:off x="566928" y="292608"/>
            <a:ext cx="429768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50" b="1" dirty="0">
                <a:solidFill>
                  <a:srgbClr val="9B9BA8"/>
                </a:solidFill>
                <a:latin typeface="Courier"/>
              </a:rPr>
              <a:t>DASHBOARD</a:t>
            </a:r>
            <a:endParaRPr lang="de-DE" sz="75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4" name="Header rule 4"/>
          <p:cNvSpPr/>
          <p:nvPr/>
        </p:nvSpPr>
        <p:spPr>
          <a:xfrm>
            <a:off x="566928" y="658368"/>
            <a:ext cx="11045952" cy="5486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/>
      </p:sp>
      <p:sp>
        <p:nvSpPr>
          <p:cNvPr id="5" name="Text 5"/>
          <p:cNvSpPr txBox="1"/>
          <p:nvPr/>
        </p:nvSpPr>
        <p:spPr>
          <a:xfrm>
            <a:off x="566928" y="804672"/>
            <a:ext cx="10058400" cy="53035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2400" b="1" dirty="0">
                <a:solidFill>
                  <a:srgbClr val="0A0A0F"/>
                </a:solidFill>
                <a:latin typeface="Helvetica"/>
              </a:rPr>
              <a:t>Ein VC-taugliches Dashboard trennt Adoption, Qualitaet und Wirtschaftlichkeit</a:t>
            </a:r>
            <a:endParaRPr lang="de-DE" sz="24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6" name="Footer rule 6"/>
          <p:cNvSpPr/>
          <p:nvPr/>
        </p:nvSpPr>
        <p:spPr>
          <a:xfrm>
            <a:off x="566928" y="6419088"/>
            <a:ext cx="11045952" cy="5486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/>
      </p:sp>
      <p:sp>
        <p:nvSpPr>
          <p:cNvPr id="7" name="Text 7"/>
          <p:cNvSpPr txBox="1"/>
          <p:nvPr/>
        </p:nvSpPr>
        <p:spPr>
          <a:xfrm>
            <a:off x="566928" y="6510528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680" dirty="0">
                <a:solidFill>
                  <a:srgbClr val="9B9BA8"/>
                </a:solidFill>
                <a:latin typeface="Courier"/>
              </a:rPr>
              <a:t>CAREVO VC / CONSULTING TEMPLATE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8" name="Text 8"/>
          <p:cNvSpPr txBox="1"/>
          <p:nvPr/>
        </p:nvSpPr>
        <p:spPr>
          <a:xfrm>
            <a:off x="4572000" y="6510528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680" dirty="0">
                <a:solidFill>
                  <a:srgbClr val="9B9BA8"/>
                </a:solidFill>
                <a:latin typeface="Courier"/>
              </a:rPr>
              <a:t>CONFIDENTIAL - TEMPLATE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9" name="Text 9"/>
          <p:cNvSpPr txBox="1"/>
          <p:nvPr/>
        </p:nvSpPr>
        <p:spPr>
          <a:xfrm>
            <a:off x="11018520" y="6510528"/>
            <a:ext cx="59436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r"/>
            <a:r>
              <a:rPr lang="de-DE" sz="680" dirty="0">
                <a:solidFill>
                  <a:srgbClr val="9B9BA8"/>
                </a:solidFill>
                <a:latin typeface="Courier"/>
              </a:rPr>
              <a:t>19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10" name="Metric 10"/>
          <p:cNvSpPr/>
          <p:nvPr/>
        </p:nvSpPr>
        <p:spPr>
          <a:xfrm>
            <a:off x="749808" y="1664208"/>
            <a:ext cx="2852928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11" name="Text 11"/>
          <p:cNvSpPr txBox="1"/>
          <p:nvPr/>
        </p:nvSpPr>
        <p:spPr>
          <a:xfrm>
            <a:off x="877824" y="1783080"/>
            <a:ext cx="2596896" cy="1463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650" b="1" dirty="0">
                <a:solidFill>
                  <a:srgbClr val="9B9BA8"/>
                </a:solidFill>
                <a:latin typeface="Courier"/>
              </a:rPr>
              <a:t>ADOPTION</a:t>
            </a:r>
            <a:endParaRPr lang="de-DE" sz="65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12" name="Text 12"/>
          <p:cNvSpPr txBox="1"/>
          <p:nvPr/>
        </p:nvSpPr>
        <p:spPr>
          <a:xfrm>
            <a:off x="877824" y="2011680"/>
            <a:ext cx="2596896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2100" b="1" dirty="0">
                <a:solidFill>
                  <a:srgbClr val="0A0A0F"/>
                </a:solidFill>
                <a:latin typeface="Helvetica"/>
              </a:rPr>
              <a:t>124</a:t>
            </a:r>
            <a:endParaRPr lang="de-DE" sz="21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13" name="Text 13"/>
          <p:cNvSpPr txBox="1"/>
          <p:nvPr/>
        </p:nvSpPr>
        <p:spPr>
          <a:xfrm>
            <a:off x="877824" y="2414016"/>
            <a:ext cx="2596896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50" dirty="0">
                <a:solidFill>
                  <a:srgbClr val="4A4A4F"/>
                </a:solidFill>
                <a:latin typeface="Helvetica"/>
              </a:rPr>
              <a:t>aktive Teams</a:t>
            </a:r>
            <a:endParaRPr lang="de-DE" sz="75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14" name="Metric 14"/>
          <p:cNvSpPr/>
          <p:nvPr/>
        </p:nvSpPr>
        <p:spPr>
          <a:xfrm>
            <a:off x="4023360" y="1664208"/>
            <a:ext cx="2852928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15" name="Text 15"/>
          <p:cNvSpPr txBox="1"/>
          <p:nvPr/>
        </p:nvSpPr>
        <p:spPr>
          <a:xfrm>
            <a:off x="4151376" y="1783080"/>
            <a:ext cx="2596896" cy="1463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650" b="1" dirty="0">
                <a:solidFill>
                  <a:srgbClr val="9B9BA8"/>
                </a:solidFill>
                <a:latin typeface="Courier"/>
              </a:rPr>
              <a:t>USAGE</a:t>
            </a:r>
            <a:endParaRPr lang="de-DE" sz="65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16" name="Text 16"/>
          <p:cNvSpPr txBox="1"/>
          <p:nvPr/>
        </p:nvSpPr>
        <p:spPr>
          <a:xfrm>
            <a:off x="4151376" y="2011680"/>
            <a:ext cx="2596896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2100" b="1" dirty="0">
                <a:solidFill>
                  <a:srgbClr val="0A0A0F"/>
                </a:solidFill>
                <a:latin typeface="Helvetica"/>
              </a:rPr>
              <a:t>8.4k</a:t>
            </a:r>
            <a:endParaRPr lang="de-DE" sz="21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17" name="Text 17"/>
          <p:cNvSpPr txBox="1"/>
          <p:nvPr/>
        </p:nvSpPr>
        <p:spPr>
          <a:xfrm>
            <a:off x="4151376" y="2414016"/>
            <a:ext cx="2596896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50" dirty="0">
                <a:solidFill>
                  <a:srgbClr val="4A4A4F"/>
                </a:solidFill>
                <a:latin typeface="Helvetica"/>
              </a:rPr>
              <a:t>Workflows / Monat</a:t>
            </a:r>
            <a:endParaRPr lang="de-DE" sz="75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18" name="Metric 18"/>
          <p:cNvSpPr/>
          <p:nvPr/>
        </p:nvSpPr>
        <p:spPr>
          <a:xfrm>
            <a:off x="7296912" y="1664208"/>
            <a:ext cx="2852928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19" name="Text 19"/>
          <p:cNvSpPr txBox="1"/>
          <p:nvPr/>
        </p:nvSpPr>
        <p:spPr>
          <a:xfrm>
            <a:off x="7424928" y="1783080"/>
            <a:ext cx="2596896" cy="1463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650" b="1" dirty="0">
                <a:solidFill>
                  <a:srgbClr val="9B9BA8"/>
                </a:solidFill>
                <a:latin typeface="Courier"/>
              </a:rPr>
              <a:t>QUALITY</a:t>
            </a:r>
            <a:endParaRPr lang="de-DE" sz="65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20" name="Text 20"/>
          <p:cNvSpPr txBox="1"/>
          <p:nvPr/>
        </p:nvSpPr>
        <p:spPr>
          <a:xfrm>
            <a:off x="7424928" y="2011680"/>
            <a:ext cx="2596896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2100" b="1" dirty="0">
                <a:solidFill>
                  <a:srgbClr val="0A0A0F"/>
                </a:solidFill>
                <a:latin typeface="Helvetica"/>
              </a:rPr>
              <a:t>92%</a:t>
            </a:r>
            <a:endParaRPr lang="de-DE" sz="21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21" name="Text 21"/>
          <p:cNvSpPr txBox="1"/>
          <p:nvPr/>
        </p:nvSpPr>
        <p:spPr>
          <a:xfrm>
            <a:off x="7424928" y="2414016"/>
            <a:ext cx="2596896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50" dirty="0">
                <a:solidFill>
                  <a:srgbClr val="4A4A4F"/>
                </a:solidFill>
                <a:latin typeface="Helvetica"/>
              </a:rPr>
              <a:t>ohne Warnung</a:t>
            </a:r>
            <a:endParaRPr lang="de-DE" sz="75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22" name="Metric 22"/>
          <p:cNvSpPr/>
          <p:nvPr/>
        </p:nvSpPr>
        <p:spPr>
          <a:xfrm>
            <a:off x="749808" y="3017520"/>
            <a:ext cx="2852928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23" name="Text 23"/>
          <p:cNvSpPr txBox="1"/>
          <p:nvPr/>
        </p:nvSpPr>
        <p:spPr>
          <a:xfrm>
            <a:off x="877824" y="3136392"/>
            <a:ext cx="2596896" cy="1463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650" b="1" dirty="0">
                <a:solidFill>
                  <a:srgbClr val="9B9BA8"/>
                </a:solidFill>
                <a:latin typeface="Courier"/>
              </a:rPr>
              <a:t>SPEED</a:t>
            </a:r>
            <a:endParaRPr lang="de-DE" sz="65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24" name="Text 24"/>
          <p:cNvSpPr txBox="1"/>
          <p:nvPr/>
        </p:nvSpPr>
        <p:spPr>
          <a:xfrm>
            <a:off x="877824" y="3364992"/>
            <a:ext cx="2596896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2100" b="1" dirty="0">
                <a:solidFill>
                  <a:srgbClr val="0A0A0F"/>
                </a:solidFill>
                <a:latin typeface="Helvetica"/>
              </a:rPr>
              <a:t>58s</a:t>
            </a:r>
            <a:endParaRPr lang="de-DE" sz="21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25" name="Text 25"/>
          <p:cNvSpPr txBox="1"/>
          <p:nvPr/>
        </p:nvSpPr>
        <p:spPr>
          <a:xfrm>
            <a:off x="877824" y="3767328"/>
            <a:ext cx="2596896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50" dirty="0">
                <a:solidFill>
                  <a:srgbClr val="4A4A4F"/>
                </a:solidFill>
                <a:latin typeface="Helvetica"/>
              </a:rPr>
              <a:t>Draft zu Review</a:t>
            </a:r>
            <a:endParaRPr lang="de-DE" sz="75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26" name="Metric 26"/>
          <p:cNvSpPr/>
          <p:nvPr/>
        </p:nvSpPr>
        <p:spPr>
          <a:xfrm>
            <a:off x="4023360" y="3017520"/>
            <a:ext cx="2852928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27" name="Text 27"/>
          <p:cNvSpPr txBox="1"/>
          <p:nvPr/>
        </p:nvSpPr>
        <p:spPr>
          <a:xfrm>
            <a:off x="4151376" y="3136392"/>
            <a:ext cx="2596896" cy="1463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650" b="1" dirty="0">
                <a:solidFill>
                  <a:srgbClr val="9B9BA8"/>
                </a:solidFill>
                <a:latin typeface="Courier"/>
              </a:rPr>
              <a:t>RETENTION</a:t>
            </a:r>
            <a:endParaRPr lang="de-DE" sz="65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28" name="Text 28"/>
          <p:cNvSpPr txBox="1"/>
          <p:nvPr/>
        </p:nvSpPr>
        <p:spPr>
          <a:xfrm>
            <a:off x="4151376" y="3364992"/>
            <a:ext cx="2596896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2100" b="1" dirty="0">
                <a:solidFill>
                  <a:srgbClr val="0A0A0F"/>
                </a:solidFill>
                <a:latin typeface="Helvetica"/>
              </a:rPr>
              <a:t>XX%</a:t>
            </a:r>
            <a:endParaRPr lang="de-DE" sz="21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29" name="Text 29"/>
          <p:cNvSpPr txBox="1"/>
          <p:nvPr/>
        </p:nvSpPr>
        <p:spPr>
          <a:xfrm>
            <a:off x="4151376" y="3767328"/>
            <a:ext cx="2596896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50" dirty="0">
                <a:solidFill>
                  <a:srgbClr val="4A4A4F"/>
                </a:solidFill>
                <a:latin typeface="Helvetica"/>
              </a:rPr>
              <a:t>Logo / Net</a:t>
            </a:r>
            <a:endParaRPr lang="de-DE" sz="75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30" name="Metric 30"/>
          <p:cNvSpPr/>
          <p:nvPr/>
        </p:nvSpPr>
        <p:spPr>
          <a:xfrm>
            <a:off x="7296912" y="3017520"/>
            <a:ext cx="2852928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31" name="Text 31"/>
          <p:cNvSpPr txBox="1"/>
          <p:nvPr/>
        </p:nvSpPr>
        <p:spPr>
          <a:xfrm>
            <a:off x="7424928" y="3136392"/>
            <a:ext cx="2596896" cy="1463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650" b="1" dirty="0">
                <a:solidFill>
                  <a:srgbClr val="9B9BA8"/>
                </a:solidFill>
                <a:latin typeface="Courier"/>
              </a:rPr>
              <a:t>GM</a:t>
            </a:r>
            <a:endParaRPr lang="de-DE" sz="65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32" name="Text 32"/>
          <p:cNvSpPr txBox="1"/>
          <p:nvPr/>
        </p:nvSpPr>
        <p:spPr>
          <a:xfrm>
            <a:off x="7424928" y="3364992"/>
            <a:ext cx="2596896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2100" b="1" dirty="0">
                <a:solidFill>
                  <a:srgbClr val="0A0A0F"/>
                </a:solidFill>
                <a:latin typeface="Helvetica"/>
              </a:rPr>
              <a:t>XX%</a:t>
            </a:r>
            <a:endParaRPr lang="de-DE" sz="21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33" name="Text 33"/>
          <p:cNvSpPr txBox="1"/>
          <p:nvPr/>
        </p:nvSpPr>
        <p:spPr>
          <a:xfrm>
            <a:off x="7424928" y="3767328"/>
            <a:ext cx="2596896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50" dirty="0">
                <a:solidFill>
                  <a:srgbClr val="4A4A4F"/>
                </a:solidFill>
                <a:latin typeface="Helvetica"/>
              </a:rPr>
              <a:t>Platzhalter</a:t>
            </a:r>
            <a:endParaRPr lang="de-DE" sz="75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34" name="Shape 34"/>
          <p:cNvSpPr/>
          <p:nvPr/>
        </p:nvSpPr>
        <p:spPr>
          <a:xfrm>
            <a:off x="749808" y="4645152"/>
            <a:ext cx="9418320" cy="384048"/>
          </a:xfrm>
          <a:prstGeom prst="rect">
            <a:avLst/>
          </a:prstGeom>
          <a:solidFill>
            <a:srgbClr val="F4F4F6"/>
          </a:solidFill>
          <a:ln w="6350">
            <a:solidFill>
              <a:srgbClr val="E8E8EC"/>
            </a:solidFill>
          </a:ln>
        </p:spPr>
        <p:style/>
      </p:sp>
      <p:sp>
        <p:nvSpPr>
          <p:cNvPr id="35" name="Text 35"/>
          <p:cNvSpPr txBox="1"/>
          <p:nvPr/>
        </p:nvSpPr>
        <p:spPr>
          <a:xfrm>
            <a:off x="960120" y="4754880"/>
            <a:ext cx="8869680" cy="12801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800" dirty="0">
                <a:solidFill>
                  <a:srgbClr val="4A4A4F"/>
                </a:solidFill>
                <a:latin typeface="Courier"/>
              </a:rPr>
              <a:t>Dashboard-Sprache: nur Kennzahlen zeigen, die eine Entscheidung ausloesen koennen.</a:t>
            </a:r>
            <a:endParaRPr lang="de-DE" sz="800" dirty="0">
              <a:solidFill>
                <a:srgbClr val="4A4A4F"/>
              </a:solidFill>
              <a:latin typeface="Courier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raction Dashbo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EVO accent bar 2"/>
          <p:cNvSpPr/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3" name="Text 3"/>
          <p:cNvSpPr txBox="1"/>
          <p:nvPr/>
        </p:nvSpPr>
        <p:spPr>
          <a:xfrm>
            <a:off x="566928" y="292608"/>
            <a:ext cx="429768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50" b="1" dirty="0">
                <a:solidFill>
                  <a:srgbClr val="9B9BA8"/>
                </a:solidFill>
                <a:latin typeface="Courier"/>
              </a:rPr>
              <a:t>TRACTION</a:t>
            </a:r>
            <a:endParaRPr lang="de-DE" sz="75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4" name="Header rule 4"/>
          <p:cNvSpPr/>
          <p:nvPr/>
        </p:nvSpPr>
        <p:spPr>
          <a:xfrm>
            <a:off x="566928" y="658368"/>
            <a:ext cx="11045952" cy="5486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/>
      </p:sp>
      <p:sp>
        <p:nvSpPr>
          <p:cNvPr id="5" name="Text 5"/>
          <p:cNvSpPr txBox="1"/>
          <p:nvPr/>
        </p:nvSpPr>
        <p:spPr>
          <a:xfrm>
            <a:off x="566928" y="804672"/>
            <a:ext cx="10058400" cy="53035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2400" b="1" dirty="0">
                <a:solidFill>
                  <a:srgbClr val="0A0A0F"/>
                </a:solidFill>
                <a:latin typeface="Helvetica"/>
              </a:rPr>
              <a:t>Traktion sollte als Pipeline von Lernen zu Wiederholbarkeit gelesen werden</a:t>
            </a:r>
            <a:endParaRPr lang="de-DE" sz="24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6" name="Footer rule 6"/>
          <p:cNvSpPr/>
          <p:nvPr/>
        </p:nvSpPr>
        <p:spPr>
          <a:xfrm>
            <a:off x="566928" y="6419088"/>
            <a:ext cx="11045952" cy="5486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/>
      </p:sp>
      <p:sp>
        <p:nvSpPr>
          <p:cNvPr id="7" name="Text 7"/>
          <p:cNvSpPr txBox="1"/>
          <p:nvPr/>
        </p:nvSpPr>
        <p:spPr>
          <a:xfrm>
            <a:off x="566928" y="6510528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680" dirty="0">
                <a:solidFill>
                  <a:srgbClr val="9B9BA8"/>
                </a:solidFill>
                <a:latin typeface="Courier"/>
              </a:rPr>
              <a:t>CAREVO VC / CONSULTING TEMPLATE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8" name="Text 8"/>
          <p:cNvSpPr txBox="1"/>
          <p:nvPr/>
        </p:nvSpPr>
        <p:spPr>
          <a:xfrm>
            <a:off x="4572000" y="6510528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680" dirty="0">
                <a:solidFill>
                  <a:srgbClr val="9B9BA8"/>
                </a:solidFill>
                <a:latin typeface="Courier"/>
              </a:rPr>
              <a:t>CONFIDENTIAL - TEMPLATE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9" name="Text 9"/>
          <p:cNvSpPr txBox="1"/>
          <p:nvPr/>
        </p:nvSpPr>
        <p:spPr>
          <a:xfrm>
            <a:off x="11018520" y="6510528"/>
            <a:ext cx="59436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r"/>
            <a:r>
              <a:rPr lang="de-DE" sz="680" dirty="0">
                <a:solidFill>
                  <a:srgbClr val="9B9BA8"/>
                </a:solidFill>
                <a:latin typeface="Courier"/>
              </a:rPr>
              <a:t>20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10" name="Chart baseline 10"/>
          <p:cNvSpPr/>
          <p:nvPr/>
        </p:nvSpPr>
        <p:spPr>
          <a:xfrm>
            <a:off x="868680" y="3840480"/>
            <a:ext cx="4663440" cy="7315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/>
      </p:sp>
      <p:sp>
        <p:nvSpPr>
          <p:cNvPr id="11" name="Chart bar 11"/>
          <p:cNvSpPr/>
          <p:nvPr/>
        </p:nvSpPr>
        <p:spPr>
          <a:xfrm>
            <a:off x="868680" y="3538728"/>
            <a:ext cx="655320" cy="301752"/>
          </a:xfrm>
          <a:prstGeom prst="rect">
            <a:avLst/>
          </a:prstGeom>
          <a:solidFill>
            <a:srgbClr val="9B9BA8"/>
          </a:solidFill>
          <a:ln>
            <a:noFill/>
          </a:ln>
        </p:spPr>
        <p:style/>
      </p:sp>
      <p:sp>
        <p:nvSpPr>
          <p:cNvPr id="12" name="Text 12"/>
          <p:cNvSpPr txBox="1"/>
          <p:nvPr/>
        </p:nvSpPr>
        <p:spPr>
          <a:xfrm>
            <a:off x="868680" y="3913632"/>
            <a:ext cx="655320" cy="1463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640" dirty="0">
                <a:solidFill>
                  <a:srgbClr val="9B9BA8"/>
                </a:solidFill>
                <a:latin typeface="Courier"/>
              </a:rPr>
              <a:t>M1</a:t>
            </a:r>
            <a:endParaRPr lang="de-DE" sz="64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13" name="Text 13"/>
          <p:cNvSpPr txBox="1"/>
          <p:nvPr/>
        </p:nvSpPr>
        <p:spPr>
          <a:xfrm>
            <a:off x="868680" y="3374136"/>
            <a:ext cx="655320" cy="12801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700" dirty="0">
                <a:solidFill>
                  <a:srgbClr val="0A0A0F"/>
                </a:solidFill>
                <a:latin typeface="Courier"/>
              </a:rPr>
              <a:t>12</a:t>
            </a:r>
            <a:endParaRPr lang="de-DE" sz="700" dirty="0">
              <a:solidFill>
                <a:srgbClr val="0A0A0F"/>
              </a:solidFill>
              <a:latin typeface="Courier"/>
            </a:endParaRPr>
          </a:p>
        </p:txBody>
      </p:sp>
      <p:sp>
        <p:nvSpPr>
          <p:cNvPr id="14" name="Chart bar 14"/>
          <p:cNvSpPr/>
          <p:nvPr/>
        </p:nvSpPr>
        <p:spPr>
          <a:xfrm>
            <a:off x="1670304" y="3387852"/>
            <a:ext cx="655320" cy="452628"/>
          </a:xfrm>
          <a:prstGeom prst="rect">
            <a:avLst/>
          </a:prstGeom>
          <a:solidFill>
            <a:srgbClr val="4A4A4F"/>
          </a:solidFill>
          <a:ln>
            <a:noFill/>
          </a:ln>
        </p:spPr>
        <p:style/>
      </p:sp>
      <p:sp>
        <p:nvSpPr>
          <p:cNvPr id="15" name="Text 15"/>
          <p:cNvSpPr txBox="1"/>
          <p:nvPr/>
        </p:nvSpPr>
        <p:spPr>
          <a:xfrm>
            <a:off x="1670304" y="3913632"/>
            <a:ext cx="655320" cy="1463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640" dirty="0">
                <a:solidFill>
                  <a:srgbClr val="9B9BA8"/>
                </a:solidFill>
                <a:latin typeface="Courier"/>
              </a:rPr>
              <a:t>M2</a:t>
            </a:r>
            <a:endParaRPr lang="de-DE" sz="64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16" name="Text 16"/>
          <p:cNvSpPr txBox="1"/>
          <p:nvPr/>
        </p:nvSpPr>
        <p:spPr>
          <a:xfrm>
            <a:off x="1670304" y="3223260"/>
            <a:ext cx="655320" cy="12801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700" dirty="0">
                <a:solidFill>
                  <a:srgbClr val="0A0A0F"/>
                </a:solidFill>
                <a:latin typeface="Courier"/>
              </a:rPr>
              <a:t>18</a:t>
            </a:r>
            <a:endParaRPr lang="de-DE" sz="700" dirty="0">
              <a:solidFill>
                <a:srgbClr val="0A0A0F"/>
              </a:solidFill>
              <a:latin typeface="Courier"/>
            </a:endParaRPr>
          </a:p>
        </p:txBody>
      </p:sp>
      <p:sp>
        <p:nvSpPr>
          <p:cNvPr id="17" name="Chart bar 17"/>
          <p:cNvSpPr/>
          <p:nvPr/>
        </p:nvSpPr>
        <p:spPr>
          <a:xfrm>
            <a:off x="2471928" y="3060954"/>
            <a:ext cx="655320" cy="779526"/>
          </a:xfrm>
          <a:prstGeom prst="rect">
            <a:avLst/>
          </a:prstGeom>
          <a:solidFill>
            <a:srgbClr val="9B9BA8"/>
          </a:solidFill>
          <a:ln>
            <a:noFill/>
          </a:ln>
        </p:spPr>
        <p:style/>
      </p:sp>
      <p:sp>
        <p:nvSpPr>
          <p:cNvPr id="18" name="Text 18"/>
          <p:cNvSpPr txBox="1"/>
          <p:nvPr/>
        </p:nvSpPr>
        <p:spPr>
          <a:xfrm>
            <a:off x="2471928" y="3913632"/>
            <a:ext cx="655320" cy="1463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640" dirty="0">
                <a:solidFill>
                  <a:srgbClr val="9B9BA8"/>
                </a:solidFill>
                <a:latin typeface="Courier"/>
              </a:rPr>
              <a:t>M3</a:t>
            </a:r>
            <a:endParaRPr lang="de-DE" sz="64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19" name="Text 19"/>
          <p:cNvSpPr txBox="1"/>
          <p:nvPr/>
        </p:nvSpPr>
        <p:spPr>
          <a:xfrm>
            <a:off x="2471928" y="2896362"/>
            <a:ext cx="655320" cy="12801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700" dirty="0">
                <a:solidFill>
                  <a:srgbClr val="0A0A0F"/>
                </a:solidFill>
                <a:latin typeface="Courier"/>
              </a:rPr>
              <a:t>31</a:t>
            </a:r>
            <a:endParaRPr lang="de-DE" sz="700" dirty="0">
              <a:solidFill>
                <a:srgbClr val="0A0A0F"/>
              </a:solidFill>
              <a:latin typeface="Courier"/>
            </a:endParaRPr>
          </a:p>
        </p:txBody>
      </p:sp>
      <p:sp>
        <p:nvSpPr>
          <p:cNvPr id="20" name="Chart bar 20"/>
          <p:cNvSpPr/>
          <p:nvPr/>
        </p:nvSpPr>
        <p:spPr>
          <a:xfrm>
            <a:off x="3273552" y="2708910"/>
            <a:ext cx="655320" cy="1131570"/>
          </a:xfrm>
          <a:prstGeom prst="rect">
            <a:avLst/>
          </a:prstGeom>
          <a:solidFill>
            <a:srgbClr val="4A4A4F"/>
          </a:solidFill>
          <a:ln>
            <a:noFill/>
          </a:ln>
        </p:spPr>
        <p:style/>
      </p:sp>
      <p:sp>
        <p:nvSpPr>
          <p:cNvPr id="21" name="Text 21"/>
          <p:cNvSpPr txBox="1"/>
          <p:nvPr/>
        </p:nvSpPr>
        <p:spPr>
          <a:xfrm>
            <a:off x="3273552" y="3913632"/>
            <a:ext cx="655320" cy="1463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640" dirty="0">
                <a:solidFill>
                  <a:srgbClr val="9B9BA8"/>
                </a:solidFill>
                <a:latin typeface="Courier"/>
              </a:rPr>
              <a:t>M4</a:t>
            </a:r>
            <a:endParaRPr lang="de-DE" sz="64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22" name="Text 22"/>
          <p:cNvSpPr txBox="1"/>
          <p:nvPr/>
        </p:nvSpPr>
        <p:spPr>
          <a:xfrm>
            <a:off x="3273552" y="2544318"/>
            <a:ext cx="655320" cy="12801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700" dirty="0">
                <a:solidFill>
                  <a:srgbClr val="0A0A0F"/>
                </a:solidFill>
                <a:latin typeface="Courier"/>
              </a:rPr>
              <a:t>45</a:t>
            </a:r>
            <a:endParaRPr lang="de-DE" sz="700" dirty="0">
              <a:solidFill>
                <a:srgbClr val="0A0A0F"/>
              </a:solidFill>
              <a:latin typeface="Courier"/>
            </a:endParaRPr>
          </a:p>
        </p:txBody>
      </p:sp>
      <p:sp>
        <p:nvSpPr>
          <p:cNvPr id="23" name="Chart bar 23"/>
          <p:cNvSpPr/>
          <p:nvPr/>
        </p:nvSpPr>
        <p:spPr>
          <a:xfrm>
            <a:off x="4075176" y="2306574"/>
            <a:ext cx="655320" cy="1533906"/>
          </a:xfrm>
          <a:prstGeom prst="rect">
            <a:avLst/>
          </a:prstGeom>
          <a:solidFill>
            <a:srgbClr val="9B9BA8"/>
          </a:solidFill>
          <a:ln>
            <a:noFill/>
          </a:ln>
        </p:spPr>
        <p:style/>
      </p:sp>
      <p:sp>
        <p:nvSpPr>
          <p:cNvPr id="24" name="Text 24"/>
          <p:cNvSpPr txBox="1"/>
          <p:nvPr/>
        </p:nvSpPr>
        <p:spPr>
          <a:xfrm>
            <a:off x="4075176" y="3913632"/>
            <a:ext cx="655320" cy="1463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640" dirty="0">
                <a:solidFill>
                  <a:srgbClr val="9B9BA8"/>
                </a:solidFill>
                <a:latin typeface="Courier"/>
              </a:rPr>
              <a:t>M5</a:t>
            </a:r>
            <a:endParaRPr lang="de-DE" sz="64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25" name="Text 25"/>
          <p:cNvSpPr txBox="1"/>
          <p:nvPr/>
        </p:nvSpPr>
        <p:spPr>
          <a:xfrm>
            <a:off x="4075176" y="2141982"/>
            <a:ext cx="655320" cy="12801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700" dirty="0">
                <a:solidFill>
                  <a:srgbClr val="0A0A0F"/>
                </a:solidFill>
                <a:latin typeface="Courier"/>
              </a:rPr>
              <a:t>61</a:t>
            </a:r>
            <a:endParaRPr lang="de-DE" sz="700" dirty="0">
              <a:solidFill>
                <a:srgbClr val="0A0A0F"/>
              </a:solidFill>
              <a:latin typeface="Courier"/>
            </a:endParaRPr>
          </a:p>
        </p:txBody>
      </p:sp>
      <p:sp>
        <p:nvSpPr>
          <p:cNvPr id="26" name="Chart bar 26"/>
          <p:cNvSpPr/>
          <p:nvPr/>
        </p:nvSpPr>
        <p:spPr>
          <a:xfrm>
            <a:off x="4876800" y="1828800"/>
            <a:ext cx="655320" cy="2011680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27" name="Text 27"/>
          <p:cNvSpPr txBox="1"/>
          <p:nvPr/>
        </p:nvSpPr>
        <p:spPr>
          <a:xfrm>
            <a:off x="4876800" y="3913632"/>
            <a:ext cx="655320" cy="1463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640" dirty="0">
                <a:solidFill>
                  <a:srgbClr val="9B9BA8"/>
                </a:solidFill>
                <a:latin typeface="Courier"/>
              </a:rPr>
              <a:t>M6</a:t>
            </a:r>
            <a:endParaRPr lang="de-DE" sz="64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28" name="Text 28"/>
          <p:cNvSpPr txBox="1"/>
          <p:nvPr/>
        </p:nvSpPr>
        <p:spPr>
          <a:xfrm>
            <a:off x="4876800" y="1664208"/>
            <a:ext cx="655320" cy="12801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700" dirty="0">
                <a:solidFill>
                  <a:srgbClr val="0A0A0F"/>
                </a:solidFill>
                <a:latin typeface="Courier"/>
              </a:rPr>
              <a:t>80</a:t>
            </a:r>
            <a:endParaRPr lang="de-DE" sz="700" dirty="0">
              <a:solidFill>
                <a:srgbClr val="0A0A0F"/>
              </a:solidFill>
              <a:latin typeface="Courier"/>
            </a:endParaRPr>
          </a:p>
        </p:txBody>
      </p:sp>
      <p:sp>
        <p:nvSpPr>
          <p:cNvPr id="29" name="Table header 29"/>
          <p:cNvSpPr/>
          <p:nvPr/>
        </p:nvSpPr>
        <p:spPr>
          <a:xfrm>
            <a:off x="5989320" y="1682496"/>
            <a:ext cx="4983480" cy="393192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/>
      </p:sp>
      <p:sp>
        <p:nvSpPr>
          <p:cNvPr id="30" name="Text 30"/>
          <p:cNvSpPr txBox="1"/>
          <p:nvPr/>
        </p:nvSpPr>
        <p:spPr>
          <a:xfrm>
            <a:off x="6062472" y="1773936"/>
            <a:ext cx="1453896" cy="26517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40" b="1" dirty="0">
                <a:solidFill>
                  <a:srgbClr val="FFFFFF"/>
                </a:solidFill>
                <a:latin typeface="Courier"/>
              </a:rPr>
              <a:t>Kohorte</a:t>
            </a:r>
            <a:endParaRPr lang="de-DE" sz="740" dirty="0">
              <a:solidFill>
                <a:srgbClr val="FFFFFF"/>
              </a:solidFill>
              <a:latin typeface="Courier"/>
            </a:endParaRPr>
          </a:p>
        </p:txBody>
      </p:sp>
      <p:sp>
        <p:nvSpPr>
          <p:cNvPr id="31" name="Text 31"/>
          <p:cNvSpPr txBox="1"/>
          <p:nvPr/>
        </p:nvSpPr>
        <p:spPr>
          <a:xfrm>
            <a:off x="7662672" y="1773936"/>
            <a:ext cx="905256" cy="26517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40" b="1" dirty="0">
                <a:solidFill>
                  <a:srgbClr val="FFFFFF"/>
                </a:solidFill>
                <a:latin typeface="Courier"/>
              </a:rPr>
              <a:t>Pilot</a:t>
            </a:r>
            <a:endParaRPr lang="de-DE" sz="740" dirty="0">
              <a:solidFill>
                <a:srgbClr val="FFFFFF"/>
              </a:solidFill>
              <a:latin typeface="Courier"/>
            </a:endParaRPr>
          </a:p>
        </p:txBody>
      </p:sp>
      <p:sp>
        <p:nvSpPr>
          <p:cNvPr id="32" name="Text 32"/>
          <p:cNvSpPr txBox="1"/>
          <p:nvPr/>
        </p:nvSpPr>
        <p:spPr>
          <a:xfrm>
            <a:off x="8714232" y="1773936"/>
            <a:ext cx="905256" cy="26517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40" b="1" dirty="0">
                <a:solidFill>
                  <a:srgbClr val="FFFFFF"/>
                </a:solidFill>
                <a:latin typeface="Courier"/>
              </a:rPr>
              <a:t>Paid</a:t>
            </a:r>
            <a:endParaRPr lang="de-DE" sz="740" dirty="0">
              <a:solidFill>
                <a:srgbClr val="FFFFFF"/>
              </a:solidFill>
              <a:latin typeface="Courier"/>
            </a:endParaRPr>
          </a:p>
        </p:txBody>
      </p:sp>
      <p:sp>
        <p:nvSpPr>
          <p:cNvPr id="33" name="Text 33"/>
          <p:cNvSpPr txBox="1"/>
          <p:nvPr/>
        </p:nvSpPr>
        <p:spPr>
          <a:xfrm>
            <a:off x="9765792" y="1773936"/>
            <a:ext cx="1133856" cy="26517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40" b="1" dirty="0">
                <a:solidFill>
                  <a:srgbClr val="FFFFFF"/>
                </a:solidFill>
                <a:latin typeface="Courier"/>
              </a:rPr>
              <a:t>Status</a:t>
            </a:r>
            <a:endParaRPr lang="de-DE" sz="740" dirty="0">
              <a:solidFill>
                <a:srgbClr val="FFFFFF"/>
              </a:solidFill>
              <a:latin typeface="Courier"/>
            </a:endParaRPr>
          </a:p>
        </p:txBody>
      </p:sp>
      <p:sp>
        <p:nvSpPr>
          <p:cNvPr id="34" name="Table cell 34"/>
          <p:cNvSpPr/>
          <p:nvPr/>
        </p:nvSpPr>
        <p:spPr>
          <a:xfrm>
            <a:off x="5989320" y="2075688"/>
            <a:ext cx="1600200" cy="393192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35" name="Text 35"/>
          <p:cNvSpPr txBox="1"/>
          <p:nvPr/>
        </p:nvSpPr>
        <p:spPr>
          <a:xfrm>
            <a:off x="6062472" y="2176272"/>
            <a:ext cx="1453896" cy="26517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0A0A0F"/>
                </a:solidFill>
                <a:latin typeface="Helvetica"/>
              </a:rPr>
              <a:t>Q1 Pflege</a:t>
            </a:r>
            <a:endParaRPr lang="de-DE" sz="76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36" name="Table cell 36"/>
          <p:cNvSpPr/>
          <p:nvPr/>
        </p:nvSpPr>
        <p:spPr>
          <a:xfrm>
            <a:off x="7589520" y="2075688"/>
            <a:ext cx="1051560" cy="393192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37" name="Text 37"/>
          <p:cNvSpPr txBox="1"/>
          <p:nvPr/>
        </p:nvSpPr>
        <p:spPr>
          <a:xfrm>
            <a:off x="7662672" y="2176272"/>
            <a:ext cx="905256" cy="26517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8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38" name="Table cell 38"/>
          <p:cNvSpPr/>
          <p:nvPr/>
        </p:nvSpPr>
        <p:spPr>
          <a:xfrm>
            <a:off x="8641080" y="2075688"/>
            <a:ext cx="1051560" cy="393192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39" name="Text 39"/>
          <p:cNvSpPr txBox="1"/>
          <p:nvPr/>
        </p:nvSpPr>
        <p:spPr>
          <a:xfrm>
            <a:off x="8714232" y="2176272"/>
            <a:ext cx="905256" cy="26517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3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40" name="Table cell 40"/>
          <p:cNvSpPr/>
          <p:nvPr/>
        </p:nvSpPr>
        <p:spPr>
          <a:xfrm>
            <a:off x="9692640" y="2075688"/>
            <a:ext cx="1280160" cy="393192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41" name="Text 41"/>
          <p:cNvSpPr txBox="1"/>
          <p:nvPr/>
        </p:nvSpPr>
        <p:spPr>
          <a:xfrm>
            <a:off x="9765792" y="2176272"/>
            <a:ext cx="1133856" cy="26517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lernen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42" name="Table cell 42"/>
          <p:cNvSpPr/>
          <p:nvPr/>
        </p:nvSpPr>
        <p:spPr>
          <a:xfrm>
            <a:off x="5989320" y="2468880"/>
            <a:ext cx="1600200" cy="393192"/>
          </a:xfrm>
          <a:prstGeom prst="rect">
            <a:avLst/>
          </a:prstGeom>
          <a:solidFill>
            <a:srgbClr val="FFFFFF"/>
          </a:solidFill>
          <a:ln w="4445">
            <a:solidFill>
              <a:srgbClr val="E8E8EC"/>
            </a:solidFill>
          </a:ln>
        </p:spPr>
        <p:style/>
      </p:sp>
      <p:sp>
        <p:nvSpPr>
          <p:cNvPr id="43" name="Text 43"/>
          <p:cNvSpPr txBox="1"/>
          <p:nvPr/>
        </p:nvSpPr>
        <p:spPr>
          <a:xfrm>
            <a:off x="6062472" y="2569464"/>
            <a:ext cx="1453896" cy="26517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0A0A0F"/>
                </a:solidFill>
                <a:latin typeface="Helvetica"/>
              </a:rPr>
              <a:t>Q2 Praxis</a:t>
            </a:r>
            <a:endParaRPr lang="de-DE" sz="76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44" name="Table cell 44"/>
          <p:cNvSpPr/>
          <p:nvPr/>
        </p:nvSpPr>
        <p:spPr>
          <a:xfrm>
            <a:off x="7589520" y="2468880"/>
            <a:ext cx="1051560" cy="393192"/>
          </a:xfrm>
          <a:prstGeom prst="rect">
            <a:avLst/>
          </a:prstGeom>
          <a:solidFill>
            <a:srgbClr val="FFFFFF"/>
          </a:solidFill>
          <a:ln w="4445">
            <a:solidFill>
              <a:srgbClr val="E8E8EC"/>
            </a:solidFill>
          </a:ln>
        </p:spPr>
        <p:style/>
      </p:sp>
      <p:sp>
        <p:nvSpPr>
          <p:cNvPr id="45" name="Text 45"/>
          <p:cNvSpPr txBox="1"/>
          <p:nvPr/>
        </p:nvSpPr>
        <p:spPr>
          <a:xfrm>
            <a:off x="7662672" y="2569464"/>
            <a:ext cx="905256" cy="26517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12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46" name="Table cell 46"/>
          <p:cNvSpPr/>
          <p:nvPr/>
        </p:nvSpPr>
        <p:spPr>
          <a:xfrm>
            <a:off x="8641080" y="2468880"/>
            <a:ext cx="1051560" cy="393192"/>
          </a:xfrm>
          <a:prstGeom prst="rect">
            <a:avLst/>
          </a:prstGeom>
          <a:solidFill>
            <a:srgbClr val="FFFFFF"/>
          </a:solidFill>
          <a:ln w="4445">
            <a:solidFill>
              <a:srgbClr val="E8E8EC"/>
            </a:solidFill>
          </a:ln>
        </p:spPr>
        <p:style/>
      </p:sp>
      <p:sp>
        <p:nvSpPr>
          <p:cNvPr id="47" name="Text 47"/>
          <p:cNvSpPr txBox="1"/>
          <p:nvPr/>
        </p:nvSpPr>
        <p:spPr>
          <a:xfrm>
            <a:off x="8714232" y="2569464"/>
            <a:ext cx="905256" cy="26517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5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48" name="Table cell 48"/>
          <p:cNvSpPr/>
          <p:nvPr/>
        </p:nvSpPr>
        <p:spPr>
          <a:xfrm>
            <a:off x="9692640" y="2468880"/>
            <a:ext cx="1280160" cy="393192"/>
          </a:xfrm>
          <a:prstGeom prst="rect">
            <a:avLst/>
          </a:prstGeom>
          <a:solidFill>
            <a:srgbClr val="FFFFFF"/>
          </a:solidFill>
          <a:ln w="4445">
            <a:solidFill>
              <a:srgbClr val="E8E8EC"/>
            </a:solidFill>
          </a:ln>
        </p:spPr>
        <p:style/>
      </p:sp>
      <p:sp>
        <p:nvSpPr>
          <p:cNvPr id="49" name="Text 49"/>
          <p:cNvSpPr txBox="1"/>
          <p:nvPr/>
        </p:nvSpPr>
        <p:spPr>
          <a:xfrm>
            <a:off x="9765792" y="2569464"/>
            <a:ext cx="1133856" cy="26517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wiederholen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50" name="Table cell 50"/>
          <p:cNvSpPr/>
          <p:nvPr/>
        </p:nvSpPr>
        <p:spPr>
          <a:xfrm>
            <a:off x="5989320" y="2862072"/>
            <a:ext cx="1600200" cy="393192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51" name="Text 51"/>
          <p:cNvSpPr txBox="1"/>
          <p:nvPr/>
        </p:nvSpPr>
        <p:spPr>
          <a:xfrm>
            <a:off x="6062472" y="2962656"/>
            <a:ext cx="1453896" cy="26517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0A0A0F"/>
                </a:solidFill>
                <a:latin typeface="Helvetica"/>
              </a:rPr>
              <a:t>Q3 Klinik</a:t>
            </a:r>
            <a:endParaRPr lang="de-DE" sz="76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52" name="Table cell 52"/>
          <p:cNvSpPr/>
          <p:nvPr/>
        </p:nvSpPr>
        <p:spPr>
          <a:xfrm>
            <a:off x="7589520" y="2862072"/>
            <a:ext cx="1051560" cy="393192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53" name="Text 53"/>
          <p:cNvSpPr txBox="1"/>
          <p:nvPr/>
        </p:nvSpPr>
        <p:spPr>
          <a:xfrm>
            <a:off x="7662672" y="2962656"/>
            <a:ext cx="905256" cy="26517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4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54" name="Table cell 54"/>
          <p:cNvSpPr/>
          <p:nvPr/>
        </p:nvSpPr>
        <p:spPr>
          <a:xfrm>
            <a:off x="8641080" y="2862072"/>
            <a:ext cx="1051560" cy="393192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55" name="Text 55"/>
          <p:cNvSpPr txBox="1"/>
          <p:nvPr/>
        </p:nvSpPr>
        <p:spPr>
          <a:xfrm>
            <a:off x="8714232" y="2962656"/>
            <a:ext cx="905256" cy="26517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1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56" name="Table cell 56"/>
          <p:cNvSpPr/>
          <p:nvPr/>
        </p:nvSpPr>
        <p:spPr>
          <a:xfrm>
            <a:off x="9692640" y="2862072"/>
            <a:ext cx="1280160" cy="393192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57" name="Text 57"/>
          <p:cNvSpPr txBox="1"/>
          <p:nvPr/>
        </p:nvSpPr>
        <p:spPr>
          <a:xfrm>
            <a:off x="9765792" y="2962656"/>
            <a:ext cx="1133856" cy="26517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enterprise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58" name="Table cell 58"/>
          <p:cNvSpPr/>
          <p:nvPr/>
        </p:nvSpPr>
        <p:spPr>
          <a:xfrm>
            <a:off x="5989320" y="3255264"/>
            <a:ext cx="1600200" cy="393192"/>
          </a:xfrm>
          <a:prstGeom prst="rect">
            <a:avLst/>
          </a:prstGeom>
          <a:solidFill>
            <a:srgbClr val="FFFFFF"/>
          </a:solidFill>
          <a:ln w="4445">
            <a:solidFill>
              <a:srgbClr val="E8E8EC"/>
            </a:solidFill>
          </a:ln>
        </p:spPr>
        <p:style/>
      </p:sp>
      <p:sp>
        <p:nvSpPr>
          <p:cNvPr id="59" name="Text 59"/>
          <p:cNvSpPr txBox="1"/>
          <p:nvPr/>
        </p:nvSpPr>
        <p:spPr>
          <a:xfrm>
            <a:off x="6062472" y="3355848"/>
            <a:ext cx="1453896" cy="26517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0A0A0F"/>
                </a:solidFill>
                <a:latin typeface="Helvetica"/>
              </a:rPr>
              <a:t>Partner</a:t>
            </a:r>
            <a:endParaRPr lang="de-DE" sz="76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60" name="Table cell 60"/>
          <p:cNvSpPr/>
          <p:nvPr/>
        </p:nvSpPr>
        <p:spPr>
          <a:xfrm>
            <a:off x="7589520" y="3255264"/>
            <a:ext cx="1051560" cy="393192"/>
          </a:xfrm>
          <a:prstGeom prst="rect">
            <a:avLst/>
          </a:prstGeom>
          <a:solidFill>
            <a:srgbClr val="FFFFFF"/>
          </a:solidFill>
          <a:ln w="4445">
            <a:solidFill>
              <a:srgbClr val="E8E8EC"/>
            </a:solidFill>
          </a:ln>
        </p:spPr>
        <p:style/>
      </p:sp>
      <p:sp>
        <p:nvSpPr>
          <p:cNvPr id="61" name="Text 61"/>
          <p:cNvSpPr txBox="1"/>
          <p:nvPr/>
        </p:nvSpPr>
        <p:spPr>
          <a:xfrm>
            <a:off x="7662672" y="3355848"/>
            <a:ext cx="905256" cy="26517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6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62" name="Table cell 62"/>
          <p:cNvSpPr/>
          <p:nvPr/>
        </p:nvSpPr>
        <p:spPr>
          <a:xfrm>
            <a:off x="8641080" y="3255264"/>
            <a:ext cx="1051560" cy="393192"/>
          </a:xfrm>
          <a:prstGeom prst="rect">
            <a:avLst/>
          </a:prstGeom>
          <a:solidFill>
            <a:srgbClr val="FFFFFF"/>
          </a:solidFill>
          <a:ln w="4445">
            <a:solidFill>
              <a:srgbClr val="E8E8EC"/>
            </a:solidFill>
          </a:ln>
        </p:spPr>
        <p:style/>
      </p:sp>
      <p:sp>
        <p:nvSpPr>
          <p:cNvPr id="63" name="Text 63"/>
          <p:cNvSpPr txBox="1"/>
          <p:nvPr/>
        </p:nvSpPr>
        <p:spPr>
          <a:xfrm>
            <a:off x="8714232" y="3355848"/>
            <a:ext cx="905256" cy="26517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2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64" name="Table cell 64"/>
          <p:cNvSpPr/>
          <p:nvPr/>
        </p:nvSpPr>
        <p:spPr>
          <a:xfrm>
            <a:off x="9692640" y="3255264"/>
            <a:ext cx="1280160" cy="393192"/>
          </a:xfrm>
          <a:prstGeom prst="rect">
            <a:avLst/>
          </a:prstGeom>
          <a:solidFill>
            <a:srgbClr val="FFFFFF"/>
          </a:solidFill>
          <a:ln w="4445">
            <a:solidFill>
              <a:srgbClr val="E8E8EC"/>
            </a:solidFill>
          </a:ln>
        </p:spPr>
        <p:style/>
      </p:sp>
      <p:sp>
        <p:nvSpPr>
          <p:cNvPr id="65" name="Text 65"/>
          <p:cNvSpPr txBox="1"/>
          <p:nvPr/>
        </p:nvSpPr>
        <p:spPr>
          <a:xfrm>
            <a:off x="9765792" y="3355848"/>
            <a:ext cx="1133856" cy="26517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channel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66" name="Text 66"/>
          <p:cNvSpPr txBox="1"/>
          <p:nvPr/>
        </p:nvSpPr>
        <p:spPr>
          <a:xfrm>
            <a:off x="868680" y="5074920"/>
            <a:ext cx="950976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50" dirty="0">
                <a:solidFill>
                  <a:srgbClr val="9B9BA8"/>
                </a:solidFill>
                <a:latin typeface="Courier"/>
              </a:rPr>
              <a:t>Beispielwerte; Pipeline-Struktur bleibt, Daten werden ersetzt.</a:t>
            </a:r>
            <a:endParaRPr lang="de-DE" sz="750" dirty="0">
              <a:solidFill>
                <a:srgbClr val="9B9BA8"/>
              </a:solidFill>
              <a:latin typeface="Courier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TM Mo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EVO accent bar 2"/>
          <p:cNvSpPr/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3" name="Text 3"/>
          <p:cNvSpPr txBox="1"/>
          <p:nvPr/>
        </p:nvSpPr>
        <p:spPr>
          <a:xfrm>
            <a:off x="566928" y="292608"/>
            <a:ext cx="429768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50" b="1" dirty="0">
                <a:solidFill>
                  <a:srgbClr val="9B9BA8"/>
                </a:solidFill>
                <a:latin typeface="Courier"/>
              </a:rPr>
              <a:t>GO-TO-MARKET</a:t>
            </a:r>
            <a:endParaRPr lang="de-DE" sz="75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4" name="Header rule 4"/>
          <p:cNvSpPr/>
          <p:nvPr/>
        </p:nvSpPr>
        <p:spPr>
          <a:xfrm>
            <a:off x="566928" y="658368"/>
            <a:ext cx="11045952" cy="5486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/>
      </p:sp>
      <p:sp>
        <p:nvSpPr>
          <p:cNvPr id="5" name="Text 5"/>
          <p:cNvSpPr txBox="1"/>
          <p:nvPr/>
        </p:nvSpPr>
        <p:spPr>
          <a:xfrm>
            <a:off x="566928" y="804672"/>
            <a:ext cx="10058400" cy="53035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2400" b="1" dirty="0">
                <a:solidFill>
                  <a:srgbClr val="0A0A0F"/>
                </a:solidFill>
                <a:latin typeface="Helvetica"/>
              </a:rPr>
              <a:t>GTM kombiniert Pilot-Sicherheit mit Enterprise-Ausbau</a:t>
            </a:r>
            <a:endParaRPr lang="de-DE" sz="24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6" name="Footer rule 6"/>
          <p:cNvSpPr/>
          <p:nvPr/>
        </p:nvSpPr>
        <p:spPr>
          <a:xfrm>
            <a:off x="566928" y="6419088"/>
            <a:ext cx="11045952" cy="5486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/>
      </p:sp>
      <p:sp>
        <p:nvSpPr>
          <p:cNvPr id="7" name="Text 7"/>
          <p:cNvSpPr txBox="1"/>
          <p:nvPr/>
        </p:nvSpPr>
        <p:spPr>
          <a:xfrm>
            <a:off x="566928" y="6510528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680" dirty="0">
                <a:solidFill>
                  <a:srgbClr val="9B9BA8"/>
                </a:solidFill>
                <a:latin typeface="Courier"/>
              </a:rPr>
              <a:t>CAREVO VC / CONSULTING TEMPLATE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8" name="Text 8"/>
          <p:cNvSpPr txBox="1"/>
          <p:nvPr/>
        </p:nvSpPr>
        <p:spPr>
          <a:xfrm>
            <a:off x="4572000" y="6510528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680" dirty="0">
                <a:solidFill>
                  <a:srgbClr val="9B9BA8"/>
                </a:solidFill>
                <a:latin typeface="Courier"/>
              </a:rPr>
              <a:t>CONFIDENTIAL - TEMPLATE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9" name="Text 9"/>
          <p:cNvSpPr txBox="1"/>
          <p:nvPr/>
        </p:nvSpPr>
        <p:spPr>
          <a:xfrm>
            <a:off x="11018520" y="6510528"/>
            <a:ext cx="59436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r"/>
            <a:r>
              <a:rPr lang="de-DE" sz="680" dirty="0">
                <a:solidFill>
                  <a:srgbClr val="9B9BA8"/>
                </a:solidFill>
                <a:latin typeface="Courier"/>
              </a:rPr>
              <a:t>21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10" name="Process step 10"/>
          <p:cNvSpPr/>
          <p:nvPr/>
        </p:nvSpPr>
        <p:spPr>
          <a:xfrm>
            <a:off x="749808" y="1783080"/>
            <a:ext cx="1876349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11" name="Text 11"/>
          <p:cNvSpPr txBox="1"/>
          <p:nvPr/>
        </p:nvSpPr>
        <p:spPr>
          <a:xfrm>
            <a:off x="859536" y="1901952"/>
            <a:ext cx="384048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800" b="1" dirty="0">
                <a:solidFill>
                  <a:srgbClr val="1E6B72"/>
                </a:solidFill>
                <a:latin typeface="Courier"/>
              </a:rPr>
              <a:t>01</a:t>
            </a:r>
            <a:endParaRPr lang="de-DE" sz="800" dirty="0">
              <a:solidFill>
                <a:srgbClr val="1E6B72"/>
              </a:solidFill>
              <a:latin typeface="Courier"/>
            </a:endParaRPr>
          </a:p>
        </p:txBody>
      </p:sp>
      <p:sp>
        <p:nvSpPr>
          <p:cNvPr id="12" name="Text 12"/>
          <p:cNvSpPr txBox="1"/>
          <p:nvPr/>
        </p:nvSpPr>
        <p:spPr>
          <a:xfrm>
            <a:off x="859536" y="2167128"/>
            <a:ext cx="1656893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1000" b="1" dirty="0">
                <a:solidFill>
                  <a:srgbClr val="0A0A0F"/>
                </a:solidFill>
                <a:latin typeface="Helvetica"/>
              </a:rPr>
              <a:t>Design Partner</a:t>
            </a:r>
            <a:endParaRPr lang="de-DE" sz="10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13" name="Text 13"/>
          <p:cNvSpPr txBox="1"/>
          <p:nvPr/>
        </p:nvSpPr>
        <p:spPr>
          <a:xfrm>
            <a:off x="2644445" y="2066544"/>
            <a:ext cx="109728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1200" b="1" dirty="0">
                <a:solidFill>
                  <a:srgbClr val="9B9BA8"/>
                </a:solidFill>
                <a:latin typeface="Helvetica"/>
              </a:rPr>
              <a:t>&gt;</a:t>
            </a:r>
            <a:endParaRPr lang="de-DE" sz="1200" dirty="0">
              <a:solidFill>
                <a:srgbClr val="9B9BA8"/>
              </a:solidFill>
              <a:latin typeface="Helvetica"/>
            </a:endParaRPr>
          </a:p>
        </p:txBody>
      </p:sp>
      <p:sp>
        <p:nvSpPr>
          <p:cNvPr id="14" name="Process step 14"/>
          <p:cNvSpPr/>
          <p:nvPr/>
        </p:nvSpPr>
        <p:spPr>
          <a:xfrm>
            <a:off x="2772461" y="1783080"/>
            <a:ext cx="1876349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15" name="Text 15"/>
          <p:cNvSpPr txBox="1"/>
          <p:nvPr/>
        </p:nvSpPr>
        <p:spPr>
          <a:xfrm>
            <a:off x="2882189" y="1901952"/>
            <a:ext cx="384048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800" b="1" dirty="0">
                <a:solidFill>
                  <a:srgbClr val="1E6B72"/>
                </a:solidFill>
                <a:latin typeface="Courier"/>
              </a:rPr>
              <a:t>02</a:t>
            </a:r>
            <a:endParaRPr lang="de-DE" sz="800" dirty="0">
              <a:solidFill>
                <a:srgbClr val="1E6B72"/>
              </a:solidFill>
              <a:latin typeface="Courier"/>
            </a:endParaRPr>
          </a:p>
        </p:txBody>
      </p:sp>
      <p:sp>
        <p:nvSpPr>
          <p:cNvPr id="16" name="Text 16"/>
          <p:cNvSpPr txBox="1"/>
          <p:nvPr/>
        </p:nvSpPr>
        <p:spPr>
          <a:xfrm>
            <a:off x="2882189" y="2167128"/>
            <a:ext cx="1656893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1000" b="1" dirty="0">
                <a:solidFill>
                  <a:srgbClr val="0A0A0F"/>
                </a:solidFill>
                <a:latin typeface="Helvetica"/>
              </a:rPr>
              <a:t>Pilot</a:t>
            </a:r>
            <a:endParaRPr lang="de-DE" sz="10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17" name="Text 17"/>
          <p:cNvSpPr txBox="1"/>
          <p:nvPr/>
        </p:nvSpPr>
        <p:spPr>
          <a:xfrm>
            <a:off x="4667098" y="2066544"/>
            <a:ext cx="109728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1200" b="1" dirty="0">
                <a:solidFill>
                  <a:srgbClr val="9B9BA8"/>
                </a:solidFill>
                <a:latin typeface="Helvetica"/>
              </a:rPr>
              <a:t>&gt;</a:t>
            </a:r>
            <a:endParaRPr lang="de-DE" sz="1200" dirty="0">
              <a:solidFill>
                <a:srgbClr val="9B9BA8"/>
              </a:solidFill>
              <a:latin typeface="Helvetica"/>
            </a:endParaRPr>
          </a:p>
        </p:txBody>
      </p:sp>
      <p:sp>
        <p:nvSpPr>
          <p:cNvPr id="18" name="Process step 18"/>
          <p:cNvSpPr/>
          <p:nvPr/>
        </p:nvSpPr>
        <p:spPr>
          <a:xfrm>
            <a:off x="4795114" y="1783080"/>
            <a:ext cx="1876349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19" name="Text 19"/>
          <p:cNvSpPr txBox="1"/>
          <p:nvPr/>
        </p:nvSpPr>
        <p:spPr>
          <a:xfrm>
            <a:off x="4904842" y="1901952"/>
            <a:ext cx="384048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800" b="1" dirty="0">
                <a:solidFill>
                  <a:srgbClr val="1E6B72"/>
                </a:solidFill>
                <a:latin typeface="Courier"/>
              </a:rPr>
              <a:t>03</a:t>
            </a:r>
            <a:endParaRPr lang="de-DE" sz="800" dirty="0">
              <a:solidFill>
                <a:srgbClr val="1E6B72"/>
              </a:solidFill>
              <a:latin typeface="Courier"/>
            </a:endParaRPr>
          </a:p>
        </p:txBody>
      </p:sp>
      <p:sp>
        <p:nvSpPr>
          <p:cNvPr id="20" name="Text 20"/>
          <p:cNvSpPr txBox="1"/>
          <p:nvPr/>
        </p:nvSpPr>
        <p:spPr>
          <a:xfrm>
            <a:off x="4904842" y="2167128"/>
            <a:ext cx="1656893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1000" b="1" dirty="0">
                <a:solidFill>
                  <a:srgbClr val="0A0A0F"/>
                </a:solidFill>
                <a:latin typeface="Helvetica"/>
              </a:rPr>
              <a:t>Template Fit</a:t>
            </a:r>
            <a:endParaRPr lang="de-DE" sz="10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21" name="Text 21"/>
          <p:cNvSpPr txBox="1"/>
          <p:nvPr/>
        </p:nvSpPr>
        <p:spPr>
          <a:xfrm>
            <a:off x="6689750" y="2066544"/>
            <a:ext cx="109728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1200" b="1" dirty="0">
                <a:solidFill>
                  <a:srgbClr val="9B9BA8"/>
                </a:solidFill>
                <a:latin typeface="Helvetica"/>
              </a:rPr>
              <a:t>&gt;</a:t>
            </a:r>
            <a:endParaRPr lang="de-DE" sz="1200" dirty="0">
              <a:solidFill>
                <a:srgbClr val="9B9BA8"/>
              </a:solidFill>
              <a:latin typeface="Helvetica"/>
            </a:endParaRPr>
          </a:p>
        </p:txBody>
      </p:sp>
      <p:sp>
        <p:nvSpPr>
          <p:cNvPr id="22" name="Process step 22"/>
          <p:cNvSpPr/>
          <p:nvPr/>
        </p:nvSpPr>
        <p:spPr>
          <a:xfrm>
            <a:off x="6817766" y="1783080"/>
            <a:ext cx="1876349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23" name="Text 23"/>
          <p:cNvSpPr txBox="1"/>
          <p:nvPr/>
        </p:nvSpPr>
        <p:spPr>
          <a:xfrm>
            <a:off x="6927494" y="1901952"/>
            <a:ext cx="384048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800" b="1" dirty="0">
                <a:solidFill>
                  <a:srgbClr val="1E6B72"/>
                </a:solidFill>
                <a:latin typeface="Courier"/>
              </a:rPr>
              <a:t>04</a:t>
            </a:r>
            <a:endParaRPr lang="de-DE" sz="800" dirty="0">
              <a:solidFill>
                <a:srgbClr val="1E6B72"/>
              </a:solidFill>
              <a:latin typeface="Courier"/>
            </a:endParaRPr>
          </a:p>
        </p:txBody>
      </p:sp>
      <p:sp>
        <p:nvSpPr>
          <p:cNvPr id="24" name="Text 24"/>
          <p:cNvSpPr txBox="1"/>
          <p:nvPr/>
        </p:nvSpPr>
        <p:spPr>
          <a:xfrm>
            <a:off x="6927494" y="2167128"/>
            <a:ext cx="1656893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1000" b="1" dirty="0">
                <a:solidFill>
                  <a:srgbClr val="0A0A0F"/>
                </a:solidFill>
                <a:latin typeface="Helvetica"/>
              </a:rPr>
              <a:t>Rollout</a:t>
            </a:r>
            <a:endParaRPr lang="de-DE" sz="10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25" name="Text 25"/>
          <p:cNvSpPr txBox="1"/>
          <p:nvPr/>
        </p:nvSpPr>
        <p:spPr>
          <a:xfrm>
            <a:off x="8712403" y="2066544"/>
            <a:ext cx="109728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1200" b="1" dirty="0">
                <a:solidFill>
                  <a:srgbClr val="9B9BA8"/>
                </a:solidFill>
                <a:latin typeface="Helvetica"/>
              </a:rPr>
              <a:t>&gt;</a:t>
            </a:r>
            <a:endParaRPr lang="de-DE" sz="1200" dirty="0">
              <a:solidFill>
                <a:srgbClr val="9B9BA8"/>
              </a:solidFill>
              <a:latin typeface="Helvetica"/>
            </a:endParaRPr>
          </a:p>
        </p:txBody>
      </p:sp>
      <p:sp>
        <p:nvSpPr>
          <p:cNvPr id="26" name="Process step 26"/>
          <p:cNvSpPr/>
          <p:nvPr/>
        </p:nvSpPr>
        <p:spPr>
          <a:xfrm>
            <a:off x="8840419" y="1783080"/>
            <a:ext cx="1876349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27" name="Text 27"/>
          <p:cNvSpPr txBox="1"/>
          <p:nvPr/>
        </p:nvSpPr>
        <p:spPr>
          <a:xfrm>
            <a:off x="8950147" y="1901952"/>
            <a:ext cx="384048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800" b="1" dirty="0">
                <a:solidFill>
                  <a:srgbClr val="1E6B72"/>
                </a:solidFill>
                <a:latin typeface="Courier"/>
              </a:rPr>
              <a:t>05</a:t>
            </a:r>
            <a:endParaRPr lang="de-DE" sz="800" dirty="0">
              <a:solidFill>
                <a:srgbClr val="1E6B72"/>
              </a:solidFill>
              <a:latin typeface="Courier"/>
            </a:endParaRPr>
          </a:p>
        </p:txBody>
      </p:sp>
      <p:sp>
        <p:nvSpPr>
          <p:cNvPr id="28" name="Text 28"/>
          <p:cNvSpPr txBox="1"/>
          <p:nvPr/>
        </p:nvSpPr>
        <p:spPr>
          <a:xfrm>
            <a:off x="8950147" y="2167128"/>
            <a:ext cx="1656893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1000" b="1" dirty="0">
                <a:solidFill>
                  <a:srgbClr val="0A0A0F"/>
                </a:solidFill>
                <a:latin typeface="Helvetica"/>
              </a:rPr>
              <a:t>Expansion</a:t>
            </a:r>
            <a:endParaRPr lang="de-DE" sz="10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29" name="Card 29"/>
          <p:cNvSpPr/>
          <p:nvPr/>
        </p:nvSpPr>
        <p:spPr>
          <a:xfrm>
            <a:off x="749808" y="3273552"/>
            <a:ext cx="29260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30" name="Card marker 30"/>
          <p:cNvSpPr/>
          <p:nvPr/>
        </p:nvSpPr>
        <p:spPr>
          <a:xfrm>
            <a:off x="896112" y="3438144"/>
            <a:ext cx="36576" cy="36576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31" name="Text 31"/>
          <p:cNvSpPr txBox="1"/>
          <p:nvPr/>
        </p:nvSpPr>
        <p:spPr>
          <a:xfrm>
            <a:off x="896112" y="3557016"/>
            <a:ext cx="2633472" cy="1463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680" b="1" dirty="0">
                <a:solidFill>
                  <a:srgbClr val="9B9BA8"/>
                </a:solidFill>
                <a:latin typeface="Courier"/>
              </a:rPr>
              <a:t>MOTION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32" name="Text 32"/>
          <p:cNvSpPr txBox="1"/>
          <p:nvPr/>
        </p:nvSpPr>
        <p:spPr>
          <a:xfrm>
            <a:off x="896112" y="3776472"/>
            <a:ext cx="2633472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1300" b="1" dirty="0">
                <a:solidFill>
                  <a:srgbClr val="0A0A0F"/>
                </a:solidFill>
                <a:latin typeface="Helvetica"/>
              </a:rPr>
              <a:t>Low friction entry</a:t>
            </a:r>
            <a:endParaRPr lang="de-DE" sz="13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33" name="Text 33"/>
          <p:cNvSpPr txBox="1"/>
          <p:nvPr/>
        </p:nvSpPr>
        <p:spPr>
          <a:xfrm>
            <a:off x="896112" y="4169664"/>
            <a:ext cx="2633472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920" dirty="0">
                <a:solidFill>
                  <a:srgbClr val="4A4A4F"/>
                </a:solidFill>
                <a:latin typeface="Helvetica"/>
              </a:rPr>
              <a:t>Kurzer Wertnachweis ueber dokumentierte Workflows.</a:t>
            </a:r>
            <a:endParaRPr lang="de-DE" sz="92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34" name="Card 34"/>
          <p:cNvSpPr/>
          <p:nvPr/>
        </p:nvSpPr>
        <p:spPr>
          <a:xfrm>
            <a:off x="3886200" y="3273552"/>
            <a:ext cx="29260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35" name="Card marker 35"/>
          <p:cNvSpPr/>
          <p:nvPr/>
        </p:nvSpPr>
        <p:spPr>
          <a:xfrm>
            <a:off x="4032504" y="3438144"/>
            <a:ext cx="36576" cy="36576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36" name="Text 36"/>
          <p:cNvSpPr txBox="1"/>
          <p:nvPr/>
        </p:nvSpPr>
        <p:spPr>
          <a:xfrm>
            <a:off x="4032504" y="3557016"/>
            <a:ext cx="2633472" cy="1463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680" b="1" dirty="0">
                <a:solidFill>
                  <a:srgbClr val="9B9BA8"/>
                </a:solidFill>
                <a:latin typeface="Courier"/>
              </a:rPr>
              <a:t>PROOF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37" name="Text 37"/>
          <p:cNvSpPr txBox="1"/>
          <p:nvPr/>
        </p:nvSpPr>
        <p:spPr>
          <a:xfrm>
            <a:off x="4032504" y="3776472"/>
            <a:ext cx="2633472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1300" b="1" dirty="0">
                <a:solidFill>
                  <a:srgbClr val="0A0A0F"/>
                </a:solidFill>
                <a:latin typeface="Helvetica"/>
              </a:rPr>
              <a:t>Quality gate</a:t>
            </a:r>
            <a:endParaRPr lang="de-DE" sz="13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38" name="Text 38"/>
          <p:cNvSpPr txBox="1"/>
          <p:nvPr/>
        </p:nvSpPr>
        <p:spPr>
          <a:xfrm>
            <a:off x="4032504" y="4169664"/>
            <a:ext cx="2633472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920" dirty="0">
                <a:solidFill>
                  <a:srgbClr val="4A4A4F"/>
                </a:solidFill>
                <a:latin typeface="Helvetica"/>
              </a:rPr>
              <a:t>Freigaben, Warnungen und Exporte als Aktivierungsmetriken.</a:t>
            </a:r>
            <a:endParaRPr lang="de-DE" sz="92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39" name="Card 39"/>
          <p:cNvSpPr/>
          <p:nvPr/>
        </p:nvSpPr>
        <p:spPr>
          <a:xfrm>
            <a:off x="7022592" y="3273552"/>
            <a:ext cx="29260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40" name="Card marker 40"/>
          <p:cNvSpPr/>
          <p:nvPr/>
        </p:nvSpPr>
        <p:spPr>
          <a:xfrm>
            <a:off x="7168896" y="3438144"/>
            <a:ext cx="36576" cy="36576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41" name="Text 41"/>
          <p:cNvSpPr txBox="1"/>
          <p:nvPr/>
        </p:nvSpPr>
        <p:spPr>
          <a:xfrm>
            <a:off x="7168896" y="3557016"/>
            <a:ext cx="2633472" cy="1463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680" b="1" dirty="0">
                <a:solidFill>
                  <a:srgbClr val="9B9BA8"/>
                </a:solidFill>
                <a:latin typeface="Courier"/>
              </a:rPr>
              <a:t>EXPANSION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42" name="Text 42"/>
          <p:cNvSpPr txBox="1"/>
          <p:nvPr/>
        </p:nvSpPr>
        <p:spPr>
          <a:xfrm>
            <a:off x="7168896" y="3776472"/>
            <a:ext cx="2633472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1300" b="1" dirty="0">
                <a:solidFill>
                  <a:srgbClr val="0A0A0F"/>
                </a:solidFill>
                <a:latin typeface="Helvetica"/>
              </a:rPr>
              <a:t>Org depth</a:t>
            </a:r>
            <a:endParaRPr lang="de-DE" sz="13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43" name="Text 43"/>
          <p:cNvSpPr txBox="1"/>
          <p:nvPr/>
        </p:nvSpPr>
        <p:spPr>
          <a:xfrm>
            <a:off x="7168896" y="4169664"/>
            <a:ext cx="2633472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920" dirty="0">
                <a:solidFill>
                  <a:srgbClr val="4A4A4F"/>
                </a:solidFill>
                <a:latin typeface="Helvetica"/>
              </a:rPr>
              <a:t>Templates, Admin, Integrationen und Reporting.</a:t>
            </a:r>
            <a:endParaRPr lang="de-DE" sz="920" dirty="0">
              <a:solidFill>
                <a:srgbClr val="4A4A4F"/>
              </a:solidFill>
              <a:latin typeface="Helvetic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ales Mo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EVO accent bar 2"/>
          <p:cNvSpPr/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3" name="Text 3"/>
          <p:cNvSpPr txBox="1"/>
          <p:nvPr/>
        </p:nvSpPr>
        <p:spPr>
          <a:xfrm>
            <a:off x="566928" y="292608"/>
            <a:ext cx="429768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50" b="1" dirty="0">
                <a:solidFill>
                  <a:srgbClr val="9B9BA8"/>
                </a:solidFill>
                <a:latin typeface="Courier"/>
              </a:rPr>
              <a:t>SALES MOTION</a:t>
            </a:r>
            <a:endParaRPr lang="de-DE" sz="75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4" name="Header rule 4"/>
          <p:cNvSpPr/>
          <p:nvPr/>
        </p:nvSpPr>
        <p:spPr>
          <a:xfrm>
            <a:off x="566928" y="658368"/>
            <a:ext cx="11045952" cy="5486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/>
      </p:sp>
      <p:sp>
        <p:nvSpPr>
          <p:cNvPr id="5" name="Text 5"/>
          <p:cNvSpPr txBox="1"/>
          <p:nvPr/>
        </p:nvSpPr>
        <p:spPr>
          <a:xfrm>
            <a:off x="566928" y="804672"/>
            <a:ext cx="10058400" cy="53035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2400" b="1" dirty="0">
                <a:solidFill>
                  <a:srgbClr val="0A0A0F"/>
                </a:solidFill>
                <a:latin typeface="Helvetica"/>
              </a:rPr>
              <a:t>Vom ersten Team zum Organisationsvertrag braucht es klare Gates</a:t>
            </a:r>
            <a:endParaRPr lang="de-DE" sz="24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6" name="Footer rule 6"/>
          <p:cNvSpPr/>
          <p:nvPr/>
        </p:nvSpPr>
        <p:spPr>
          <a:xfrm>
            <a:off x="566928" y="6419088"/>
            <a:ext cx="11045952" cy="5486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/>
      </p:sp>
      <p:sp>
        <p:nvSpPr>
          <p:cNvPr id="7" name="Text 7"/>
          <p:cNvSpPr txBox="1"/>
          <p:nvPr/>
        </p:nvSpPr>
        <p:spPr>
          <a:xfrm>
            <a:off x="566928" y="6510528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680" dirty="0">
                <a:solidFill>
                  <a:srgbClr val="9B9BA8"/>
                </a:solidFill>
                <a:latin typeface="Courier"/>
              </a:rPr>
              <a:t>CAREVO VC / CONSULTING TEMPLATE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8" name="Text 8"/>
          <p:cNvSpPr txBox="1"/>
          <p:nvPr/>
        </p:nvSpPr>
        <p:spPr>
          <a:xfrm>
            <a:off x="4572000" y="6510528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680" dirty="0">
                <a:solidFill>
                  <a:srgbClr val="9B9BA8"/>
                </a:solidFill>
                <a:latin typeface="Courier"/>
              </a:rPr>
              <a:t>CONFIDENTIAL - TEMPLATE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9" name="Text 9"/>
          <p:cNvSpPr txBox="1"/>
          <p:nvPr/>
        </p:nvSpPr>
        <p:spPr>
          <a:xfrm>
            <a:off x="11018520" y="6510528"/>
            <a:ext cx="59436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r"/>
            <a:r>
              <a:rPr lang="de-DE" sz="680" dirty="0">
                <a:solidFill>
                  <a:srgbClr val="9B9BA8"/>
                </a:solidFill>
                <a:latin typeface="Courier"/>
              </a:rPr>
              <a:t>22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10" name="Shape 10"/>
          <p:cNvSpPr/>
          <p:nvPr/>
        </p:nvSpPr>
        <p:spPr>
          <a:xfrm>
            <a:off x="914400" y="3035808"/>
            <a:ext cx="8961120" cy="27432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/>
      </p:sp>
      <p:sp>
        <p:nvSpPr>
          <p:cNvPr id="11" name="Shape 11"/>
          <p:cNvSpPr/>
          <p:nvPr/>
        </p:nvSpPr>
        <p:spPr>
          <a:xfrm>
            <a:off x="914400" y="2907792"/>
            <a:ext cx="292608" cy="292608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12" name="Text 12"/>
          <p:cNvSpPr txBox="1"/>
          <p:nvPr/>
        </p:nvSpPr>
        <p:spPr>
          <a:xfrm>
            <a:off x="676656" y="2468880"/>
            <a:ext cx="768096" cy="1463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700" dirty="0">
                <a:solidFill>
                  <a:srgbClr val="9B9BA8"/>
                </a:solidFill>
                <a:latin typeface="Courier"/>
              </a:rPr>
              <a:t>Woche 0</a:t>
            </a:r>
            <a:endParaRPr lang="de-DE" sz="70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13" name="Text 13"/>
          <p:cNvSpPr txBox="1"/>
          <p:nvPr/>
        </p:nvSpPr>
        <p:spPr>
          <a:xfrm>
            <a:off x="411480" y="3346704"/>
            <a:ext cx="128016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1000" b="1" dirty="0">
                <a:solidFill>
                  <a:srgbClr val="0A0A0F"/>
                </a:solidFill>
                <a:latin typeface="Helvetica"/>
              </a:rPr>
              <a:t>Demo</a:t>
            </a:r>
            <a:endParaRPr lang="de-DE" sz="10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14" name="Shape 14"/>
          <p:cNvSpPr/>
          <p:nvPr/>
        </p:nvSpPr>
        <p:spPr>
          <a:xfrm>
            <a:off x="2971800" y="2907792"/>
            <a:ext cx="292608" cy="292608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15" name="Text 15"/>
          <p:cNvSpPr txBox="1"/>
          <p:nvPr/>
        </p:nvSpPr>
        <p:spPr>
          <a:xfrm>
            <a:off x="2734056" y="2468880"/>
            <a:ext cx="768096" cy="1463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700" dirty="0">
                <a:solidFill>
                  <a:srgbClr val="9B9BA8"/>
                </a:solidFill>
                <a:latin typeface="Courier"/>
              </a:rPr>
              <a:t>Woche 2</a:t>
            </a:r>
            <a:endParaRPr lang="de-DE" sz="70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16" name="Text 16"/>
          <p:cNvSpPr txBox="1"/>
          <p:nvPr/>
        </p:nvSpPr>
        <p:spPr>
          <a:xfrm>
            <a:off x="2468880" y="3346704"/>
            <a:ext cx="128016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1000" b="1" dirty="0">
                <a:solidFill>
                  <a:srgbClr val="0A0A0F"/>
                </a:solidFill>
                <a:latin typeface="Helvetica"/>
              </a:rPr>
              <a:t>Pilot</a:t>
            </a:r>
            <a:endParaRPr lang="de-DE" sz="10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17" name="Shape 17"/>
          <p:cNvSpPr/>
          <p:nvPr/>
        </p:nvSpPr>
        <p:spPr>
          <a:xfrm>
            <a:off x="5029200" y="2907792"/>
            <a:ext cx="292608" cy="292608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18" name="Text 18"/>
          <p:cNvSpPr txBox="1"/>
          <p:nvPr/>
        </p:nvSpPr>
        <p:spPr>
          <a:xfrm>
            <a:off x="4791456" y="2468880"/>
            <a:ext cx="768096" cy="1463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700" dirty="0">
                <a:solidFill>
                  <a:srgbClr val="9B9BA8"/>
                </a:solidFill>
                <a:latin typeface="Courier"/>
              </a:rPr>
              <a:t>Woche 6</a:t>
            </a:r>
            <a:endParaRPr lang="de-DE" sz="70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19" name="Text 19"/>
          <p:cNvSpPr txBox="1"/>
          <p:nvPr/>
        </p:nvSpPr>
        <p:spPr>
          <a:xfrm>
            <a:off x="4526280" y="3346704"/>
            <a:ext cx="128016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1000" b="1" dirty="0">
                <a:solidFill>
                  <a:srgbClr val="0A0A0F"/>
                </a:solidFill>
                <a:latin typeface="Helvetica"/>
              </a:rPr>
              <a:t>Review</a:t>
            </a:r>
            <a:endParaRPr lang="de-DE" sz="10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20" name="Shape 20"/>
          <p:cNvSpPr/>
          <p:nvPr/>
        </p:nvSpPr>
        <p:spPr>
          <a:xfrm>
            <a:off x="7086600" y="2907792"/>
            <a:ext cx="292608" cy="292608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21" name="Text 21"/>
          <p:cNvSpPr txBox="1"/>
          <p:nvPr/>
        </p:nvSpPr>
        <p:spPr>
          <a:xfrm>
            <a:off x="6848856" y="2468880"/>
            <a:ext cx="768096" cy="1463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700" dirty="0">
                <a:solidFill>
                  <a:srgbClr val="9B9BA8"/>
                </a:solidFill>
                <a:latin typeface="Courier"/>
              </a:rPr>
              <a:t>Woche 10</a:t>
            </a:r>
            <a:endParaRPr lang="de-DE" sz="70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22" name="Text 22"/>
          <p:cNvSpPr txBox="1"/>
          <p:nvPr/>
        </p:nvSpPr>
        <p:spPr>
          <a:xfrm>
            <a:off x="6583680" y="3346704"/>
            <a:ext cx="128016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1000" b="1" dirty="0">
                <a:solidFill>
                  <a:srgbClr val="0A0A0F"/>
                </a:solidFill>
                <a:latin typeface="Helvetica"/>
              </a:rPr>
              <a:t>Rollout</a:t>
            </a:r>
            <a:endParaRPr lang="de-DE" sz="10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23" name="Shape 23"/>
          <p:cNvSpPr/>
          <p:nvPr/>
        </p:nvSpPr>
        <p:spPr>
          <a:xfrm>
            <a:off x="9144000" y="2907792"/>
            <a:ext cx="292608" cy="292608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24" name="Text 24"/>
          <p:cNvSpPr txBox="1"/>
          <p:nvPr/>
        </p:nvSpPr>
        <p:spPr>
          <a:xfrm>
            <a:off x="8906256" y="2468880"/>
            <a:ext cx="768096" cy="1463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700" dirty="0">
                <a:solidFill>
                  <a:srgbClr val="9B9BA8"/>
                </a:solidFill>
                <a:latin typeface="Courier"/>
              </a:rPr>
              <a:t>Woche 16</a:t>
            </a:r>
            <a:endParaRPr lang="de-DE" sz="70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25" name="Text 25"/>
          <p:cNvSpPr txBox="1"/>
          <p:nvPr/>
        </p:nvSpPr>
        <p:spPr>
          <a:xfrm>
            <a:off x="8641080" y="3346704"/>
            <a:ext cx="128016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1000" b="1" dirty="0">
                <a:solidFill>
                  <a:srgbClr val="0A0A0F"/>
                </a:solidFill>
                <a:latin typeface="Helvetica"/>
              </a:rPr>
              <a:t>Expansion</a:t>
            </a:r>
            <a:endParaRPr lang="de-DE" sz="10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26" name="Shape 26"/>
          <p:cNvSpPr/>
          <p:nvPr/>
        </p:nvSpPr>
        <p:spPr>
          <a:xfrm>
            <a:off x="914400" y="4343400"/>
            <a:ext cx="8942832" cy="502920"/>
          </a:xfrm>
          <a:prstGeom prst="rect">
            <a:avLst/>
          </a:prstGeom>
          <a:solidFill>
            <a:srgbClr val="F4F4F6"/>
          </a:solidFill>
          <a:ln w="6350">
            <a:solidFill>
              <a:srgbClr val="E8E8EC"/>
            </a:solidFill>
          </a:ln>
        </p:spPr>
        <p:style/>
      </p:sp>
      <p:sp>
        <p:nvSpPr>
          <p:cNvPr id="27" name="Text 27"/>
          <p:cNvSpPr txBox="1"/>
          <p:nvPr/>
        </p:nvSpPr>
        <p:spPr>
          <a:xfrm>
            <a:off x="1143000" y="4489704"/>
            <a:ext cx="8412480" cy="1463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820" dirty="0">
                <a:solidFill>
                  <a:srgbClr val="4A4A4F"/>
                </a:solidFill>
                <a:latin typeface="Courier"/>
              </a:rPr>
              <a:t>Jedes Gate hat ein klares Entscheidungskriterium: Nutzung, Qualitaet, Compliance, Erweiterbarkeit.</a:t>
            </a:r>
            <a:endParaRPr lang="de-DE" sz="820" dirty="0">
              <a:solidFill>
                <a:srgbClr val="4A4A4F"/>
              </a:solidFill>
              <a:latin typeface="Courier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ustomer Proof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EVO accent bar 2"/>
          <p:cNvSpPr/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3" name="Text 3"/>
          <p:cNvSpPr txBox="1"/>
          <p:nvPr/>
        </p:nvSpPr>
        <p:spPr>
          <a:xfrm>
            <a:off x="566928" y="292608"/>
            <a:ext cx="429768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50" b="1" dirty="0">
                <a:solidFill>
                  <a:srgbClr val="9B9BA8"/>
                </a:solidFill>
                <a:latin typeface="Courier"/>
              </a:rPr>
              <a:t>PROOF</a:t>
            </a:r>
            <a:endParaRPr lang="de-DE" sz="75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4" name="Header rule 4"/>
          <p:cNvSpPr/>
          <p:nvPr/>
        </p:nvSpPr>
        <p:spPr>
          <a:xfrm>
            <a:off x="566928" y="658368"/>
            <a:ext cx="11045952" cy="5486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/>
      </p:sp>
      <p:sp>
        <p:nvSpPr>
          <p:cNvPr id="5" name="Text 5"/>
          <p:cNvSpPr txBox="1"/>
          <p:nvPr/>
        </p:nvSpPr>
        <p:spPr>
          <a:xfrm>
            <a:off x="566928" y="804672"/>
            <a:ext cx="10058400" cy="53035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2400" b="1" dirty="0">
                <a:solidFill>
                  <a:srgbClr val="0A0A0F"/>
                </a:solidFill>
                <a:latin typeface="Helvetica"/>
              </a:rPr>
              <a:t>Kundenbeweise sollten Stimmen, Workflowdaten und Entscheidungskriterien trennen</a:t>
            </a:r>
            <a:endParaRPr lang="de-DE" sz="24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6" name="Footer rule 6"/>
          <p:cNvSpPr/>
          <p:nvPr/>
        </p:nvSpPr>
        <p:spPr>
          <a:xfrm>
            <a:off x="566928" y="6419088"/>
            <a:ext cx="11045952" cy="5486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/>
      </p:sp>
      <p:sp>
        <p:nvSpPr>
          <p:cNvPr id="7" name="Text 7"/>
          <p:cNvSpPr txBox="1"/>
          <p:nvPr/>
        </p:nvSpPr>
        <p:spPr>
          <a:xfrm>
            <a:off x="566928" y="6510528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680" dirty="0">
                <a:solidFill>
                  <a:srgbClr val="9B9BA8"/>
                </a:solidFill>
                <a:latin typeface="Courier"/>
              </a:rPr>
              <a:t>CAREVO VC / CONSULTING TEMPLATE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8" name="Text 8"/>
          <p:cNvSpPr txBox="1"/>
          <p:nvPr/>
        </p:nvSpPr>
        <p:spPr>
          <a:xfrm>
            <a:off x="4572000" y="6510528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680" dirty="0">
                <a:solidFill>
                  <a:srgbClr val="9B9BA8"/>
                </a:solidFill>
                <a:latin typeface="Courier"/>
              </a:rPr>
              <a:t>CONFIDENTIAL - TEMPLATE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9" name="Text 9"/>
          <p:cNvSpPr txBox="1"/>
          <p:nvPr/>
        </p:nvSpPr>
        <p:spPr>
          <a:xfrm>
            <a:off x="11018520" y="6510528"/>
            <a:ext cx="59436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r"/>
            <a:r>
              <a:rPr lang="de-DE" sz="680" dirty="0">
                <a:solidFill>
                  <a:srgbClr val="9B9BA8"/>
                </a:solidFill>
                <a:latin typeface="Courier"/>
              </a:rPr>
              <a:t>23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10" name="Shape 10"/>
          <p:cNvSpPr/>
          <p:nvPr/>
        </p:nvSpPr>
        <p:spPr>
          <a:xfrm>
            <a:off x="822960" y="1737360"/>
            <a:ext cx="4389120" cy="237744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/>
      </p:sp>
      <p:sp>
        <p:nvSpPr>
          <p:cNvPr id="11" name="Text 11"/>
          <p:cNvSpPr txBox="1"/>
          <p:nvPr/>
        </p:nvSpPr>
        <p:spPr>
          <a:xfrm>
            <a:off x="1115568" y="2057400"/>
            <a:ext cx="3657600" cy="6583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2100" b="1" i="1" dirty="0">
                <a:solidFill>
                  <a:srgbClr val="FFFFFF"/>
                </a:solidFill>
                <a:latin typeface="Helvetica"/>
              </a:rPr>
              <a:t>Wir sehen sofort, ob eine Notiz noch Entwurf ist oder freigegeben wurde.</a:t>
            </a:r>
            <a:endParaRPr lang="de-DE" sz="2100" dirty="0">
              <a:solidFill>
                <a:srgbClr val="FFFFFF"/>
              </a:solidFill>
              <a:latin typeface="Helvetica"/>
            </a:endParaRPr>
          </a:p>
        </p:txBody>
      </p:sp>
      <p:sp>
        <p:nvSpPr>
          <p:cNvPr id="12" name="Text 12"/>
          <p:cNvSpPr txBox="1"/>
          <p:nvPr/>
        </p:nvSpPr>
        <p:spPr>
          <a:xfrm>
            <a:off x="1133856" y="3383280"/>
            <a:ext cx="329184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20" dirty="0">
                <a:solidFill>
                  <a:srgbClr val="9B9BA8"/>
                </a:solidFill>
                <a:latin typeface="Courier"/>
              </a:rPr>
              <a:t>Beispielzitat - durch echte Referenz ersetzen</a:t>
            </a:r>
            <a:endParaRPr lang="de-DE" sz="72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13" name="Card 13"/>
          <p:cNvSpPr/>
          <p:nvPr/>
        </p:nvSpPr>
        <p:spPr>
          <a:xfrm>
            <a:off x="5715000" y="1737360"/>
            <a:ext cx="233172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14" name="Card marker 14"/>
          <p:cNvSpPr/>
          <p:nvPr/>
        </p:nvSpPr>
        <p:spPr>
          <a:xfrm>
            <a:off x="5861304" y="1901952"/>
            <a:ext cx="36576" cy="36576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15" name="Text 15"/>
          <p:cNvSpPr txBox="1"/>
          <p:nvPr/>
        </p:nvSpPr>
        <p:spPr>
          <a:xfrm>
            <a:off x="5861304" y="2020824"/>
            <a:ext cx="2039112" cy="1463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680" b="1" dirty="0">
                <a:solidFill>
                  <a:srgbClr val="9B9BA8"/>
                </a:solidFill>
                <a:latin typeface="Courier"/>
              </a:rPr>
              <a:t>PROOF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16" name="Text 16"/>
          <p:cNvSpPr txBox="1"/>
          <p:nvPr/>
        </p:nvSpPr>
        <p:spPr>
          <a:xfrm>
            <a:off x="5861304" y="2240280"/>
            <a:ext cx="2039112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1300" b="1" dirty="0">
                <a:solidFill>
                  <a:srgbClr val="0A0A0F"/>
                </a:solidFill>
                <a:latin typeface="Helvetica"/>
              </a:rPr>
              <a:t>Adoption</a:t>
            </a:r>
            <a:endParaRPr lang="de-DE" sz="13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17" name="Text 17"/>
          <p:cNvSpPr txBox="1"/>
          <p:nvPr/>
        </p:nvSpPr>
        <p:spPr>
          <a:xfrm>
            <a:off x="5861304" y="2633472"/>
            <a:ext cx="2039112" cy="6400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920" dirty="0">
                <a:solidFill>
                  <a:srgbClr val="4A4A4F"/>
                </a:solidFill>
                <a:latin typeface="Helvetica"/>
              </a:rPr>
              <a:t>Aktive Nutzer je Einrichtung.</a:t>
            </a:r>
            <a:endParaRPr lang="de-DE" sz="92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18" name="Card 18"/>
          <p:cNvSpPr/>
          <p:nvPr/>
        </p:nvSpPr>
        <p:spPr>
          <a:xfrm>
            <a:off x="8275320" y="1737360"/>
            <a:ext cx="233172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19" name="Card marker 19"/>
          <p:cNvSpPr/>
          <p:nvPr/>
        </p:nvSpPr>
        <p:spPr>
          <a:xfrm>
            <a:off x="8421624" y="1901952"/>
            <a:ext cx="36576" cy="36576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20" name="Text 20"/>
          <p:cNvSpPr txBox="1"/>
          <p:nvPr/>
        </p:nvSpPr>
        <p:spPr>
          <a:xfrm>
            <a:off x="8421624" y="2020824"/>
            <a:ext cx="2039112" cy="1463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680" b="1" dirty="0">
                <a:solidFill>
                  <a:srgbClr val="9B9BA8"/>
                </a:solidFill>
                <a:latin typeface="Courier"/>
              </a:rPr>
              <a:t>PROOF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21" name="Text 21"/>
          <p:cNvSpPr txBox="1"/>
          <p:nvPr/>
        </p:nvSpPr>
        <p:spPr>
          <a:xfrm>
            <a:off x="8421624" y="2240280"/>
            <a:ext cx="2039112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1300" b="1" dirty="0">
                <a:solidFill>
                  <a:srgbClr val="0A0A0F"/>
                </a:solidFill>
                <a:latin typeface="Helvetica"/>
              </a:rPr>
              <a:t>Quality</a:t>
            </a:r>
            <a:endParaRPr lang="de-DE" sz="13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22" name="Text 22"/>
          <p:cNvSpPr txBox="1"/>
          <p:nvPr/>
        </p:nvSpPr>
        <p:spPr>
          <a:xfrm>
            <a:off x="8421624" y="2633472"/>
            <a:ext cx="2039112" cy="6400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920" dirty="0">
                <a:solidFill>
                  <a:srgbClr val="4A4A4F"/>
                </a:solidFill>
                <a:latin typeface="Helvetica"/>
              </a:rPr>
              <a:t>Freigabe ohne Nacharbeit.</a:t>
            </a:r>
            <a:endParaRPr lang="de-DE" sz="92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23" name="Card 23"/>
          <p:cNvSpPr/>
          <p:nvPr/>
        </p:nvSpPr>
        <p:spPr>
          <a:xfrm>
            <a:off x="5715000" y="3090672"/>
            <a:ext cx="233172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24" name="Card marker 24"/>
          <p:cNvSpPr/>
          <p:nvPr/>
        </p:nvSpPr>
        <p:spPr>
          <a:xfrm>
            <a:off x="5861304" y="3255264"/>
            <a:ext cx="36576" cy="36576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25" name="Text 25"/>
          <p:cNvSpPr txBox="1"/>
          <p:nvPr/>
        </p:nvSpPr>
        <p:spPr>
          <a:xfrm>
            <a:off x="5861304" y="3374136"/>
            <a:ext cx="2039112" cy="1463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680" b="1" dirty="0">
                <a:solidFill>
                  <a:srgbClr val="9B9BA8"/>
                </a:solidFill>
                <a:latin typeface="Courier"/>
              </a:rPr>
              <a:t>PROOF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26" name="Text 26"/>
          <p:cNvSpPr txBox="1"/>
          <p:nvPr/>
        </p:nvSpPr>
        <p:spPr>
          <a:xfrm>
            <a:off x="5861304" y="3593592"/>
            <a:ext cx="2039112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1300" b="1" dirty="0">
                <a:solidFill>
                  <a:srgbClr val="0A0A0F"/>
                </a:solidFill>
                <a:latin typeface="Helvetica"/>
              </a:rPr>
              <a:t>Retention</a:t>
            </a:r>
            <a:endParaRPr lang="de-DE" sz="13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27" name="Text 27"/>
          <p:cNvSpPr txBox="1"/>
          <p:nvPr/>
        </p:nvSpPr>
        <p:spPr>
          <a:xfrm>
            <a:off x="5861304" y="3986784"/>
            <a:ext cx="2039112" cy="6400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920" dirty="0">
                <a:solidFill>
                  <a:srgbClr val="4A4A4F"/>
                </a:solidFill>
                <a:latin typeface="Helvetica"/>
              </a:rPr>
              <a:t>Wiederkehrende Workflows.</a:t>
            </a:r>
            <a:endParaRPr lang="de-DE" sz="92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28" name="Card 28"/>
          <p:cNvSpPr/>
          <p:nvPr/>
        </p:nvSpPr>
        <p:spPr>
          <a:xfrm>
            <a:off x="8275320" y="3090672"/>
            <a:ext cx="233172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29" name="Card marker 29"/>
          <p:cNvSpPr/>
          <p:nvPr/>
        </p:nvSpPr>
        <p:spPr>
          <a:xfrm>
            <a:off x="8421624" y="3255264"/>
            <a:ext cx="36576" cy="36576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30" name="Text 30"/>
          <p:cNvSpPr txBox="1"/>
          <p:nvPr/>
        </p:nvSpPr>
        <p:spPr>
          <a:xfrm>
            <a:off x="8421624" y="3374136"/>
            <a:ext cx="2039112" cy="1463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680" b="1" dirty="0">
                <a:solidFill>
                  <a:srgbClr val="9B9BA8"/>
                </a:solidFill>
                <a:latin typeface="Courier"/>
              </a:rPr>
              <a:t>PROOF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31" name="Text 31"/>
          <p:cNvSpPr txBox="1"/>
          <p:nvPr/>
        </p:nvSpPr>
        <p:spPr>
          <a:xfrm>
            <a:off x="8421624" y="3593592"/>
            <a:ext cx="2039112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1300" b="1" dirty="0">
                <a:solidFill>
                  <a:srgbClr val="0A0A0F"/>
                </a:solidFill>
                <a:latin typeface="Helvetica"/>
              </a:rPr>
              <a:t>Expansion</a:t>
            </a:r>
            <a:endParaRPr lang="de-DE" sz="13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32" name="Text 32"/>
          <p:cNvSpPr txBox="1"/>
          <p:nvPr/>
        </p:nvSpPr>
        <p:spPr>
          <a:xfrm>
            <a:off x="8421624" y="3986784"/>
            <a:ext cx="2039112" cy="6400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920" dirty="0">
                <a:solidFill>
                  <a:srgbClr val="4A4A4F"/>
                </a:solidFill>
                <a:latin typeface="Helvetica"/>
              </a:rPr>
              <a:t>Weitere Teams und Templates.</a:t>
            </a:r>
            <a:endParaRPr lang="de-DE" sz="920" dirty="0">
              <a:solidFill>
                <a:srgbClr val="4A4A4F"/>
              </a:solidFill>
              <a:latin typeface="Helvetic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duct Archite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EVO accent bar 2"/>
          <p:cNvSpPr/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3" name="Text 3"/>
          <p:cNvSpPr txBox="1"/>
          <p:nvPr/>
        </p:nvSpPr>
        <p:spPr>
          <a:xfrm>
            <a:off x="566928" y="292608"/>
            <a:ext cx="429768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50" b="1" dirty="0">
                <a:solidFill>
                  <a:srgbClr val="9B9BA8"/>
                </a:solidFill>
                <a:latin typeface="Courier"/>
              </a:rPr>
              <a:t>PRODUKT</a:t>
            </a:r>
            <a:endParaRPr lang="de-DE" sz="75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4" name="Header rule 4"/>
          <p:cNvSpPr/>
          <p:nvPr/>
        </p:nvSpPr>
        <p:spPr>
          <a:xfrm>
            <a:off x="566928" y="658368"/>
            <a:ext cx="11045952" cy="5486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/>
      </p:sp>
      <p:sp>
        <p:nvSpPr>
          <p:cNvPr id="5" name="Text 5"/>
          <p:cNvSpPr txBox="1"/>
          <p:nvPr/>
        </p:nvSpPr>
        <p:spPr>
          <a:xfrm>
            <a:off x="566928" y="804672"/>
            <a:ext cx="10058400" cy="53035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2400" b="1" dirty="0">
                <a:solidFill>
                  <a:srgbClr val="0A0A0F"/>
                </a:solidFill>
                <a:latin typeface="Helvetica"/>
              </a:rPr>
              <a:t>Die Architektur folgt der sichtbaren Workflowschale</a:t>
            </a:r>
            <a:endParaRPr lang="de-DE" sz="24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6" name="Footer rule 6"/>
          <p:cNvSpPr/>
          <p:nvPr/>
        </p:nvSpPr>
        <p:spPr>
          <a:xfrm>
            <a:off x="566928" y="6419088"/>
            <a:ext cx="11045952" cy="5486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/>
      </p:sp>
      <p:sp>
        <p:nvSpPr>
          <p:cNvPr id="7" name="Text 7"/>
          <p:cNvSpPr txBox="1"/>
          <p:nvPr/>
        </p:nvSpPr>
        <p:spPr>
          <a:xfrm>
            <a:off x="566928" y="6510528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680" dirty="0">
                <a:solidFill>
                  <a:srgbClr val="9B9BA8"/>
                </a:solidFill>
                <a:latin typeface="Courier"/>
              </a:rPr>
              <a:t>CAREVO VC / CONSULTING TEMPLATE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8" name="Text 8"/>
          <p:cNvSpPr txBox="1"/>
          <p:nvPr/>
        </p:nvSpPr>
        <p:spPr>
          <a:xfrm>
            <a:off x="4572000" y="6510528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680" dirty="0">
                <a:solidFill>
                  <a:srgbClr val="9B9BA8"/>
                </a:solidFill>
                <a:latin typeface="Courier"/>
              </a:rPr>
              <a:t>CONFIDENTIAL - TEMPLATE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9" name="Text 9"/>
          <p:cNvSpPr txBox="1"/>
          <p:nvPr/>
        </p:nvSpPr>
        <p:spPr>
          <a:xfrm>
            <a:off x="11018520" y="6510528"/>
            <a:ext cx="59436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r"/>
            <a:r>
              <a:rPr lang="de-DE" sz="680" dirty="0">
                <a:solidFill>
                  <a:srgbClr val="9B9BA8"/>
                </a:solidFill>
                <a:latin typeface="Courier"/>
              </a:rPr>
              <a:t>24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10" name="Shape 10"/>
          <p:cNvSpPr/>
          <p:nvPr/>
        </p:nvSpPr>
        <p:spPr>
          <a:xfrm>
            <a:off x="1005840" y="1600200"/>
            <a:ext cx="8961120" cy="530352"/>
          </a:xfrm>
          <a:prstGeom prst="rect">
            <a:avLst/>
          </a:prstGeom>
          <a:solidFill>
            <a:srgbClr val="F4F4F6"/>
          </a:solidFill>
          <a:ln w="6350">
            <a:solidFill>
              <a:srgbClr val="E8E8EC"/>
            </a:solidFill>
          </a:ln>
        </p:spPr>
        <p:style/>
      </p:sp>
      <p:sp>
        <p:nvSpPr>
          <p:cNvPr id="11" name="Text 11"/>
          <p:cNvSpPr txBox="1"/>
          <p:nvPr/>
        </p:nvSpPr>
        <p:spPr>
          <a:xfrm>
            <a:off x="1225296" y="1737360"/>
            <a:ext cx="1920240" cy="1371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00" b="1" dirty="0">
                <a:solidFill>
                  <a:srgbClr val="1E6B72"/>
                </a:solidFill>
                <a:latin typeface="Courier"/>
              </a:rPr>
              <a:t>APP SHELL</a:t>
            </a:r>
            <a:endParaRPr lang="de-DE" sz="700" dirty="0">
              <a:solidFill>
                <a:srgbClr val="1E6B72"/>
              </a:solidFill>
              <a:latin typeface="Courier"/>
            </a:endParaRPr>
          </a:p>
        </p:txBody>
      </p:sp>
      <p:sp>
        <p:nvSpPr>
          <p:cNvPr id="12" name="Text 12"/>
          <p:cNvSpPr txBox="1"/>
          <p:nvPr/>
        </p:nvSpPr>
        <p:spPr>
          <a:xfrm>
            <a:off x="3246120" y="1719072"/>
            <a:ext cx="621792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920" b="1" dirty="0">
                <a:solidFill>
                  <a:srgbClr val="0A0A0F"/>
                </a:solidFill>
                <a:latin typeface="Helvetica"/>
              </a:rPr>
              <a:t>Navigation, Status, Suche, Rollen</a:t>
            </a:r>
            <a:endParaRPr lang="de-DE" sz="92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13" name="Shape 13"/>
          <p:cNvSpPr/>
          <p:nvPr/>
        </p:nvSpPr>
        <p:spPr>
          <a:xfrm>
            <a:off x="1005840" y="2377440"/>
            <a:ext cx="89611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14" name="Text 14"/>
          <p:cNvSpPr txBox="1"/>
          <p:nvPr/>
        </p:nvSpPr>
        <p:spPr>
          <a:xfrm>
            <a:off x="1225296" y="2514600"/>
            <a:ext cx="1920240" cy="1371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00" b="1" dirty="0">
                <a:solidFill>
                  <a:srgbClr val="1E6B72"/>
                </a:solidFill>
                <a:latin typeface="Courier"/>
              </a:rPr>
              <a:t>WORKFLOW STATE</a:t>
            </a:r>
            <a:endParaRPr lang="de-DE" sz="700" dirty="0">
              <a:solidFill>
                <a:srgbClr val="1E6B72"/>
              </a:solidFill>
              <a:latin typeface="Courier"/>
            </a:endParaRPr>
          </a:p>
        </p:txBody>
      </p:sp>
      <p:sp>
        <p:nvSpPr>
          <p:cNvPr id="15" name="Text 15"/>
          <p:cNvSpPr txBox="1"/>
          <p:nvPr/>
        </p:nvSpPr>
        <p:spPr>
          <a:xfrm>
            <a:off x="3246120" y="2496312"/>
            <a:ext cx="621792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920" b="1" dirty="0">
                <a:solidFill>
                  <a:srgbClr val="0A0A0F"/>
                </a:solidFill>
                <a:latin typeface="Helvetica"/>
              </a:rPr>
              <a:t>Recording, Draft, Validation, Approval</a:t>
            </a:r>
            <a:endParaRPr lang="de-DE" sz="92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16" name="Shape 16"/>
          <p:cNvSpPr/>
          <p:nvPr/>
        </p:nvSpPr>
        <p:spPr>
          <a:xfrm>
            <a:off x="1005840" y="3154680"/>
            <a:ext cx="8961120" cy="530352"/>
          </a:xfrm>
          <a:prstGeom prst="rect">
            <a:avLst/>
          </a:prstGeom>
          <a:solidFill>
            <a:srgbClr val="F4F4F6"/>
          </a:solidFill>
          <a:ln w="6350">
            <a:solidFill>
              <a:srgbClr val="E8E8EC"/>
            </a:solidFill>
          </a:ln>
        </p:spPr>
        <p:style/>
      </p:sp>
      <p:sp>
        <p:nvSpPr>
          <p:cNvPr id="17" name="Text 17"/>
          <p:cNvSpPr txBox="1"/>
          <p:nvPr/>
        </p:nvSpPr>
        <p:spPr>
          <a:xfrm>
            <a:off x="1225296" y="3291840"/>
            <a:ext cx="1920240" cy="1371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00" b="1" dirty="0">
                <a:solidFill>
                  <a:srgbClr val="1E6B72"/>
                </a:solidFill>
                <a:latin typeface="Courier"/>
              </a:rPr>
              <a:t>AI SERVICES</a:t>
            </a:r>
            <a:endParaRPr lang="de-DE" sz="700" dirty="0">
              <a:solidFill>
                <a:srgbClr val="1E6B72"/>
              </a:solidFill>
              <a:latin typeface="Courier"/>
            </a:endParaRPr>
          </a:p>
        </p:txBody>
      </p:sp>
      <p:sp>
        <p:nvSpPr>
          <p:cNvPr id="18" name="Text 18"/>
          <p:cNvSpPr txBox="1"/>
          <p:nvPr/>
        </p:nvSpPr>
        <p:spPr>
          <a:xfrm>
            <a:off x="3246120" y="3273552"/>
            <a:ext cx="621792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920" b="1" dirty="0">
                <a:solidFill>
                  <a:srgbClr val="0A0A0F"/>
                </a:solidFill>
                <a:latin typeface="Helvetica"/>
              </a:rPr>
              <a:t>Transcription, Note Draft, Voice Edit</a:t>
            </a:r>
            <a:endParaRPr lang="de-DE" sz="92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19" name="Shape 19"/>
          <p:cNvSpPr/>
          <p:nvPr/>
        </p:nvSpPr>
        <p:spPr>
          <a:xfrm>
            <a:off x="1005840" y="3931920"/>
            <a:ext cx="89611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20" name="Text 20"/>
          <p:cNvSpPr txBox="1"/>
          <p:nvPr/>
        </p:nvSpPr>
        <p:spPr>
          <a:xfrm>
            <a:off x="1225296" y="4069080"/>
            <a:ext cx="1920240" cy="1371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00" b="1" dirty="0">
                <a:solidFill>
                  <a:srgbClr val="1E6B72"/>
                </a:solidFill>
                <a:latin typeface="Courier"/>
              </a:rPr>
              <a:t>DATA &amp; AUDIT</a:t>
            </a:r>
            <a:endParaRPr lang="de-DE" sz="700" dirty="0">
              <a:solidFill>
                <a:srgbClr val="1E6B72"/>
              </a:solidFill>
              <a:latin typeface="Courier"/>
            </a:endParaRPr>
          </a:p>
        </p:txBody>
      </p:sp>
      <p:sp>
        <p:nvSpPr>
          <p:cNvPr id="21" name="Text 21"/>
          <p:cNvSpPr txBox="1"/>
          <p:nvPr/>
        </p:nvSpPr>
        <p:spPr>
          <a:xfrm>
            <a:off x="3246120" y="4050792"/>
            <a:ext cx="621792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920" b="1" dirty="0">
                <a:solidFill>
                  <a:srgbClr val="0A0A0F"/>
                </a:solidFill>
                <a:latin typeface="Helvetica"/>
              </a:rPr>
              <a:t>Supabase, Jobs, Export, Logs</a:t>
            </a:r>
            <a:endParaRPr lang="de-DE" sz="92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22" name="Text 22"/>
          <p:cNvSpPr txBox="1"/>
          <p:nvPr/>
        </p:nvSpPr>
        <p:spPr>
          <a:xfrm>
            <a:off x="1005840" y="5074920"/>
            <a:ext cx="804672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800" dirty="0">
                <a:solidFill>
                  <a:srgbClr val="9B9BA8"/>
                </a:solidFill>
                <a:latin typeface="Courier"/>
              </a:rPr>
              <a:t>Consulting-Logik: Architektur wird als Kontrollsystem erklaert, nicht als Technikliste.</a:t>
            </a:r>
            <a:endParaRPr lang="de-DE" sz="800" dirty="0">
              <a:solidFill>
                <a:srgbClr val="9B9BA8"/>
              </a:solidFill>
              <a:latin typeface="Courier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I Qualit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EVO accent bar 2"/>
          <p:cNvSpPr/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3" name="Text 3"/>
          <p:cNvSpPr txBox="1"/>
          <p:nvPr/>
        </p:nvSpPr>
        <p:spPr>
          <a:xfrm>
            <a:off x="566928" y="292608"/>
            <a:ext cx="429768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50" b="1" dirty="0">
                <a:solidFill>
                  <a:srgbClr val="9B9BA8"/>
                </a:solidFill>
                <a:latin typeface="Courier"/>
              </a:rPr>
              <a:t>AI QUALITY</a:t>
            </a:r>
            <a:endParaRPr lang="de-DE" sz="75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4" name="Header rule 4"/>
          <p:cNvSpPr/>
          <p:nvPr/>
        </p:nvSpPr>
        <p:spPr>
          <a:xfrm>
            <a:off x="566928" y="658368"/>
            <a:ext cx="11045952" cy="5486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/>
      </p:sp>
      <p:sp>
        <p:nvSpPr>
          <p:cNvPr id="5" name="Text 5"/>
          <p:cNvSpPr txBox="1"/>
          <p:nvPr/>
        </p:nvSpPr>
        <p:spPr>
          <a:xfrm>
            <a:off x="566928" y="804672"/>
            <a:ext cx="10058400" cy="53035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2400" b="1" dirty="0">
                <a:solidFill>
                  <a:srgbClr val="0A0A0F"/>
                </a:solidFill>
                <a:latin typeface="Helvetica"/>
              </a:rPr>
              <a:t>Qualitaet wird ueber sichtbare Warnungen und Review-Schritte operationalisiert</a:t>
            </a:r>
            <a:endParaRPr lang="de-DE" sz="24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6" name="Footer rule 6"/>
          <p:cNvSpPr/>
          <p:nvPr/>
        </p:nvSpPr>
        <p:spPr>
          <a:xfrm>
            <a:off x="566928" y="6419088"/>
            <a:ext cx="11045952" cy="5486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/>
      </p:sp>
      <p:sp>
        <p:nvSpPr>
          <p:cNvPr id="7" name="Text 7"/>
          <p:cNvSpPr txBox="1"/>
          <p:nvPr/>
        </p:nvSpPr>
        <p:spPr>
          <a:xfrm>
            <a:off x="566928" y="6510528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680" dirty="0">
                <a:solidFill>
                  <a:srgbClr val="9B9BA8"/>
                </a:solidFill>
                <a:latin typeface="Courier"/>
              </a:rPr>
              <a:t>CAREVO VC / CONSULTING TEMPLATE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8" name="Text 8"/>
          <p:cNvSpPr txBox="1"/>
          <p:nvPr/>
        </p:nvSpPr>
        <p:spPr>
          <a:xfrm>
            <a:off x="4572000" y="6510528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680" dirty="0">
                <a:solidFill>
                  <a:srgbClr val="9B9BA8"/>
                </a:solidFill>
                <a:latin typeface="Courier"/>
              </a:rPr>
              <a:t>CONFIDENTIAL - TEMPLATE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9" name="Text 9"/>
          <p:cNvSpPr txBox="1"/>
          <p:nvPr/>
        </p:nvSpPr>
        <p:spPr>
          <a:xfrm>
            <a:off x="11018520" y="6510528"/>
            <a:ext cx="59436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r"/>
            <a:r>
              <a:rPr lang="de-DE" sz="680" dirty="0">
                <a:solidFill>
                  <a:srgbClr val="9B9BA8"/>
                </a:solidFill>
                <a:latin typeface="Courier"/>
              </a:rPr>
              <a:t>25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10" name="Card 10"/>
          <p:cNvSpPr/>
          <p:nvPr/>
        </p:nvSpPr>
        <p:spPr>
          <a:xfrm>
            <a:off x="749808" y="1664208"/>
            <a:ext cx="278892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11" name="Card marker 11"/>
          <p:cNvSpPr/>
          <p:nvPr/>
        </p:nvSpPr>
        <p:spPr>
          <a:xfrm>
            <a:off x="896112" y="1828800"/>
            <a:ext cx="36576" cy="36576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12" name="Text 12"/>
          <p:cNvSpPr txBox="1"/>
          <p:nvPr/>
        </p:nvSpPr>
        <p:spPr>
          <a:xfrm>
            <a:off x="896112" y="1947672"/>
            <a:ext cx="2496312" cy="1463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680" b="1" dirty="0">
                <a:solidFill>
                  <a:srgbClr val="9B9BA8"/>
                </a:solidFill>
                <a:latin typeface="Courier"/>
              </a:rPr>
              <a:t>GUARDRAIL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13" name="Text 13"/>
          <p:cNvSpPr txBox="1"/>
          <p:nvPr/>
        </p:nvSpPr>
        <p:spPr>
          <a:xfrm>
            <a:off x="896112" y="2167128"/>
            <a:ext cx="2496312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1300" b="1" dirty="0">
                <a:solidFill>
                  <a:srgbClr val="0A0A0F"/>
                </a:solidFill>
                <a:latin typeface="Helvetica"/>
              </a:rPr>
              <a:t>Luecken</a:t>
            </a:r>
            <a:endParaRPr lang="de-DE" sz="13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14" name="Text 14"/>
          <p:cNvSpPr txBox="1"/>
          <p:nvPr/>
        </p:nvSpPr>
        <p:spPr>
          <a:xfrm>
            <a:off x="896112" y="2560320"/>
            <a:ext cx="2496312" cy="2743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920" dirty="0">
                <a:solidFill>
                  <a:srgbClr val="4A4A4F"/>
                </a:solidFill>
                <a:latin typeface="Helvetica"/>
              </a:rPr>
              <a:t>Plan Section Empty</a:t>
            </a:r>
            <a:endParaRPr lang="de-DE" sz="92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15" name="Card 15"/>
          <p:cNvSpPr/>
          <p:nvPr/>
        </p:nvSpPr>
        <p:spPr>
          <a:xfrm>
            <a:off x="3904488" y="1664208"/>
            <a:ext cx="278892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16" name="Card marker 16"/>
          <p:cNvSpPr/>
          <p:nvPr/>
        </p:nvSpPr>
        <p:spPr>
          <a:xfrm>
            <a:off x="4050792" y="1828800"/>
            <a:ext cx="36576" cy="36576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17" name="Text 17"/>
          <p:cNvSpPr txBox="1"/>
          <p:nvPr/>
        </p:nvSpPr>
        <p:spPr>
          <a:xfrm>
            <a:off x="4050792" y="1947672"/>
            <a:ext cx="2496312" cy="1463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680" b="1" dirty="0">
                <a:solidFill>
                  <a:srgbClr val="9B9BA8"/>
                </a:solidFill>
                <a:latin typeface="Courier"/>
              </a:rPr>
              <a:t>GUARDRAIL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18" name="Text 18"/>
          <p:cNvSpPr txBox="1"/>
          <p:nvPr/>
        </p:nvSpPr>
        <p:spPr>
          <a:xfrm>
            <a:off x="4050792" y="2167128"/>
            <a:ext cx="2496312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1300" b="1" dirty="0">
                <a:solidFill>
                  <a:srgbClr val="0A0A0F"/>
                </a:solidFill>
                <a:latin typeface="Helvetica"/>
              </a:rPr>
              <a:t>Nachweis</a:t>
            </a:r>
            <a:endParaRPr lang="de-DE" sz="13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19" name="Text 19"/>
          <p:cNvSpPr txBox="1"/>
          <p:nvPr/>
        </p:nvSpPr>
        <p:spPr>
          <a:xfrm>
            <a:off x="4050792" y="2560320"/>
            <a:ext cx="2496312" cy="2743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920" dirty="0">
                <a:solidFill>
                  <a:srgbClr val="4A4A4F"/>
                </a:solidFill>
                <a:latin typeface="Helvetica"/>
              </a:rPr>
              <a:t>Medication missing from transcript</a:t>
            </a:r>
            <a:endParaRPr lang="de-DE" sz="92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20" name="Card 20"/>
          <p:cNvSpPr/>
          <p:nvPr/>
        </p:nvSpPr>
        <p:spPr>
          <a:xfrm>
            <a:off x="7059168" y="1664208"/>
            <a:ext cx="278892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21" name="Card marker 21"/>
          <p:cNvSpPr/>
          <p:nvPr/>
        </p:nvSpPr>
        <p:spPr>
          <a:xfrm>
            <a:off x="7205472" y="1828800"/>
            <a:ext cx="36576" cy="36576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22" name="Text 22"/>
          <p:cNvSpPr txBox="1"/>
          <p:nvPr/>
        </p:nvSpPr>
        <p:spPr>
          <a:xfrm>
            <a:off x="7205472" y="1947672"/>
            <a:ext cx="2496312" cy="1463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680" b="1" dirty="0">
                <a:solidFill>
                  <a:srgbClr val="9B9BA8"/>
                </a:solidFill>
                <a:latin typeface="Courier"/>
              </a:rPr>
              <a:t>GUARDRAIL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23" name="Text 23"/>
          <p:cNvSpPr txBox="1"/>
          <p:nvPr/>
        </p:nvSpPr>
        <p:spPr>
          <a:xfrm>
            <a:off x="7205472" y="2167128"/>
            <a:ext cx="2496312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1300" b="1" dirty="0">
                <a:solidFill>
                  <a:srgbClr val="0A0A0F"/>
                </a:solidFill>
                <a:latin typeface="Helvetica"/>
              </a:rPr>
              <a:t>Klarheit</a:t>
            </a:r>
            <a:endParaRPr lang="de-DE" sz="13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24" name="Text 24"/>
          <p:cNvSpPr txBox="1"/>
          <p:nvPr/>
        </p:nvSpPr>
        <p:spPr>
          <a:xfrm>
            <a:off x="7205472" y="2560320"/>
            <a:ext cx="2496312" cy="2743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920" dirty="0">
                <a:solidFill>
                  <a:srgbClr val="4A4A4F"/>
                </a:solidFill>
                <a:latin typeface="Helvetica"/>
              </a:rPr>
              <a:t>Unclear diagnosis wording</a:t>
            </a:r>
            <a:endParaRPr lang="de-DE" sz="92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25" name="Card 25"/>
          <p:cNvSpPr/>
          <p:nvPr/>
        </p:nvSpPr>
        <p:spPr>
          <a:xfrm>
            <a:off x="749808" y="2999232"/>
            <a:ext cx="278892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26" name="Card marker 26"/>
          <p:cNvSpPr/>
          <p:nvPr/>
        </p:nvSpPr>
        <p:spPr>
          <a:xfrm>
            <a:off x="896112" y="3163824"/>
            <a:ext cx="36576" cy="36576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27" name="Text 27"/>
          <p:cNvSpPr txBox="1"/>
          <p:nvPr/>
        </p:nvSpPr>
        <p:spPr>
          <a:xfrm>
            <a:off x="896112" y="3282696"/>
            <a:ext cx="2496312" cy="1463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680" b="1" dirty="0">
                <a:solidFill>
                  <a:srgbClr val="9B9BA8"/>
                </a:solidFill>
                <a:latin typeface="Courier"/>
              </a:rPr>
              <a:t>GUARDRAIL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28" name="Text 28"/>
          <p:cNvSpPr txBox="1"/>
          <p:nvPr/>
        </p:nvSpPr>
        <p:spPr>
          <a:xfrm>
            <a:off x="896112" y="3502152"/>
            <a:ext cx="2496312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1300" b="1" dirty="0">
                <a:solidFill>
                  <a:srgbClr val="0A0A0F"/>
                </a:solidFill>
                <a:latin typeface="Helvetica"/>
              </a:rPr>
              <a:t>Follow-up</a:t>
            </a:r>
            <a:endParaRPr lang="de-DE" sz="13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29" name="Text 29"/>
          <p:cNvSpPr txBox="1"/>
          <p:nvPr/>
        </p:nvSpPr>
        <p:spPr>
          <a:xfrm>
            <a:off x="896112" y="3895344"/>
            <a:ext cx="2496312" cy="2743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920" dirty="0">
                <a:solidFill>
                  <a:srgbClr val="4A4A4F"/>
                </a:solidFill>
                <a:latin typeface="Helvetica"/>
              </a:rPr>
              <a:t>Missing next step</a:t>
            </a:r>
            <a:endParaRPr lang="de-DE" sz="92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30" name="Card 30"/>
          <p:cNvSpPr/>
          <p:nvPr/>
        </p:nvSpPr>
        <p:spPr>
          <a:xfrm>
            <a:off x="3904488" y="2999232"/>
            <a:ext cx="278892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31" name="Card marker 31"/>
          <p:cNvSpPr/>
          <p:nvPr/>
        </p:nvSpPr>
        <p:spPr>
          <a:xfrm>
            <a:off x="4050792" y="3163824"/>
            <a:ext cx="36576" cy="36576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32" name="Text 32"/>
          <p:cNvSpPr txBox="1"/>
          <p:nvPr/>
        </p:nvSpPr>
        <p:spPr>
          <a:xfrm>
            <a:off x="4050792" y="3282696"/>
            <a:ext cx="2496312" cy="1463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680" b="1" dirty="0">
                <a:solidFill>
                  <a:srgbClr val="9B9BA8"/>
                </a:solidFill>
                <a:latin typeface="Courier"/>
              </a:rPr>
              <a:t>GUARDRAIL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33" name="Text 33"/>
          <p:cNvSpPr txBox="1"/>
          <p:nvPr/>
        </p:nvSpPr>
        <p:spPr>
          <a:xfrm>
            <a:off x="4050792" y="3502152"/>
            <a:ext cx="2496312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1300" b="1" dirty="0">
                <a:solidFill>
                  <a:srgbClr val="0A0A0F"/>
                </a:solidFill>
                <a:latin typeface="Helvetica"/>
              </a:rPr>
              <a:t>Edit</a:t>
            </a:r>
            <a:endParaRPr lang="de-DE" sz="13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34" name="Text 34"/>
          <p:cNvSpPr txBox="1"/>
          <p:nvPr/>
        </p:nvSpPr>
        <p:spPr>
          <a:xfrm>
            <a:off x="4050792" y="3895344"/>
            <a:ext cx="2496312" cy="2743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920" dirty="0">
                <a:solidFill>
                  <a:srgbClr val="4A4A4F"/>
                </a:solidFill>
                <a:latin typeface="Helvetica"/>
              </a:rPr>
              <a:t>Voice edit preview before apply</a:t>
            </a:r>
            <a:endParaRPr lang="de-DE" sz="92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35" name="Card 35"/>
          <p:cNvSpPr/>
          <p:nvPr/>
        </p:nvSpPr>
        <p:spPr>
          <a:xfrm>
            <a:off x="7059168" y="2999232"/>
            <a:ext cx="278892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36" name="Card marker 36"/>
          <p:cNvSpPr/>
          <p:nvPr/>
        </p:nvSpPr>
        <p:spPr>
          <a:xfrm>
            <a:off x="7205472" y="3163824"/>
            <a:ext cx="36576" cy="36576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37" name="Text 37"/>
          <p:cNvSpPr txBox="1"/>
          <p:nvPr/>
        </p:nvSpPr>
        <p:spPr>
          <a:xfrm>
            <a:off x="7205472" y="3282696"/>
            <a:ext cx="2496312" cy="1463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680" b="1" dirty="0">
                <a:solidFill>
                  <a:srgbClr val="9B9BA8"/>
                </a:solidFill>
                <a:latin typeface="Courier"/>
              </a:rPr>
              <a:t>GUARDRAIL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38" name="Text 38"/>
          <p:cNvSpPr txBox="1"/>
          <p:nvPr/>
        </p:nvSpPr>
        <p:spPr>
          <a:xfrm>
            <a:off x="7205472" y="3502152"/>
            <a:ext cx="2496312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1300" b="1" dirty="0">
                <a:solidFill>
                  <a:srgbClr val="0A0A0F"/>
                </a:solidFill>
                <a:latin typeface="Helvetica"/>
              </a:rPr>
              <a:t>Export</a:t>
            </a:r>
            <a:endParaRPr lang="de-DE" sz="13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39" name="Text 39"/>
          <p:cNvSpPr txBox="1"/>
          <p:nvPr/>
        </p:nvSpPr>
        <p:spPr>
          <a:xfrm>
            <a:off x="7205472" y="3895344"/>
            <a:ext cx="2496312" cy="2743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920" dirty="0">
                <a:solidFill>
                  <a:srgbClr val="4A4A4F"/>
                </a:solidFill>
                <a:latin typeface="Helvetica"/>
              </a:rPr>
              <a:t>Only after approval</a:t>
            </a:r>
            <a:endParaRPr lang="de-DE" sz="920" dirty="0">
              <a:solidFill>
                <a:srgbClr val="4A4A4F"/>
              </a:solidFill>
              <a:latin typeface="Helvetic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liance Trus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EVO accent bar 2"/>
          <p:cNvSpPr/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3" name="Text 3"/>
          <p:cNvSpPr txBox="1"/>
          <p:nvPr/>
        </p:nvSpPr>
        <p:spPr>
          <a:xfrm>
            <a:off x="566928" y="292608"/>
            <a:ext cx="429768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50" b="1" dirty="0">
                <a:solidFill>
                  <a:srgbClr val="9B9BA8"/>
                </a:solidFill>
                <a:latin typeface="Courier"/>
              </a:rPr>
              <a:t>COMPLIANCE</a:t>
            </a:r>
            <a:endParaRPr lang="de-DE" sz="75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4" name="Header rule 4"/>
          <p:cNvSpPr/>
          <p:nvPr/>
        </p:nvSpPr>
        <p:spPr>
          <a:xfrm>
            <a:off x="566928" y="658368"/>
            <a:ext cx="11045952" cy="5486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/>
      </p:sp>
      <p:sp>
        <p:nvSpPr>
          <p:cNvPr id="5" name="Text 5"/>
          <p:cNvSpPr txBox="1"/>
          <p:nvPr/>
        </p:nvSpPr>
        <p:spPr>
          <a:xfrm>
            <a:off x="566928" y="804672"/>
            <a:ext cx="10058400" cy="53035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2400" b="1" dirty="0">
                <a:solidFill>
                  <a:srgbClr val="0A0A0F"/>
                </a:solidFill>
                <a:latin typeface="Helvetica"/>
              </a:rPr>
              <a:t>Trust by Design braucht klare Verantwortlichkeiten je Risiko</a:t>
            </a:r>
            <a:endParaRPr lang="de-DE" sz="24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6" name="Footer rule 6"/>
          <p:cNvSpPr/>
          <p:nvPr/>
        </p:nvSpPr>
        <p:spPr>
          <a:xfrm>
            <a:off x="566928" y="6419088"/>
            <a:ext cx="11045952" cy="5486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/>
      </p:sp>
      <p:sp>
        <p:nvSpPr>
          <p:cNvPr id="7" name="Text 7"/>
          <p:cNvSpPr txBox="1"/>
          <p:nvPr/>
        </p:nvSpPr>
        <p:spPr>
          <a:xfrm>
            <a:off x="566928" y="6510528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680" dirty="0">
                <a:solidFill>
                  <a:srgbClr val="9B9BA8"/>
                </a:solidFill>
                <a:latin typeface="Courier"/>
              </a:rPr>
              <a:t>CAREVO VC / CONSULTING TEMPLATE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8" name="Text 8"/>
          <p:cNvSpPr txBox="1"/>
          <p:nvPr/>
        </p:nvSpPr>
        <p:spPr>
          <a:xfrm>
            <a:off x="4572000" y="6510528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680" dirty="0">
                <a:solidFill>
                  <a:srgbClr val="9B9BA8"/>
                </a:solidFill>
                <a:latin typeface="Courier"/>
              </a:rPr>
              <a:t>CONFIDENTIAL - TEMPLATE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9" name="Text 9"/>
          <p:cNvSpPr txBox="1"/>
          <p:nvPr/>
        </p:nvSpPr>
        <p:spPr>
          <a:xfrm>
            <a:off x="11018520" y="6510528"/>
            <a:ext cx="59436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r"/>
            <a:r>
              <a:rPr lang="de-DE" sz="680" dirty="0">
                <a:solidFill>
                  <a:srgbClr val="9B9BA8"/>
                </a:solidFill>
                <a:latin typeface="Courier"/>
              </a:rPr>
              <a:t>26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10" name="Table header 10"/>
          <p:cNvSpPr/>
          <p:nvPr/>
        </p:nvSpPr>
        <p:spPr>
          <a:xfrm>
            <a:off x="749808" y="1572768"/>
            <a:ext cx="9509760" cy="4572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/>
      </p:sp>
      <p:sp>
        <p:nvSpPr>
          <p:cNvPr id="11" name="Text 11"/>
          <p:cNvSpPr txBox="1"/>
          <p:nvPr/>
        </p:nvSpPr>
        <p:spPr>
          <a:xfrm>
            <a:off x="822960" y="1664208"/>
            <a:ext cx="1865376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40" b="1" dirty="0">
                <a:solidFill>
                  <a:srgbClr val="FFFFFF"/>
                </a:solidFill>
                <a:latin typeface="Courier"/>
              </a:rPr>
              <a:t>Risiko</a:t>
            </a:r>
            <a:endParaRPr lang="de-DE" sz="740" dirty="0">
              <a:solidFill>
                <a:srgbClr val="FFFFFF"/>
              </a:solidFill>
              <a:latin typeface="Courier"/>
            </a:endParaRPr>
          </a:p>
        </p:txBody>
      </p:sp>
      <p:sp>
        <p:nvSpPr>
          <p:cNvPr id="12" name="Text 12"/>
          <p:cNvSpPr txBox="1"/>
          <p:nvPr/>
        </p:nvSpPr>
        <p:spPr>
          <a:xfrm>
            <a:off x="2834640" y="1664208"/>
            <a:ext cx="1865376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40" b="1" dirty="0">
                <a:solidFill>
                  <a:srgbClr val="FFFFFF"/>
                </a:solidFill>
                <a:latin typeface="Courier"/>
              </a:rPr>
              <a:t>Kontrolle</a:t>
            </a:r>
            <a:endParaRPr lang="de-DE" sz="740" dirty="0">
              <a:solidFill>
                <a:srgbClr val="FFFFFF"/>
              </a:solidFill>
              <a:latin typeface="Courier"/>
            </a:endParaRPr>
          </a:p>
        </p:txBody>
      </p:sp>
      <p:sp>
        <p:nvSpPr>
          <p:cNvPr id="13" name="Text 13"/>
          <p:cNvSpPr txBox="1"/>
          <p:nvPr/>
        </p:nvSpPr>
        <p:spPr>
          <a:xfrm>
            <a:off x="4846320" y="1664208"/>
            <a:ext cx="1865376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40" b="1" dirty="0">
                <a:solidFill>
                  <a:srgbClr val="FFFFFF"/>
                </a:solidFill>
                <a:latin typeface="Courier"/>
              </a:rPr>
              <a:t>Owner</a:t>
            </a:r>
            <a:endParaRPr lang="de-DE" sz="740" dirty="0">
              <a:solidFill>
                <a:srgbClr val="FFFFFF"/>
              </a:solidFill>
              <a:latin typeface="Courier"/>
            </a:endParaRPr>
          </a:p>
        </p:txBody>
      </p:sp>
      <p:sp>
        <p:nvSpPr>
          <p:cNvPr id="14" name="Text 14"/>
          <p:cNvSpPr txBox="1"/>
          <p:nvPr/>
        </p:nvSpPr>
        <p:spPr>
          <a:xfrm>
            <a:off x="6858000" y="1664208"/>
            <a:ext cx="1865376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40" b="1" dirty="0">
                <a:solidFill>
                  <a:srgbClr val="FFFFFF"/>
                </a:solidFill>
                <a:latin typeface="Courier"/>
              </a:rPr>
              <a:t>Artefakt</a:t>
            </a:r>
            <a:endParaRPr lang="de-DE" sz="740" dirty="0">
              <a:solidFill>
                <a:srgbClr val="FFFFFF"/>
              </a:solidFill>
              <a:latin typeface="Courier"/>
            </a:endParaRPr>
          </a:p>
        </p:txBody>
      </p:sp>
      <p:sp>
        <p:nvSpPr>
          <p:cNvPr id="15" name="Text 15"/>
          <p:cNvSpPr txBox="1"/>
          <p:nvPr/>
        </p:nvSpPr>
        <p:spPr>
          <a:xfrm>
            <a:off x="8869680" y="1664208"/>
            <a:ext cx="1316736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40" b="1" dirty="0">
                <a:solidFill>
                  <a:srgbClr val="FFFFFF"/>
                </a:solidFill>
                <a:latin typeface="Courier"/>
              </a:rPr>
              <a:t>Status</a:t>
            </a:r>
            <a:endParaRPr lang="de-DE" sz="740" dirty="0">
              <a:solidFill>
                <a:srgbClr val="FFFFFF"/>
              </a:solidFill>
              <a:latin typeface="Courier"/>
            </a:endParaRPr>
          </a:p>
        </p:txBody>
      </p:sp>
      <p:sp>
        <p:nvSpPr>
          <p:cNvPr id="16" name="Table cell 16"/>
          <p:cNvSpPr/>
          <p:nvPr/>
        </p:nvSpPr>
        <p:spPr>
          <a:xfrm>
            <a:off x="749808" y="2029968"/>
            <a:ext cx="2011680" cy="457200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17" name="Text 17"/>
          <p:cNvSpPr txBox="1"/>
          <p:nvPr/>
        </p:nvSpPr>
        <p:spPr>
          <a:xfrm>
            <a:off x="822960" y="2130552"/>
            <a:ext cx="1865376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0A0A0F"/>
                </a:solidFill>
                <a:latin typeface="Helvetica"/>
              </a:rPr>
              <a:t>AI hallucination</a:t>
            </a:r>
            <a:endParaRPr lang="de-DE" sz="76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18" name="Table cell 18"/>
          <p:cNvSpPr/>
          <p:nvPr/>
        </p:nvSpPr>
        <p:spPr>
          <a:xfrm>
            <a:off x="2761488" y="2029968"/>
            <a:ext cx="2011680" cy="457200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19" name="Text 19"/>
          <p:cNvSpPr txBox="1"/>
          <p:nvPr/>
        </p:nvSpPr>
        <p:spPr>
          <a:xfrm>
            <a:off x="2834640" y="2130552"/>
            <a:ext cx="1865376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Validation warnings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20" name="Table cell 20"/>
          <p:cNvSpPr/>
          <p:nvPr/>
        </p:nvSpPr>
        <p:spPr>
          <a:xfrm>
            <a:off x="4773168" y="2029968"/>
            <a:ext cx="2011680" cy="457200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21" name="Text 21"/>
          <p:cNvSpPr txBox="1"/>
          <p:nvPr/>
        </p:nvSpPr>
        <p:spPr>
          <a:xfrm>
            <a:off x="4846320" y="2130552"/>
            <a:ext cx="1865376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Clinical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22" name="Table cell 22"/>
          <p:cNvSpPr/>
          <p:nvPr/>
        </p:nvSpPr>
        <p:spPr>
          <a:xfrm>
            <a:off x="6784848" y="2029968"/>
            <a:ext cx="2011680" cy="457200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23" name="Text 23"/>
          <p:cNvSpPr txBox="1"/>
          <p:nvPr/>
        </p:nvSpPr>
        <p:spPr>
          <a:xfrm>
            <a:off x="6858000" y="2130552"/>
            <a:ext cx="1865376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Risk register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24" name="Table cell 24"/>
          <p:cNvSpPr/>
          <p:nvPr/>
        </p:nvSpPr>
        <p:spPr>
          <a:xfrm>
            <a:off x="8796528" y="2029968"/>
            <a:ext cx="1463040" cy="457200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25" name="Text 25"/>
          <p:cNvSpPr txBox="1"/>
          <p:nvPr/>
        </p:nvSpPr>
        <p:spPr>
          <a:xfrm>
            <a:off x="8869680" y="2130552"/>
            <a:ext cx="1316736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open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26" name="Table cell 26"/>
          <p:cNvSpPr/>
          <p:nvPr/>
        </p:nvSpPr>
        <p:spPr>
          <a:xfrm>
            <a:off x="749808" y="2487168"/>
            <a:ext cx="2011680" cy="457200"/>
          </a:xfrm>
          <a:prstGeom prst="rect">
            <a:avLst/>
          </a:prstGeom>
          <a:solidFill>
            <a:srgbClr val="FFFFFF"/>
          </a:solidFill>
          <a:ln w="4445">
            <a:solidFill>
              <a:srgbClr val="E8E8EC"/>
            </a:solidFill>
          </a:ln>
        </p:spPr>
        <p:style/>
      </p:sp>
      <p:sp>
        <p:nvSpPr>
          <p:cNvPr id="27" name="Text 27"/>
          <p:cNvSpPr txBox="1"/>
          <p:nvPr/>
        </p:nvSpPr>
        <p:spPr>
          <a:xfrm>
            <a:off x="822960" y="2587752"/>
            <a:ext cx="1865376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0A0A0F"/>
                </a:solidFill>
                <a:latin typeface="Helvetica"/>
              </a:rPr>
              <a:t>Data leakage</a:t>
            </a:r>
            <a:endParaRPr lang="de-DE" sz="76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28" name="Table cell 28"/>
          <p:cNvSpPr/>
          <p:nvPr/>
        </p:nvSpPr>
        <p:spPr>
          <a:xfrm>
            <a:off x="2761488" y="2487168"/>
            <a:ext cx="2011680" cy="457200"/>
          </a:xfrm>
          <a:prstGeom prst="rect">
            <a:avLst/>
          </a:prstGeom>
          <a:solidFill>
            <a:srgbClr val="FFFFFF"/>
          </a:solidFill>
          <a:ln w="4445">
            <a:solidFill>
              <a:srgbClr val="E8E8EC"/>
            </a:solidFill>
          </a:ln>
        </p:spPr>
        <p:style/>
      </p:sp>
      <p:sp>
        <p:nvSpPr>
          <p:cNvPr id="29" name="Text 29"/>
          <p:cNvSpPr txBox="1"/>
          <p:nvPr/>
        </p:nvSpPr>
        <p:spPr>
          <a:xfrm>
            <a:off x="2834640" y="2587752"/>
            <a:ext cx="1865376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Access policy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30" name="Table cell 30"/>
          <p:cNvSpPr/>
          <p:nvPr/>
        </p:nvSpPr>
        <p:spPr>
          <a:xfrm>
            <a:off x="4773168" y="2487168"/>
            <a:ext cx="2011680" cy="457200"/>
          </a:xfrm>
          <a:prstGeom prst="rect">
            <a:avLst/>
          </a:prstGeom>
          <a:solidFill>
            <a:srgbClr val="FFFFFF"/>
          </a:solidFill>
          <a:ln w="4445">
            <a:solidFill>
              <a:srgbClr val="E8E8EC"/>
            </a:solidFill>
          </a:ln>
        </p:spPr>
        <p:style/>
      </p:sp>
      <p:sp>
        <p:nvSpPr>
          <p:cNvPr id="31" name="Text 31"/>
          <p:cNvSpPr txBox="1"/>
          <p:nvPr/>
        </p:nvSpPr>
        <p:spPr>
          <a:xfrm>
            <a:off x="4846320" y="2587752"/>
            <a:ext cx="1865376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Security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32" name="Table cell 32"/>
          <p:cNvSpPr/>
          <p:nvPr/>
        </p:nvSpPr>
        <p:spPr>
          <a:xfrm>
            <a:off x="6784848" y="2487168"/>
            <a:ext cx="2011680" cy="457200"/>
          </a:xfrm>
          <a:prstGeom prst="rect">
            <a:avLst/>
          </a:prstGeom>
          <a:solidFill>
            <a:srgbClr val="FFFFFF"/>
          </a:solidFill>
          <a:ln w="4445">
            <a:solidFill>
              <a:srgbClr val="E8E8EC"/>
            </a:solidFill>
          </a:ln>
        </p:spPr>
        <p:style/>
      </p:sp>
      <p:sp>
        <p:nvSpPr>
          <p:cNvPr id="33" name="Text 33"/>
          <p:cNvSpPr txBox="1"/>
          <p:nvPr/>
        </p:nvSpPr>
        <p:spPr>
          <a:xfrm>
            <a:off x="6858000" y="2587752"/>
            <a:ext cx="1865376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Audit logs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34" name="Table cell 34"/>
          <p:cNvSpPr/>
          <p:nvPr/>
        </p:nvSpPr>
        <p:spPr>
          <a:xfrm>
            <a:off x="8796528" y="2487168"/>
            <a:ext cx="1463040" cy="457200"/>
          </a:xfrm>
          <a:prstGeom prst="rect">
            <a:avLst/>
          </a:prstGeom>
          <a:solidFill>
            <a:srgbClr val="FFFFFF"/>
          </a:solidFill>
          <a:ln w="4445">
            <a:solidFill>
              <a:srgbClr val="E8E8EC"/>
            </a:solidFill>
          </a:ln>
        </p:spPr>
        <p:style/>
      </p:sp>
      <p:sp>
        <p:nvSpPr>
          <p:cNvPr id="35" name="Text 35"/>
          <p:cNvSpPr txBox="1"/>
          <p:nvPr/>
        </p:nvSpPr>
        <p:spPr>
          <a:xfrm>
            <a:off x="8869680" y="2587752"/>
            <a:ext cx="1316736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draft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36" name="Table cell 36"/>
          <p:cNvSpPr/>
          <p:nvPr/>
        </p:nvSpPr>
        <p:spPr>
          <a:xfrm>
            <a:off x="749808" y="2944368"/>
            <a:ext cx="2011680" cy="457200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37" name="Text 37"/>
          <p:cNvSpPr txBox="1"/>
          <p:nvPr/>
        </p:nvSpPr>
        <p:spPr>
          <a:xfrm>
            <a:off x="822960" y="3044952"/>
            <a:ext cx="1865376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0A0A0F"/>
                </a:solidFill>
                <a:latin typeface="Helvetica"/>
              </a:rPr>
              <a:t>Bad export</a:t>
            </a:r>
            <a:endParaRPr lang="de-DE" sz="76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38" name="Table cell 38"/>
          <p:cNvSpPr/>
          <p:nvPr/>
        </p:nvSpPr>
        <p:spPr>
          <a:xfrm>
            <a:off x="2761488" y="2944368"/>
            <a:ext cx="2011680" cy="457200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39" name="Text 39"/>
          <p:cNvSpPr txBox="1"/>
          <p:nvPr/>
        </p:nvSpPr>
        <p:spPr>
          <a:xfrm>
            <a:off x="2834640" y="3044952"/>
            <a:ext cx="1865376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Approval gate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40" name="Table cell 40"/>
          <p:cNvSpPr/>
          <p:nvPr/>
        </p:nvSpPr>
        <p:spPr>
          <a:xfrm>
            <a:off x="4773168" y="2944368"/>
            <a:ext cx="2011680" cy="457200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41" name="Text 41"/>
          <p:cNvSpPr txBox="1"/>
          <p:nvPr/>
        </p:nvSpPr>
        <p:spPr>
          <a:xfrm>
            <a:off x="4846320" y="3044952"/>
            <a:ext cx="1865376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Product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42" name="Table cell 42"/>
          <p:cNvSpPr/>
          <p:nvPr/>
        </p:nvSpPr>
        <p:spPr>
          <a:xfrm>
            <a:off x="6784848" y="2944368"/>
            <a:ext cx="2011680" cy="457200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43" name="Text 43"/>
          <p:cNvSpPr txBox="1"/>
          <p:nvPr/>
        </p:nvSpPr>
        <p:spPr>
          <a:xfrm>
            <a:off x="6858000" y="3044952"/>
            <a:ext cx="1865376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Export trail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44" name="Table cell 44"/>
          <p:cNvSpPr/>
          <p:nvPr/>
        </p:nvSpPr>
        <p:spPr>
          <a:xfrm>
            <a:off x="8796528" y="2944368"/>
            <a:ext cx="1463040" cy="457200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45" name="Text 45"/>
          <p:cNvSpPr txBox="1"/>
          <p:nvPr/>
        </p:nvSpPr>
        <p:spPr>
          <a:xfrm>
            <a:off x="8869680" y="3044952"/>
            <a:ext cx="1316736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ready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46" name="Table cell 46"/>
          <p:cNvSpPr/>
          <p:nvPr/>
        </p:nvSpPr>
        <p:spPr>
          <a:xfrm>
            <a:off x="749808" y="3401568"/>
            <a:ext cx="2011680" cy="457200"/>
          </a:xfrm>
          <a:prstGeom prst="rect">
            <a:avLst/>
          </a:prstGeom>
          <a:solidFill>
            <a:srgbClr val="FFFFFF"/>
          </a:solidFill>
          <a:ln w="4445">
            <a:solidFill>
              <a:srgbClr val="E8E8EC"/>
            </a:solidFill>
          </a:ln>
        </p:spPr>
        <p:style/>
      </p:sp>
      <p:sp>
        <p:nvSpPr>
          <p:cNvPr id="47" name="Text 47"/>
          <p:cNvSpPr txBox="1"/>
          <p:nvPr/>
        </p:nvSpPr>
        <p:spPr>
          <a:xfrm>
            <a:off x="822960" y="3502152"/>
            <a:ext cx="1865376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0A0A0F"/>
                </a:solidFill>
                <a:latin typeface="Helvetica"/>
              </a:rPr>
              <a:t>Model drift</a:t>
            </a:r>
            <a:endParaRPr lang="de-DE" sz="76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48" name="Table cell 48"/>
          <p:cNvSpPr/>
          <p:nvPr/>
        </p:nvSpPr>
        <p:spPr>
          <a:xfrm>
            <a:off x="2761488" y="3401568"/>
            <a:ext cx="2011680" cy="457200"/>
          </a:xfrm>
          <a:prstGeom prst="rect">
            <a:avLst/>
          </a:prstGeom>
          <a:solidFill>
            <a:srgbClr val="FFFFFF"/>
          </a:solidFill>
          <a:ln w="4445">
            <a:solidFill>
              <a:srgbClr val="E8E8EC"/>
            </a:solidFill>
          </a:ln>
        </p:spPr>
        <p:style/>
      </p:sp>
      <p:sp>
        <p:nvSpPr>
          <p:cNvPr id="49" name="Text 49"/>
          <p:cNvSpPr txBox="1"/>
          <p:nvPr/>
        </p:nvSpPr>
        <p:spPr>
          <a:xfrm>
            <a:off x="2834640" y="3502152"/>
            <a:ext cx="1865376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Change process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50" name="Table cell 50"/>
          <p:cNvSpPr/>
          <p:nvPr/>
        </p:nvSpPr>
        <p:spPr>
          <a:xfrm>
            <a:off x="4773168" y="3401568"/>
            <a:ext cx="2011680" cy="457200"/>
          </a:xfrm>
          <a:prstGeom prst="rect">
            <a:avLst/>
          </a:prstGeom>
          <a:solidFill>
            <a:srgbClr val="FFFFFF"/>
          </a:solidFill>
          <a:ln w="4445">
            <a:solidFill>
              <a:srgbClr val="E8E8EC"/>
            </a:solidFill>
          </a:ln>
        </p:spPr>
        <p:style/>
      </p:sp>
      <p:sp>
        <p:nvSpPr>
          <p:cNvPr id="51" name="Text 51"/>
          <p:cNvSpPr txBox="1"/>
          <p:nvPr/>
        </p:nvSpPr>
        <p:spPr>
          <a:xfrm>
            <a:off x="4846320" y="3502152"/>
            <a:ext cx="1865376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AI lead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52" name="Table cell 52"/>
          <p:cNvSpPr/>
          <p:nvPr/>
        </p:nvSpPr>
        <p:spPr>
          <a:xfrm>
            <a:off x="6784848" y="3401568"/>
            <a:ext cx="2011680" cy="457200"/>
          </a:xfrm>
          <a:prstGeom prst="rect">
            <a:avLst/>
          </a:prstGeom>
          <a:solidFill>
            <a:srgbClr val="FFFFFF"/>
          </a:solidFill>
          <a:ln w="4445">
            <a:solidFill>
              <a:srgbClr val="E8E8EC"/>
            </a:solidFill>
          </a:ln>
        </p:spPr>
        <p:style/>
      </p:sp>
      <p:sp>
        <p:nvSpPr>
          <p:cNvPr id="53" name="Text 53"/>
          <p:cNvSpPr txBox="1"/>
          <p:nvPr/>
        </p:nvSpPr>
        <p:spPr>
          <a:xfrm>
            <a:off x="6858000" y="3502152"/>
            <a:ext cx="1865376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Incident log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54" name="Table cell 54"/>
          <p:cNvSpPr/>
          <p:nvPr/>
        </p:nvSpPr>
        <p:spPr>
          <a:xfrm>
            <a:off x="8796528" y="3401568"/>
            <a:ext cx="1463040" cy="457200"/>
          </a:xfrm>
          <a:prstGeom prst="rect">
            <a:avLst/>
          </a:prstGeom>
          <a:solidFill>
            <a:srgbClr val="FFFFFF"/>
          </a:solidFill>
          <a:ln w="4445">
            <a:solidFill>
              <a:srgbClr val="E8E8EC"/>
            </a:solidFill>
          </a:ln>
        </p:spPr>
        <p:style/>
      </p:sp>
      <p:sp>
        <p:nvSpPr>
          <p:cNvPr id="55" name="Text 55"/>
          <p:cNvSpPr txBox="1"/>
          <p:nvPr/>
        </p:nvSpPr>
        <p:spPr>
          <a:xfrm>
            <a:off x="8869680" y="3502152"/>
            <a:ext cx="1316736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planned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56" name="Table cell 56"/>
          <p:cNvSpPr/>
          <p:nvPr/>
        </p:nvSpPr>
        <p:spPr>
          <a:xfrm>
            <a:off x="749808" y="3858768"/>
            <a:ext cx="2011680" cy="457200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57" name="Text 57"/>
          <p:cNvSpPr txBox="1"/>
          <p:nvPr/>
        </p:nvSpPr>
        <p:spPr>
          <a:xfrm>
            <a:off x="822960" y="3959352"/>
            <a:ext cx="1865376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0A0A0F"/>
                </a:solidFill>
                <a:latin typeface="Helvetica"/>
              </a:rPr>
              <a:t>User error</a:t>
            </a:r>
            <a:endParaRPr lang="de-DE" sz="76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58" name="Table cell 58"/>
          <p:cNvSpPr/>
          <p:nvPr/>
        </p:nvSpPr>
        <p:spPr>
          <a:xfrm>
            <a:off x="2761488" y="3858768"/>
            <a:ext cx="2011680" cy="457200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59" name="Text 59"/>
          <p:cNvSpPr txBox="1"/>
          <p:nvPr/>
        </p:nvSpPr>
        <p:spPr>
          <a:xfrm>
            <a:off x="2834640" y="3959352"/>
            <a:ext cx="1865376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Clear states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60" name="Table cell 60"/>
          <p:cNvSpPr/>
          <p:nvPr/>
        </p:nvSpPr>
        <p:spPr>
          <a:xfrm>
            <a:off x="4773168" y="3858768"/>
            <a:ext cx="2011680" cy="457200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61" name="Text 61"/>
          <p:cNvSpPr txBox="1"/>
          <p:nvPr/>
        </p:nvSpPr>
        <p:spPr>
          <a:xfrm>
            <a:off x="4846320" y="3959352"/>
            <a:ext cx="1865376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Design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62" name="Table cell 62"/>
          <p:cNvSpPr/>
          <p:nvPr/>
        </p:nvSpPr>
        <p:spPr>
          <a:xfrm>
            <a:off x="6784848" y="3858768"/>
            <a:ext cx="2011680" cy="457200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63" name="Text 63"/>
          <p:cNvSpPr txBox="1"/>
          <p:nvPr/>
        </p:nvSpPr>
        <p:spPr>
          <a:xfrm>
            <a:off x="6858000" y="3959352"/>
            <a:ext cx="1865376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UX checklist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64" name="Table cell 64"/>
          <p:cNvSpPr/>
          <p:nvPr/>
        </p:nvSpPr>
        <p:spPr>
          <a:xfrm>
            <a:off x="8796528" y="3858768"/>
            <a:ext cx="1463040" cy="457200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65" name="Text 65"/>
          <p:cNvSpPr txBox="1"/>
          <p:nvPr/>
        </p:nvSpPr>
        <p:spPr>
          <a:xfrm>
            <a:off x="8869680" y="3959352"/>
            <a:ext cx="1316736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ready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curity Pos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EVO accent bar 2"/>
          <p:cNvSpPr/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3" name="Text 3"/>
          <p:cNvSpPr txBox="1"/>
          <p:nvPr/>
        </p:nvSpPr>
        <p:spPr>
          <a:xfrm>
            <a:off x="566928" y="292608"/>
            <a:ext cx="429768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50" b="1" dirty="0">
                <a:solidFill>
                  <a:srgbClr val="9B9BA8"/>
                </a:solidFill>
                <a:latin typeface="Courier"/>
              </a:rPr>
              <a:t>SECURITY</a:t>
            </a:r>
            <a:endParaRPr lang="de-DE" sz="75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4" name="Header rule 4"/>
          <p:cNvSpPr/>
          <p:nvPr/>
        </p:nvSpPr>
        <p:spPr>
          <a:xfrm>
            <a:off x="566928" y="658368"/>
            <a:ext cx="11045952" cy="5486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/>
      </p:sp>
      <p:sp>
        <p:nvSpPr>
          <p:cNvPr id="5" name="Text 5"/>
          <p:cNvSpPr txBox="1"/>
          <p:nvPr/>
        </p:nvSpPr>
        <p:spPr>
          <a:xfrm>
            <a:off x="566928" y="804672"/>
            <a:ext cx="10058400" cy="53035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2400" b="1" dirty="0">
                <a:solidFill>
                  <a:srgbClr val="0A0A0F"/>
                </a:solidFill>
                <a:latin typeface="Helvetica"/>
              </a:rPr>
              <a:t>Security-Kommunikation muss ruhig, konkret und pruefbar bleiben</a:t>
            </a:r>
            <a:endParaRPr lang="de-DE" sz="24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6" name="Footer rule 6"/>
          <p:cNvSpPr/>
          <p:nvPr/>
        </p:nvSpPr>
        <p:spPr>
          <a:xfrm>
            <a:off x="566928" y="6419088"/>
            <a:ext cx="11045952" cy="5486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/>
      </p:sp>
      <p:sp>
        <p:nvSpPr>
          <p:cNvPr id="7" name="Text 7"/>
          <p:cNvSpPr txBox="1"/>
          <p:nvPr/>
        </p:nvSpPr>
        <p:spPr>
          <a:xfrm>
            <a:off x="566928" y="6510528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680" dirty="0">
                <a:solidFill>
                  <a:srgbClr val="9B9BA8"/>
                </a:solidFill>
                <a:latin typeface="Courier"/>
              </a:rPr>
              <a:t>CAREVO VC / CONSULTING TEMPLATE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8" name="Text 8"/>
          <p:cNvSpPr txBox="1"/>
          <p:nvPr/>
        </p:nvSpPr>
        <p:spPr>
          <a:xfrm>
            <a:off x="4572000" y="6510528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680" dirty="0">
                <a:solidFill>
                  <a:srgbClr val="9B9BA8"/>
                </a:solidFill>
                <a:latin typeface="Courier"/>
              </a:rPr>
              <a:t>CONFIDENTIAL - TEMPLATE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9" name="Text 9"/>
          <p:cNvSpPr txBox="1"/>
          <p:nvPr/>
        </p:nvSpPr>
        <p:spPr>
          <a:xfrm>
            <a:off x="11018520" y="6510528"/>
            <a:ext cx="59436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r"/>
            <a:r>
              <a:rPr lang="de-DE" sz="680" dirty="0">
                <a:solidFill>
                  <a:srgbClr val="9B9BA8"/>
                </a:solidFill>
                <a:latin typeface="Courier"/>
              </a:rPr>
              <a:t>27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10" name="Card 10"/>
          <p:cNvSpPr/>
          <p:nvPr/>
        </p:nvSpPr>
        <p:spPr>
          <a:xfrm>
            <a:off x="749808" y="1682496"/>
            <a:ext cx="306324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11" name="Card marker 11"/>
          <p:cNvSpPr/>
          <p:nvPr/>
        </p:nvSpPr>
        <p:spPr>
          <a:xfrm>
            <a:off x="896112" y="1847088"/>
            <a:ext cx="36576" cy="36576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12" name="Text 12"/>
          <p:cNvSpPr txBox="1"/>
          <p:nvPr/>
        </p:nvSpPr>
        <p:spPr>
          <a:xfrm>
            <a:off x="896112" y="1965960"/>
            <a:ext cx="2770632" cy="1463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680" b="1" dirty="0">
                <a:solidFill>
                  <a:srgbClr val="9B9BA8"/>
                </a:solidFill>
                <a:latin typeface="Courier"/>
              </a:rPr>
              <a:t>LAYER 01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13" name="Text 13"/>
          <p:cNvSpPr txBox="1"/>
          <p:nvPr/>
        </p:nvSpPr>
        <p:spPr>
          <a:xfrm>
            <a:off x="896112" y="2185416"/>
            <a:ext cx="2770632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1300" b="1" dirty="0">
                <a:solidFill>
                  <a:srgbClr val="0A0A0F"/>
                </a:solidFill>
                <a:latin typeface="Helvetica"/>
              </a:rPr>
              <a:t>Access</a:t>
            </a:r>
            <a:endParaRPr lang="de-DE" sz="13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14" name="Text 14"/>
          <p:cNvSpPr txBox="1"/>
          <p:nvPr/>
        </p:nvSpPr>
        <p:spPr>
          <a:xfrm>
            <a:off x="896112" y="2578608"/>
            <a:ext cx="2770632" cy="7772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920" dirty="0">
                <a:solidFill>
                  <a:srgbClr val="4A4A4F"/>
                </a:solidFill>
                <a:latin typeface="Helvetica"/>
              </a:rPr>
              <a:t>Admin policies, Teamrollen und Deaktivierungsprozesse.</a:t>
            </a:r>
            <a:endParaRPr lang="de-DE" sz="92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15" name="Card 15"/>
          <p:cNvSpPr/>
          <p:nvPr/>
        </p:nvSpPr>
        <p:spPr>
          <a:xfrm>
            <a:off x="4069080" y="1682496"/>
            <a:ext cx="306324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16" name="Card marker 16"/>
          <p:cNvSpPr/>
          <p:nvPr/>
        </p:nvSpPr>
        <p:spPr>
          <a:xfrm>
            <a:off x="4215384" y="1847088"/>
            <a:ext cx="36576" cy="36576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17" name="Text 17"/>
          <p:cNvSpPr txBox="1"/>
          <p:nvPr/>
        </p:nvSpPr>
        <p:spPr>
          <a:xfrm>
            <a:off x="4215384" y="1965960"/>
            <a:ext cx="2770632" cy="1463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680" b="1" dirty="0">
                <a:solidFill>
                  <a:srgbClr val="9B9BA8"/>
                </a:solidFill>
                <a:latin typeface="Courier"/>
              </a:rPr>
              <a:t>LAYER 02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18" name="Text 18"/>
          <p:cNvSpPr txBox="1"/>
          <p:nvPr/>
        </p:nvSpPr>
        <p:spPr>
          <a:xfrm>
            <a:off x="4215384" y="2185416"/>
            <a:ext cx="2770632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1300" b="1" dirty="0">
                <a:solidFill>
                  <a:srgbClr val="0A0A0F"/>
                </a:solidFill>
                <a:latin typeface="Helvetica"/>
              </a:rPr>
              <a:t>Data</a:t>
            </a:r>
            <a:endParaRPr lang="de-DE" sz="13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19" name="Text 19"/>
          <p:cNvSpPr txBox="1"/>
          <p:nvPr/>
        </p:nvSpPr>
        <p:spPr>
          <a:xfrm>
            <a:off x="4215384" y="2578608"/>
            <a:ext cx="2770632" cy="7772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920" dirty="0">
                <a:solidFill>
                  <a:srgbClr val="4A4A4F"/>
                </a:solidFill>
                <a:latin typeface="Helvetica"/>
              </a:rPr>
              <a:t>Backups, Restore Runbook und Secret Rotation.</a:t>
            </a:r>
            <a:endParaRPr lang="de-DE" sz="92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20" name="Card 20"/>
          <p:cNvSpPr/>
          <p:nvPr/>
        </p:nvSpPr>
        <p:spPr>
          <a:xfrm>
            <a:off x="7388352" y="1682496"/>
            <a:ext cx="306324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21" name="Card marker 21"/>
          <p:cNvSpPr/>
          <p:nvPr/>
        </p:nvSpPr>
        <p:spPr>
          <a:xfrm>
            <a:off x="7534656" y="1847088"/>
            <a:ext cx="36576" cy="36576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22" name="Text 22"/>
          <p:cNvSpPr txBox="1"/>
          <p:nvPr/>
        </p:nvSpPr>
        <p:spPr>
          <a:xfrm>
            <a:off x="7534656" y="1965960"/>
            <a:ext cx="2770632" cy="1463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680" b="1" dirty="0">
                <a:solidFill>
                  <a:srgbClr val="9B9BA8"/>
                </a:solidFill>
                <a:latin typeface="Courier"/>
              </a:rPr>
              <a:t>LAYER 03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23" name="Text 23"/>
          <p:cNvSpPr txBox="1"/>
          <p:nvPr/>
        </p:nvSpPr>
        <p:spPr>
          <a:xfrm>
            <a:off x="7534656" y="2185416"/>
            <a:ext cx="2770632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1300" b="1" dirty="0">
                <a:solidFill>
                  <a:srgbClr val="0A0A0F"/>
                </a:solidFill>
                <a:latin typeface="Helvetica"/>
              </a:rPr>
              <a:t>Monitoring</a:t>
            </a:r>
            <a:endParaRPr lang="de-DE" sz="13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24" name="Text 24"/>
          <p:cNvSpPr txBox="1"/>
          <p:nvPr/>
        </p:nvSpPr>
        <p:spPr>
          <a:xfrm>
            <a:off x="7534656" y="2578608"/>
            <a:ext cx="2770632" cy="7772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920" dirty="0">
                <a:solidFill>
                  <a:srgbClr val="4A4A4F"/>
                </a:solidFill>
                <a:latin typeface="Helvetica"/>
              </a:rPr>
              <a:t>KPIs, Incident-Prozess und Rollback-Protokoll.</a:t>
            </a:r>
            <a:endParaRPr lang="de-DE" sz="92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25" name="Shape 25"/>
          <p:cNvSpPr/>
          <p:nvPr/>
        </p:nvSpPr>
        <p:spPr>
          <a:xfrm>
            <a:off x="749808" y="4069080"/>
            <a:ext cx="9710928" cy="658368"/>
          </a:xfrm>
          <a:prstGeom prst="rect">
            <a:avLst/>
          </a:prstGeom>
          <a:solidFill>
            <a:srgbClr val="F4F4F6"/>
          </a:solidFill>
          <a:ln w="6350">
            <a:solidFill>
              <a:srgbClr val="E8E8EC"/>
            </a:solidFill>
          </a:ln>
        </p:spPr>
        <p:style/>
      </p:sp>
      <p:sp>
        <p:nvSpPr>
          <p:cNvPr id="26" name="Text 26"/>
          <p:cNvSpPr txBox="1"/>
          <p:nvPr/>
        </p:nvSpPr>
        <p:spPr>
          <a:xfrm>
            <a:off x="987552" y="4261104"/>
            <a:ext cx="914400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900" dirty="0">
                <a:solidFill>
                  <a:srgbClr val="4A4A4F"/>
                </a:solidFill>
                <a:latin typeface="Courier"/>
              </a:rPr>
              <a:t>Kein Security-Theater: jedes Claim braucht Artefakt, Owner und pruefbaren Prozess.</a:t>
            </a:r>
            <a:endParaRPr lang="de-DE" sz="900" dirty="0">
              <a:solidFill>
                <a:srgbClr val="4A4A4F"/>
              </a:solidFill>
              <a:latin typeface="Courier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eam Org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EVO accent bar 2"/>
          <p:cNvSpPr/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3" name="Text 3"/>
          <p:cNvSpPr txBox="1"/>
          <p:nvPr/>
        </p:nvSpPr>
        <p:spPr>
          <a:xfrm>
            <a:off x="566928" y="292608"/>
            <a:ext cx="429768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50" b="1" dirty="0">
                <a:solidFill>
                  <a:srgbClr val="9B9BA8"/>
                </a:solidFill>
                <a:latin typeface="Courier"/>
              </a:rPr>
              <a:t>TEAM</a:t>
            </a:r>
            <a:endParaRPr lang="de-DE" sz="75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4" name="Header rule 4"/>
          <p:cNvSpPr/>
          <p:nvPr/>
        </p:nvSpPr>
        <p:spPr>
          <a:xfrm>
            <a:off x="566928" y="658368"/>
            <a:ext cx="11045952" cy="5486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/>
      </p:sp>
      <p:sp>
        <p:nvSpPr>
          <p:cNvPr id="5" name="Text 5"/>
          <p:cNvSpPr txBox="1"/>
          <p:nvPr/>
        </p:nvSpPr>
        <p:spPr>
          <a:xfrm>
            <a:off x="566928" y="804672"/>
            <a:ext cx="10058400" cy="53035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2400" b="1" dirty="0">
                <a:solidFill>
                  <a:srgbClr val="0A0A0F"/>
                </a:solidFill>
                <a:latin typeface="Helvetica"/>
              </a:rPr>
              <a:t>Organisation wird als Operating Model mit klaren Verantwortlichkeiten gezeigt</a:t>
            </a:r>
            <a:endParaRPr lang="de-DE" sz="24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6" name="Footer rule 6"/>
          <p:cNvSpPr/>
          <p:nvPr/>
        </p:nvSpPr>
        <p:spPr>
          <a:xfrm>
            <a:off x="566928" y="6419088"/>
            <a:ext cx="11045952" cy="5486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/>
      </p:sp>
      <p:sp>
        <p:nvSpPr>
          <p:cNvPr id="7" name="Text 7"/>
          <p:cNvSpPr txBox="1"/>
          <p:nvPr/>
        </p:nvSpPr>
        <p:spPr>
          <a:xfrm>
            <a:off x="566928" y="6510528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680" dirty="0">
                <a:solidFill>
                  <a:srgbClr val="9B9BA8"/>
                </a:solidFill>
                <a:latin typeface="Courier"/>
              </a:rPr>
              <a:t>CAREVO VC / CONSULTING TEMPLATE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8" name="Text 8"/>
          <p:cNvSpPr txBox="1"/>
          <p:nvPr/>
        </p:nvSpPr>
        <p:spPr>
          <a:xfrm>
            <a:off x="4572000" y="6510528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680" dirty="0">
                <a:solidFill>
                  <a:srgbClr val="9B9BA8"/>
                </a:solidFill>
                <a:latin typeface="Courier"/>
              </a:rPr>
              <a:t>CONFIDENTIAL - TEMPLATE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9" name="Text 9"/>
          <p:cNvSpPr txBox="1"/>
          <p:nvPr/>
        </p:nvSpPr>
        <p:spPr>
          <a:xfrm>
            <a:off x="11018520" y="6510528"/>
            <a:ext cx="59436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r"/>
            <a:r>
              <a:rPr lang="de-DE" sz="680" dirty="0">
                <a:solidFill>
                  <a:srgbClr val="9B9BA8"/>
                </a:solidFill>
                <a:latin typeface="Courier"/>
              </a:rPr>
              <a:t>28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10" name="Shape 10"/>
          <p:cNvSpPr/>
          <p:nvPr/>
        </p:nvSpPr>
        <p:spPr>
          <a:xfrm>
            <a:off x="868680" y="1874520"/>
            <a:ext cx="15087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11" name="Text 11"/>
          <p:cNvSpPr txBox="1"/>
          <p:nvPr/>
        </p:nvSpPr>
        <p:spPr>
          <a:xfrm>
            <a:off x="978408" y="2121408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1300" b="1" dirty="0">
                <a:solidFill>
                  <a:srgbClr val="0A0A0F"/>
                </a:solidFill>
                <a:latin typeface="Helvetica"/>
              </a:rPr>
              <a:t>CEO</a:t>
            </a:r>
            <a:endParaRPr lang="de-DE" sz="13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12" name="Text 12"/>
          <p:cNvSpPr txBox="1"/>
          <p:nvPr/>
        </p:nvSpPr>
        <p:spPr>
          <a:xfrm>
            <a:off x="960120" y="2487168"/>
            <a:ext cx="132588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660" dirty="0">
                <a:solidFill>
                  <a:srgbClr val="9B9BA8"/>
                </a:solidFill>
                <a:latin typeface="Courier"/>
              </a:rPr>
              <a:t>Category &amp; Capital</a:t>
            </a:r>
            <a:endParaRPr lang="de-DE" sz="66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13" name="Shape 13"/>
          <p:cNvSpPr/>
          <p:nvPr/>
        </p:nvSpPr>
        <p:spPr>
          <a:xfrm>
            <a:off x="2862072" y="1874520"/>
            <a:ext cx="15087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14" name="Text 14"/>
          <p:cNvSpPr txBox="1"/>
          <p:nvPr/>
        </p:nvSpPr>
        <p:spPr>
          <a:xfrm>
            <a:off x="2971800" y="2121408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1300" b="1" dirty="0">
                <a:solidFill>
                  <a:srgbClr val="0A0A0F"/>
                </a:solidFill>
                <a:latin typeface="Helvetica"/>
              </a:rPr>
              <a:t>CPO</a:t>
            </a:r>
            <a:endParaRPr lang="de-DE" sz="13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15" name="Text 15"/>
          <p:cNvSpPr txBox="1"/>
          <p:nvPr/>
        </p:nvSpPr>
        <p:spPr>
          <a:xfrm>
            <a:off x="2953512" y="2487168"/>
            <a:ext cx="132588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660" dirty="0">
                <a:solidFill>
                  <a:srgbClr val="9B9BA8"/>
                </a:solidFill>
                <a:latin typeface="Courier"/>
              </a:rPr>
              <a:t>Workflow &amp; UX</a:t>
            </a:r>
            <a:endParaRPr lang="de-DE" sz="66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16" name="Shape 16"/>
          <p:cNvSpPr/>
          <p:nvPr/>
        </p:nvSpPr>
        <p:spPr>
          <a:xfrm>
            <a:off x="4855464" y="1874520"/>
            <a:ext cx="15087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17" name="Text 17"/>
          <p:cNvSpPr txBox="1"/>
          <p:nvPr/>
        </p:nvSpPr>
        <p:spPr>
          <a:xfrm>
            <a:off x="4965192" y="2121408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1300" b="1" dirty="0">
                <a:solidFill>
                  <a:srgbClr val="0A0A0F"/>
                </a:solidFill>
                <a:latin typeface="Helvetica"/>
              </a:rPr>
              <a:t>CTO</a:t>
            </a:r>
            <a:endParaRPr lang="de-DE" sz="13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18" name="Text 18"/>
          <p:cNvSpPr txBox="1"/>
          <p:nvPr/>
        </p:nvSpPr>
        <p:spPr>
          <a:xfrm>
            <a:off x="4946904" y="2487168"/>
            <a:ext cx="132588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660" dirty="0">
                <a:solidFill>
                  <a:srgbClr val="9B9BA8"/>
                </a:solidFill>
                <a:latin typeface="Courier"/>
              </a:rPr>
              <a:t>Platform &amp; Security</a:t>
            </a:r>
            <a:endParaRPr lang="de-DE" sz="66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19" name="Shape 19"/>
          <p:cNvSpPr/>
          <p:nvPr/>
        </p:nvSpPr>
        <p:spPr>
          <a:xfrm>
            <a:off x="6848856" y="1874520"/>
            <a:ext cx="15087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20" name="Text 20"/>
          <p:cNvSpPr txBox="1"/>
          <p:nvPr/>
        </p:nvSpPr>
        <p:spPr>
          <a:xfrm>
            <a:off x="6958584" y="2121408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1300" b="1" dirty="0">
                <a:solidFill>
                  <a:srgbClr val="0A0A0F"/>
                </a:solidFill>
                <a:latin typeface="Helvetica"/>
              </a:rPr>
              <a:t>Clinical</a:t>
            </a:r>
            <a:endParaRPr lang="de-DE" sz="13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21" name="Text 21"/>
          <p:cNvSpPr txBox="1"/>
          <p:nvPr/>
        </p:nvSpPr>
        <p:spPr>
          <a:xfrm>
            <a:off x="6940296" y="2487168"/>
            <a:ext cx="132588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660" dirty="0">
                <a:solidFill>
                  <a:srgbClr val="9B9BA8"/>
                </a:solidFill>
                <a:latin typeface="Courier"/>
              </a:rPr>
              <a:t>Quality &amp; Review</a:t>
            </a:r>
            <a:endParaRPr lang="de-DE" sz="66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22" name="Shape 22"/>
          <p:cNvSpPr/>
          <p:nvPr/>
        </p:nvSpPr>
        <p:spPr>
          <a:xfrm>
            <a:off x="8842248" y="1874520"/>
            <a:ext cx="15087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23" name="Text 23"/>
          <p:cNvSpPr txBox="1"/>
          <p:nvPr/>
        </p:nvSpPr>
        <p:spPr>
          <a:xfrm>
            <a:off x="8951976" y="2121408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1300" b="1" dirty="0">
                <a:solidFill>
                  <a:srgbClr val="0A0A0F"/>
                </a:solidFill>
                <a:latin typeface="Helvetica"/>
              </a:rPr>
              <a:t>GTM</a:t>
            </a:r>
            <a:endParaRPr lang="de-DE" sz="13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24" name="Text 24"/>
          <p:cNvSpPr txBox="1"/>
          <p:nvPr/>
        </p:nvSpPr>
        <p:spPr>
          <a:xfrm>
            <a:off x="8933688" y="2487168"/>
            <a:ext cx="132588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660" dirty="0">
                <a:solidFill>
                  <a:srgbClr val="9B9BA8"/>
                </a:solidFill>
                <a:latin typeface="Courier"/>
              </a:rPr>
              <a:t>Pilots &amp; Expansion</a:t>
            </a:r>
            <a:endParaRPr lang="de-DE" sz="66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25" name="Shape 25"/>
          <p:cNvSpPr/>
          <p:nvPr/>
        </p:nvSpPr>
        <p:spPr>
          <a:xfrm>
            <a:off x="1600200" y="3703320"/>
            <a:ext cx="7269480" cy="603504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/>
      </p:sp>
      <p:sp>
        <p:nvSpPr>
          <p:cNvPr id="26" name="Text 26"/>
          <p:cNvSpPr txBox="1"/>
          <p:nvPr/>
        </p:nvSpPr>
        <p:spPr>
          <a:xfrm>
            <a:off x="1874520" y="3895344"/>
            <a:ext cx="667512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1020" b="1" dirty="0">
                <a:solidFill>
                  <a:srgbClr val="FFFFFF"/>
                </a:solidFill>
                <a:latin typeface="Helvetica"/>
              </a:rPr>
              <a:t>Board Narrative: Das Team deckt Produkt, Klinik, Compliance und Vertrieb ab.</a:t>
            </a:r>
            <a:endParaRPr lang="de-DE" sz="1020" dirty="0">
              <a:solidFill>
                <a:srgbClr val="FFFFFF"/>
              </a:solidFill>
              <a:latin typeface="Helvetic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duct Roadmap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EVO accent bar 2"/>
          <p:cNvSpPr/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3" name="Text 3"/>
          <p:cNvSpPr txBox="1"/>
          <p:nvPr/>
        </p:nvSpPr>
        <p:spPr>
          <a:xfrm>
            <a:off x="566928" y="292608"/>
            <a:ext cx="429768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50" b="1" dirty="0">
                <a:solidFill>
                  <a:srgbClr val="9B9BA8"/>
                </a:solidFill>
                <a:latin typeface="Courier"/>
              </a:rPr>
              <a:t>ROADMAP</a:t>
            </a:r>
            <a:endParaRPr lang="de-DE" sz="75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4" name="Header rule 4"/>
          <p:cNvSpPr/>
          <p:nvPr/>
        </p:nvSpPr>
        <p:spPr>
          <a:xfrm>
            <a:off x="566928" y="658368"/>
            <a:ext cx="11045952" cy="5486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/>
      </p:sp>
      <p:sp>
        <p:nvSpPr>
          <p:cNvPr id="5" name="Text 5"/>
          <p:cNvSpPr txBox="1"/>
          <p:nvPr/>
        </p:nvSpPr>
        <p:spPr>
          <a:xfrm>
            <a:off x="566928" y="804672"/>
            <a:ext cx="10058400" cy="53035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2400" b="1" dirty="0">
                <a:solidFill>
                  <a:srgbClr val="0A0A0F"/>
                </a:solidFill>
                <a:latin typeface="Helvetica"/>
              </a:rPr>
              <a:t>Roadmap zeigt Entscheidungslogik statt Feature-Liste</a:t>
            </a:r>
            <a:endParaRPr lang="de-DE" sz="24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6" name="Footer rule 6"/>
          <p:cNvSpPr/>
          <p:nvPr/>
        </p:nvSpPr>
        <p:spPr>
          <a:xfrm>
            <a:off x="566928" y="6419088"/>
            <a:ext cx="11045952" cy="5486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/>
      </p:sp>
      <p:sp>
        <p:nvSpPr>
          <p:cNvPr id="7" name="Text 7"/>
          <p:cNvSpPr txBox="1"/>
          <p:nvPr/>
        </p:nvSpPr>
        <p:spPr>
          <a:xfrm>
            <a:off x="566928" y="6510528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680" dirty="0">
                <a:solidFill>
                  <a:srgbClr val="9B9BA8"/>
                </a:solidFill>
                <a:latin typeface="Courier"/>
              </a:rPr>
              <a:t>CAREVO VC / CONSULTING TEMPLATE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8" name="Text 8"/>
          <p:cNvSpPr txBox="1"/>
          <p:nvPr/>
        </p:nvSpPr>
        <p:spPr>
          <a:xfrm>
            <a:off x="4572000" y="6510528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680" dirty="0">
                <a:solidFill>
                  <a:srgbClr val="9B9BA8"/>
                </a:solidFill>
                <a:latin typeface="Courier"/>
              </a:rPr>
              <a:t>CONFIDENTIAL - TEMPLATE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9" name="Text 9"/>
          <p:cNvSpPr txBox="1"/>
          <p:nvPr/>
        </p:nvSpPr>
        <p:spPr>
          <a:xfrm>
            <a:off x="11018520" y="6510528"/>
            <a:ext cx="59436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r"/>
            <a:r>
              <a:rPr lang="de-DE" sz="680" dirty="0">
                <a:solidFill>
                  <a:srgbClr val="9B9BA8"/>
                </a:solidFill>
                <a:latin typeface="Courier"/>
              </a:rPr>
              <a:t>29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10" name="Shape 10"/>
          <p:cNvSpPr/>
          <p:nvPr/>
        </p:nvSpPr>
        <p:spPr>
          <a:xfrm>
            <a:off x="841248" y="1737360"/>
            <a:ext cx="283464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11" name="Text 11"/>
          <p:cNvSpPr txBox="1"/>
          <p:nvPr/>
        </p:nvSpPr>
        <p:spPr>
          <a:xfrm>
            <a:off x="1024128" y="1975104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800" b="1" dirty="0">
                <a:solidFill>
                  <a:srgbClr val="1E6B72"/>
                </a:solidFill>
                <a:latin typeface="Courier"/>
              </a:rPr>
              <a:t>NOW</a:t>
            </a:r>
            <a:endParaRPr lang="de-DE" sz="800" dirty="0">
              <a:solidFill>
                <a:srgbClr val="1E6B72"/>
              </a:solidFill>
              <a:latin typeface="Courier"/>
            </a:endParaRPr>
          </a:p>
        </p:txBody>
      </p:sp>
      <p:sp>
        <p:nvSpPr>
          <p:cNvPr id="12" name="Text 12"/>
          <p:cNvSpPr txBox="1"/>
          <p:nvPr/>
        </p:nvSpPr>
        <p:spPr>
          <a:xfrm>
            <a:off x="1024128" y="2359152"/>
            <a:ext cx="2331720" cy="9144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1400" b="1" dirty="0">
                <a:solidFill>
                  <a:srgbClr val="0A0A0F"/>
                </a:solidFill>
                <a:latin typeface="Helvetica"/>
              </a:rPr>
              <a:t>Workflow hardening</a:t>
            </a:r>
            <a:endParaRPr lang="de-DE" sz="1400" dirty="0">
              <a:solidFill>
                <a:srgbClr val="0A0A0F"/>
              </a:solidFill>
              <a:latin typeface="Helvetica"/>
            </a:endParaRPr>
          </a:p>
          <a:p>
            <a:pPr algn="l"/>
            <a:r>
              <a:rPr lang="de-DE" sz="1400" b="1" dirty="0">
                <a:solidFill>
                  <a:srgbClr val="0A0A0F"/>
                </a:solidFill>
                <a:latin typeface="Helvetica"/>
              </a:rPr>
              <a:t>Validation UX</a:t>
            </a:r>
            <a:endParaRPr lang="de-DE" sz="1400" dirty="0">
              <a:solidFill>
                <a:srgbClr val="0A0A0F"/>
              </a:solidFill>
              <a:latin typeface="Helvetica"/>
            </a:endParaRPr>
          </a:p>
          <a:p>
            <a:pPr algn="l"/>
            <a:r>
              <a:rPr lang="de-DE" sz="1400" b="1" dirty="0">
                <a:solidFill>
                  <a:srgbClr val="0A0A0F"/>
                </a:solidFill>
                <a:latin typeface="Helvetica"/>
              </a:rPr>
              <a:t>Pilot readiness</a:t>
            </a:r>
            <a:endParaRPr lang="de-DE" sz="14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13" name="Shape 13"/>
          <p:cNvSpPr/>
          <p:nvPr/>
        </p:nvSpPr>
        <p:spPr>
          <a:xfrm>
            <a:off x="4087368" y="1737360"/>
            <a:ext cx="283464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14" name="Text 14"/>
          <p:cNvSpPr txBox="1"/>
          <p:nvPr/>
        </p:nvSpPr>
        <p:spPr>
          <a:xfrm>
            <a:off x="4270248" y="1975104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800" b="1" dirty="0">
                <a:solidFill>
                  <a:srgbClr val="1E6B72"/>
                </a:solidFill>
                <a:latin typeface="Courier"/>
              </a:rPr>
              <a:t>NEXT</a:t>
            </a:r>
            <a:endParaRPr lang="de-DE" sz="800" dirty="0">
              <a:solidFill>
                <a:srgbClr val="1E6B72"/>
              </a:solidFill>
              <a:latin typeface="Courier"/>
            </a:endParaRPr>
          </a:p>
        </p:txBody>
      </p:sp>
      <p:sp>
        <p:nvSpPr>
          <p:cNvPr id="15" name="Text 15"/>
          <p:cNvSpPr txBox="1"/>
          <p:nvPr/>
        </p:nvSpPr>
        <p:spPr>
          <a:xfrm>
            <a:off x="4270248" y="2359152"/>
            <a:ext cx="2331720" cy="9144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1400" b="1" dirty="0">
                <a:solidFill>
                  <a:srgbClr val="0A0A0F"/>
                </a:solidFill>
                <a:latin typeface="Helvetica"/>
              </a:rPr>
              <a:t>Template manager</a:t>
            </a:r>
            <a:endParaRPr lang="de-DE" sz="1400" dirty="0">
              <a:solidFill>
                <a:srgbClr val="0A0A0F"/>
              </a:solidFill>
              <a:latin typeface="Helvetica"/>
            </a:endParaRPr>
          </a:p>
          <a:p>
            <a:pPr algn="l"/>
            <a:r>
              <a:rPr lang="de-DE" sz="1400" b="1" dirty="0">
                <a:solidFill>
                  <a:srgbClr val="0A0A0F"/>
                </a:solidFill>
                <a:latin typeface="Helvetica"/>
              </a:rPr>
              <a:t>Exports</a:t>
            </a:r>
            <a:endParaRPr lang="de-DE" sz="1400" dirty="0">
              <a:solidFill>
                <a:srgbClr val="0A0A0F"/>
              </a:solidFill>
              <a:latin typeface="Helvetica"/>
            </a:endParaRPr>
          </a:p>
          <a:p>
            <a:pPr algn="l"/>
            <a:r>
              <a:rPr lang="de-DE" sz="1400" b="1" dirty="0">
                <a:solidFill>
                  <a:srgbClr val="0A0A0F"/>
                </a:solidFill>
                <a:latin typeface="Helvetica"/>
              </a:rPr>
              <a:t>Team billing</a:t>
            </a:r>
            <a:endParaRPr lang="de-DE" sz="14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16" name="Shape 16"/>
          <p:cNvSpPr/>
          <p:nvPr/>
        </p:nvSpPr>
        <p:spPr>
          <a:xfrm>
            <a:off x="7333488" y="1737360"/>
            <a:ext cx="283464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17" name="Text 17"/>
          <p:cNvSpPr txBox="1"/>
          <p:nvPr/>
        </p:nvSpPr>
        <p:spPr>
          <a:xfrm>
            <a:off x="7516368" y="1975104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800" b="1" dirty="0">
                <a:solidFill>
                  <a:srgbClr val="1E6B72"/>
                </a:solidFill>
                <a:latin typeface="Courier"/>
              </a:rPr>
              <a:t>LATER</a:t>
            </a:r>
            <a:endParaRPr lang="de-DE" sz="800" dirty="0">
              <a:solidFill>
                <a:srgbClr val="1E6B72"/>
              </a:solidFill>
              <a:latin typeface="Courier"/>
            </a:endParaRPr>
          </a:p>
        </p:txBody>
      </p:sp>
      <p:sp>
        <p:nvSpPr>
          <p:cNvPr id="18" name="Text 18"/>
          <p:cNvSpPr txBox="1"/>
          <p:nvPr/>
        </p:nvSpPr>
        <p:spPr>
          <a:xfrm>
            <a:off x="7516368" y="2359152"/>
            <a:ext cx="2331720" cy="9144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1400" b="1" dirty="0">
                <a:solidFill>
                  <a:srgbClr val="0A0A0F"/>
                </a:solidFill>
                <a:latin typeface="Helvetica"/>
              </a:rPr>
              <a:t>Integrations</a:t>
            </a:r>
            <a:endParaRPr lang="de-DE" sz="1400" dirty="0">
              <a:solidFill>
                <a:srgbClr val="0A0A0F"/>
              </a:solidFill>
              <a:latin typeface="Helvetica"/>
            </a:endParaRPr>
          </a:p>
          <a:p>
            <a:pPr algn="l"/>
            <a:r>
              <a:rPr lang="de-DE" sz="1400" b="1" dirty="0">
                <a:solidFill>
                  <a:srgbClr val="0A0A0F"/>
                </a:solidFill>
                <a:latin typeface="Helvetica"/>
              </a:rPr>
              <a:t>Analytics</a:t>
            </a:r>
            <a:endParaRPr lang="de-DE" sz="1400" dirty="0">
              <a:solidFill>
                <a:srgbClr val="0A0A0F"/>
              </a:solidFill>
              <a:latin typeface="Helvetica"/>
            </a:endParaRPr>
          </a:p>
          <a:p>
            <a:pPr algn="l"/>
            <a:r>
              <a:rPr lang="de-DE" sz="1400" b="1" dirty="0">
                <a:solidFill>
                  <a:srgbClr val="0A0A0F"/>
                </a:solidFill>
                <a:latin typeface="Helvetica"/>
              </a:rPr>
              <a:t>Enterprise admin</a:t>
            </a:r>
            <a:endParaRPr lang="de-DE" sz="14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19" name="Shape 19"/>
          <p:cNvSpPr/>
          <p:nvPr/>
        </p:nvSpPr>
        <p:spPr>
          <a:xfrm>
            <a:off x="841248" y="4617720"/>
            <a:ext cx="9326880" cy="457200"/>
          </a:xfrm>
          <a:prstGeom prst="rect">
            <a:avLst/>
          </a:prstGeom>
          <a:solidFill>
            <a:srgbClr val="F4F4F6"/>
          </a:solidFill>
          <a:ln w="6350">
            <a:solidFill>
              <a:srgbClr val="E8E8EC"/>
            </a:solidFill>
          </a:ln>
        </p:spPr>
        <p:style/>
      </p:sp>
      <p:sp>
        <p:nvSpPr>
          <p:cNvPr id="20" name="Text 20"/>
          <p:cNvSpPr txBox="1"/>
          <p:nvPr/>
        </p:nvSpPr>
        <p:spPr>
          <a:xfrm>
            <a:off x="1060704" y="4754880"/>
            <a:ext cx="8778240" cy="12801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800" dirty="0">
                <a:solidFill>
                  <a:srgbClr val="4A4A4F"/>
                </a:solidFill>
                <a:latin typeface="Courier"/>
              </a:rPr>
              <a:t>Jede Phase braucht ein messbares Gate: Adoption, Quality, Revenue oder Compliance.</a:t>
            </a:r>
            <a:endParaRPr lang="de-DE" sz="800" dirty="0">
              <a:solidFill>
                <a:srgbClr val="4A4A4F"/>
              </a:solidFill>
              <a:latin typeface="Courier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100 Day Pla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EVO accent bar 2"/>
          <p:cNvSpPr/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3" name="Text 3"/>
          <p:cNvSpPr txBox="1"/>
          <p:nvPr/>
        </p:nvSpPr>
        <p:spPr>
          <a:xfrm>
            <a:off x="566928" y="292608"/>
            <a:ext cx="429768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50" b="1" dirty="0">
                <a:solidFill>
                  <a:srgbClr val="9B9BA8"/>
                </a:solidFill>
                <a:latin typeface="Courier"/>
              </a:rPr>
              <a:t>PLAN</a:t>
            </a:r>
            <a:endParaRPr lang="de-DE" sz="75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4" name="Header rule 4"/>
          <p:cNvSpPr/>
          <p:nvPr/>
        </p:nvSpPr>
        <p:spPr>
          <a:xfrm>
            <a:off x="566928" y="658368"/>
            <a:ext cx="11045952" cy="5486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/>
      </p:sp>
      <p:sp>
        <p:nvSpPr>
          <p:cNvPr id="5" name="Text 5"/>
          <p:cNvSpPr txBox="1"/>
          <p:nvPr/>
        </p:nvSpPr>
        <p:spPr>
          <a:xfrm>
            <a:off x="566928" y="804672"/>
            <a:ext cx="10058400" cy="53035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2400" b="1" dirty="0">
                <a:solidFill>
                  <a:srgbClr val="0A0A0F"/>
                </a:solidFill>
                <a:latin typeface="Helvetica"/>
              </a:rPr>
              <a:t>Die ersten 100 Tage muessen Risiko abbauen und Wiederholbarkeit erhoehen</a:t>
            </a:r>
            <a:endParaRPr lang="de-DE" sz="24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6" name="Footer rule 6"/>
          <p:cNvSpPr/>
          <p:nvPr/>
        </p:nvSpPr>
        <p:spPr>
          <a:xfrm>
            <a:off x="566928" y="6419088"/>
            <a:ext cx="11045952" cy="5486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/>
      </p:sp>
      <p:sp>
        <p:nvSpPr>
          <p:cNvPr id="7" name="Text 7"/>
          <p:cNvSpPr txBox="1"/>
          <p:nvPr/>
        </p:nvSpPr>
        <p:spPr>
          <a:xfrm>
            <a:off x="566928" y="6510528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680" dirty="0">
                <a:solidFill>
                  <a:srgbClr val="9B9BA8"/>
                </a:solidFill>
                <a:latin typeface="Courier"/>
              </a:rPr>
              <a:t>CAREVO VC / CONSULTING TEMPLATE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8" name="Text 8"/>
          <p:cNvSpPr txBox="1"/>
          <p:nvPr/>
        </p:nvSpPr>
        <p:spPr>
          <a:xfrm>
            <a:off x="4572000" y="6510528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680" dirty="0">
                <a:solidFill>
                  <a:srgbClr val="9B9BA8"/>
                </a:solidFill>
                <a:latin typeface="Courier"/>
              </a:rPr>
              <a:t>CONFIDENTIAL - TEMPLATE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9" name="Text 9"/>
          <p:cNvSpPr txBox="1"/>
          <p:nvPr/>
        </p:nvSpPr>
        <p:spPr>
          <a:xfrm>
            <a:off x="11018520" y="6510528"/>
            <a:ext cx="59436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r"/>
            <a:r>
              <a:rPr lang="de-DE" sz="680" dirty="0">
                <a:solidFill>
                  <a:srgbClr val="9B9BA8"/>
                </a:solidFill>
                <a:latin typeface="Courier"/>
              </a:rPr>
              <a:t>30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10" name="Table header 10"/>
          <p:cNvSpPr/>
          <p:nvPr/>
        </p:nvSpPr>
        <p:spPr>
          <a:xfrm>
            <a:off x="749808" y="1591056"/>
            <a:ext cx="8961120" cy="475488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/>
      </p:sp>
      <p:sp>
        <p:nvSpPr>
          <p:cNvPr id="11" name="Text 11"/>
          <p:cNvSpPr txBox="1"/>
          <p:nvPr/>
        </p:nvSpPr>
        <p:spPr>
          <a:xfrm>
            <a:off x="822960" y="1682496"/>
            <a:ext cx="1225296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40" b="1" dirty="0">
                <a:solidFill>
                  <a:srgbClr val="FFFFFF"/>
                </a:solidFill>
                <a:latin typeface="Courier"/>
              </a:rPr>
              <a:t>Phase</a:t>
            </a:r>
            <a:endParaRPr lang="de-DE" sz="740" dirty="0">
              <a:solidFill>
                <a:srgbClr val="FFFFFF"/>
              </a:solidFill>
              <a:latin typeface="Courier"/>
            </a:endParaRPr>
          </a:p>
        </p:txBody>
      </p:sp>
      <p:sp>
        <p:nvSpPr>
          <p:cNvPr id="12" name="Text 12"/>
          <p:cNvSpPr txBox="1"/>
          <p:nvPr/>
        </p:nvSpPr>
        <p:spPr>
          <a:xfrm>
            <a:off x="2194560" y="1682496"/>
            <a:ext cx="2596896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40" b="1" dirty="0">
                <a:solidFill>
                  <a:srgbClr val="FFFFFF"/>
                </a:solidFill>
                <a:latin typeface="Courier"/>
              </a:rPr>
              <a:t>Fokus</a:t>
            </a:r>
            <a:endParaRPr lang="de-DE" sz="740" dirty="0">
              <a:solidFill>
                <a:srgbClr val="FFFFFF"/>
              </a:solidFill>
              <a:latin typeface="Courier"/>
            </a:endParaRPr>
          </a:p>
        </p:txBody>
      </p:sp>
      <p:sp>
        <p:nvSpPr>
          <p:cNvPr id="13" name="Text 13"/>
          <p:cNvSpPr txBox="1"/>
          <p:nvPr/>
        </p:nvSpPr>
        <p:spPr>
          <a:xfrm>
            <a:off x="4937760" y="1682496"/>
            <a:ext cx="2596896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40" b="1" dirty="0">
                <a:solidFill>
                  <a:srgbClr val="FFFFFF"/>
                </a:solidFill>
                <a:latin typeface="Courier"/>
              </a:rPr>
              <a:t>Deliverable</a:t>
            </a:r>
            <a:endParaRPr lang="de-DE" sz="740" dirty="0">
              <a:solidFill>
                <a:srgbClr val="FFFFFF"/>
              </a:solidFill>
              <a:latin typeface="Courier"/>
            </a:endParaRPr>
          </a:p>
        </p:txBody>
      </p:sp>
      <p:sp>
        <p:nvSpPr>
          <p:cNvPr id="14" name="Text 14"/>
          <p:cNvSpPr txBox="1"/>
          <p:nvPr/>
        </p:nvSpPr>
        <p:spPr>
          <a:xfrm>
            <a:off x="7680960" y="1682496"/>
            <a:ext cx="1956816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40" b="1" dirty="0">
                <a:solidFill>
                  <a:srgbClr val="FFFFFF"/>
                </a:solidFill>
                <a:latin typeface="Courier"/>
              </a:rPr>
              <a:t>Metric</a:t>
            </a:r>
            <a:endParaRPr lang="de-DE" sz="740" dirty="0">
              <a:solidFill>
                <a:srgbClr val="FFFFFF"/>
              </a:solidFill>
              <a:latin typeface="Courier"/>
            </a:endParaRPr>
          </a:p>
        </p:txBody>
      </p:sp>
      <p:sp>
        <p:nvSpPr>
          <p:cNvPr id="15" name="Table cell 15"/>
          <p:cNvSpPr/>
          <p:nvPr/>
        </p:nvSpPr>
        <p:spPr>
          <a:xfrm>
            <a:off x="749808" y="2066544"/>
            <a:ext cx="1371600" cy="475488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16" name="Text 16"/>
          <p:cNvSpPr txBox="1"/>
          <p:nvPr/>
        </p:nvSpPr>
        <p:spPr>
          <a:xfrm>
            <a:off x="822960" y="2167128"/>
            <a:ext cx="1225296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0A0A0F"/>
                </a:solidFill>
                <a:latin typeface="Helvetica"/>
              </a:rPr>
              <a:t>0-30</a:t>
            </a:r>
            <a:endParaRPr lang="de-DE" sz="76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17" name="Table cell 17"/>
          <p:cNvSpPr/>
          <p:nvPr/>
        </p:nvSpPr>
        <p:spPr>
          <a:xfrm>
            <a:off x="2121408" y="2066544"/>
            <a:ext cx="2743200" cy="475488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18" name="Text 18"/>
          <p:cNvSpPr txBox="1"/>
          <p:nvPr/>
        </p:nvSpPr>
        <p:spPr>
          <a:xfrm>
            <a:off x="2194560" y="2167128"/>
            <a:ext cx="2596896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Pilot hardening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19" name="Table cell 19"/>
          <p:cNvSpPr/>
          <p:nvPr/>
        </p:nvSpPr>
        <p:spPr>
          <a:xfrm>
            <a:off x="4864608" y="2066544"/>
            <a:ext cx="2743200" cy="475488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20" name="Text 20"/>
          <p:cNvSpPr txBox="1"/>
          <p:nvPr/>
        </p:nvSpPr>
        <p:spPr>
          <a:xfrm>
            <a:off x="4937760" y="2167128"/>
            <a:ext cx="2596896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Review workflow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21" name="Table cell 21"/>
          <p:cNvSpPr/>
          <p:nvPr/>
        </p:nvSpPr>
        <p:spPr>
          <a:xfrm>
            <a:off x="7607808" y="2066544"/>
            <a:ext cx="2103120" cy="475488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22" name="Text 22"/>
          <p:cNvSpPr txBox="1"/>
          <p:nvPr/>
        </p:nvSpPr>
        <p:spPr>
          <a:xfrm>
            <a:off x="7680960" y="2167128"/>
            <a:ext cx="1956816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Activation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23" name="Table cell 23"/>
          <p:cNvSpPr/>
          <p:nvPr/>
        </p:nvSpPr>
        <p:spPr>
          <a:xfrm>
            <a:off x="749808" y="2542032"/>
            <a:ext cx="1371600" cy="475488"/>
          </a:xfrm>
          <a:prstGeom prst="rect">
            <a:avLst/>
          </a:prstGeom>
          <a:solidFill>
            <a:srgbClr val="FFFFFF"/>
          </a:solidFill>
          <a:ln w="4445">
            <a:solidFill>
              <a:srgbClr val="E8E8EC"/>
            </a:solidFill>
          </a:ln>
        </p:spPr>
        <p:style/>
      </p:sp>
      <p:sp>
        <p:nvSpPr>
          <p:cNvPr id="24" name="Text 24"/>
          <p:cNvSpPr txBox="1"/>
          <p:nvPr/>
        </p:nvSpPr>
        <p:spPr>
          <a:xfrm>
            <a:off x="822960" y="2642616"/>
            <a:ext cx="1225296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0A0A0F"/>
                </a:solidFill>
                <a:latin typeface="Helvetica"/>
              </a:rPr>
              <a:t>31-60</a:t>
            </a:r>
            <a:endParaRPr lang="de-DE" sz="76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25" name="Table cell 25"/>
          <p:cNvSpPr/>
          <p:nvPr/>
        </p:nvSpPr>
        <p:spPr>
          <a:xfrm>
            <a:off x="2121408" y="2542032"/>
            <a:ext cx="2743200" cy="475488"/>
          </a:xfrm>
          <a:prstGeom prst="rect">
            <a:avLst/>
          </a:prstGeom>
          <a:solidFill>
            <a:srgbClr val="FFFFFF"/>
          </a:solidFill>
          <a:ln w="4445">
            <a:solidFill>
              <a:srgbClr val="E8E8EC"/>
            </a:solidFill>
          </a:ln>
        </p:spPr>
        <p:style/>
      </p:sp>
      <p:sp>
        <p:nvSpPr>
          <p:cNvPr id="26" name="Text 26"/>
          <p:cNvSpPr txBox="1"/>
          <p:nvPr/>
        </p:nvSpPr>
        <p:spPr>
          <a:xfrm>
            <a:off x="2194560" y="2642616"/>
            <a:ext cx="2596896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Quality system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27" name="Table cell 27"/>
          <p:cNvSpPr/>
          <p:nvPr/>
        </p:nvSpPr>
        <p:spPr>
          <a:xfrm>
            <a:off x="4864608" y="2542032"/>
            <a:ext cx="2743200" cy="475488"/>
          </a:xfrm>
          <a:prstGeom prst="rect">
            <a:avLst/>
          </a:prstGeom>
          <a:solidFill>
            <a:srgbClr val="FFFFFF"/>
          </a:solidFill>
          <a:ln w="4445">
            <a:solidFill>
              <a:srgbClr val="E8E8EC"/>
            </a:solidFill>
          </a:ln>
        </p:spPr>
        <p:style/>
      </p:sp>
      <p:sp>
        <p:nvSpPr>
          <p:cNvPr id="28" name="Text 28"/>
          <p:cNvSpPr txBox="1"/>
          <p:nvPr/>
        </p:nvSpPr>
        <p:spPr>
          <a:xfrm>
            <a:off x="4937760" y="2642616"/>
            <a:ext cx="2596896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Validation library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29" name="Table cell 29"/>
          <p:cNvSpPr/>
          <p:nvPr/>
        </p:nvSpPr>
        <p:spPr>
          <a:xfrm>
            <a:off x="7607808" y="2542032"/>
            <a:ext cx="2103120" cy="475488"/>
          </a:xfrm>
          <a:prstGeom prst="rect">
            <a:avLst/>
          </a:prstGeom>
          <a:solidFill>
            <a:srgbClr val="FFFFFF"/>
          </a:solidFill>
          <a:ln w="4445">
            <a:solidFill>
              <a:srgbClr val="E8E8EC"/>
            </a:solidFill>
          </a:ln>
        </p:spPr>
        <p:style/>
      </p:sp>
      <p:sp>
        <p:nvSpPr>
          <p:cNvPr id="30" name="Text 30"/>
          <p:cNvSpPr txBox="1"/>
          <p:nvPr/>
        </p:nvSpPr>
        <p:spPr>
          <a:xfrm>
            <a:off x="7680960" y="2642616"/>
            <a:ext cx="1956816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Warning rate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31" name="Table cell 31"/>
          <p:cNvSpPr/>
          <p:nvPr/>
        </p:nvSpPr>
        <p:spPr>
          <a:xfrm>
            <a:off x="749808" y="3017520"/>
            <a:ext cx="1371600" cy="475488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32" name="Text 32"/>
          <p:cNvSpPr txBox="1"/>
          <p:nvPr/>
        </p:nvSpPr>
        <p:spPr>
          <a:xfrm>
            <a:off x="822960" y="3118104"/>
            <a:ext cx="1225296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0A0A0F"/>
                </a:solidFill>
                <a:latin typeface="Helvetica"/>
              </a:rPr>
              <a:t>61-90</a:t>
            </a:r>
            <a:endParaRPr lang="de-DE" sz="76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33" name="Table cell 33"/>
          <p:cNvSpPr/>
          <p:nvPr/>
        </p:nvSpPr>
        <p:spPr>
          <a:xfrm>
            <a:off x="2121408" y="3017520"/>
            <a:ext cx="2743200" cy="475488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34" name="Text 34"/>
          <p:cNvSpPr txBox="1"/>
          <p:nvPr/>
        </p:nvSpPr>
        <p:spPr>
          <a:xfrm>
            <a:off x="2194560" y="3118104"/>
            <a:ext cx="2596896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GTM repeatability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35" name="Table cell 35"/>
          <p:cNvSpPr/>
          <p:nvPr/>
        </p:nvSpPr>
        <p:spPr>
          <a:xfrm>
            <a:off x="4864608" y="3017520"/>
            <a:ext cx="2743200" cy="475488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36" name="Text 36"/>
          <p:cNvSpPr txBox="1"/>
          <p:nvPr/>
        </p:nvSpPr>
        <p:spPr>
          <a:xfrm>
            <a:off x="4937760" y="3118104"/>
            <a:ext cx="2596896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Pilot playbook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37" name="Table cell 37"/>
          <p:cNvSpPr/>
          <p:nvPr/>
        </p:nvSpPr>
        <p:spPr>
          <a:xfrm>
            <a:off x="7607808" y="3017520"/>
            <a:ext cx="2103120" cy="475488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38" name="Text 38"/>
          <p:cNvSpPr txBox="1"/>
          <p:nvPr/>
        </p:nvSpPr>
        <p:spPr>
          <a:xfrm>
            <a:off x="7680960" y="3118104"/>
            <a:ext cx="1956816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Conversion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39" name="Table cell 39"/>
          <p:cNvSpPr/>
          <p:nvPr/>
        </p:nvSpPr>
        <p:spPr>
          <a:xfrm>
            <a:off x="749808" y="3493008"/>
            <a:ext cx="1371600" cy="475488"/>
          </a:xfrm>
          <a:prstGeom prst="rect">
            <a:avLst/>
          </a:prstGeom>
          <a:solidFill>
            <a:srgbClr val="FFFFFF"/>
          </a:solidFill>
          <a:ln w="4445">
            <a:solidFill>
              <a:srgbClr val="E8E8EC"/>
            </a:solidFill>
          </a:ln>
        </p:spPr>
        <p:style/>
      </p:sp>
      <p:sp>
        <p:nvSpPr>
          <p:cNvPr id="40" name="Text 40"/>
          <p:cNvSpPr txBox="1"/>
          <p:nvPr/>
        </p:nvSpPr>
        <p:spPr>
          <a:xfrm>
            <a:off x="822960" y="3593592"/>
            <a:ext cx="1225296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0A0A0F"/>
                </a:solidFill>
                <a:latin typeface="Helvetica"/>
              </a:rPr>
              <a:t>91-100</a:t>
            </a:r>
            <a:endParaRPr lang="de-DE" sz="76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41" name="Table cell 41"/>
          <p:cNvSpPr/>
          <p:nvPr/>
        </p:nvSpPr>
        <p:spPr>
          <a:xfrm>
            <a:off x="2121408" y="3493008"/>
            <a:ext cx="2743200" cy="475488"/>
          </a:xfrm>
          <a:prstGeom prst="rect">
            <a:avLst/>
          </a:prstGeom>
          <a:solidFill>
            <a:srgbClr val="FFFFFF"/>
          </a:solidFill>
          <a:ln w="4445">
            <a:solidFill>
              <a:srgbClr val="E8E8EC"/>
            </a:solidFill>
          </a:ln>
        </p:spPr>
        <p:style/>
      </p:sp>
      <p:sp>
        <p:nvSpPr>
          <p:cNvPr id="42" name="Text 42"/>
          <p:cNvSpPr txBox="1"/>
          <p:nvPr/>
        </p:nvSpPr>
        <p:spPr>
          <a:xfrm>
            <a:off x="2194560" y="3593592"/>
            <a:ext cx="2596896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Board pack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43" name="Table cell 43"/>
          <p:cNvSpPr/>
          <p:nvPr/>
        </p:nvSpPr>
        <p:spPr>
          <a:xfrm>
            <a:off x="4864608" y="3493008"/>
            <a:ext cx="2743200" cy="475488"/>
          </a:xfrm>
          <a:prstGeom prst="rect">
            <a:avLst/>
          </a:prstGeom>
          <a:solidFill>
            <a:srgbClr val="FFFFFF"/>
          </a:solidFill>
          <a:ln w="4445">
            <a:solidFill>
              <a:srgbClr val="E8E8EC"/>
            </a:solidFill>
          </a:ln>
        </p:spPr>
        <p:style/>
      </p:sp>
      <p:sp>
        <p:nvSpPr>
          <p:cNvPr id="44" name="Text 44"/>
          <p:cNvSpPr txBox="1"/>
          <p:nvPr/>
        </p:nvSpPr>
        <p:spPr>
          <a:xfrm>
            <a:off x="4937760" y="3593592"/>
            <a:ext cx="2596896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Metrics baseline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45" name="Table cell 45"/>
          <p:cNvSpPr/>
          <p:nvPr/>
        </p:nvSpPr>
        <p:spPr>
          <a:xfrm>
            <a:off x="7607808" y="3493008"/>
            <a:ext cx="2103120" cy="475488"/>
          </a:xfrm>
          <a:prstGeom prst="rect">
            <a:avLst/>
          </a:prstGeom>
          <a:solidFill>
            <a:srgbClr val="FFFFFF"/>
          </a:solidFill>
          <a:ln w="4445">
            <a:solidFill>
              <a:srgbClr val="E8E8EC"/>
            </a:solidFill>
          </a:ln>
        </p:spPr>
        <p:style/>
      </p:sp>
      <p:sp>
        <p:nvSpPr>
          <p:cNvPr id="46" name="Text 46"/>
          <p:cNvSpPr txBox="1"/>
          <p:nvPr/>
        </p:nvSpPr>
        <p:spPr>
          <a:xfrm>
            <a:off x="7680960" y="3593592"/>
            <a:ext cx="1956816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Decision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undraising As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EVO accent bar 2"/>
          <p:cNvSpPr/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3" name="Text 3"/>
          <p:cNvSpPr txBox="1"/>
          <p:nvPr/>
        </p:nvSpPr>
        <p:spPr>
          <a:xfrm>
            <a:off x="566928" y="292608"/>
            <a:ext cx="429768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50" b="1" dirty="0">
                <a:solidFill>
                  <a:srgbClr val="9B9BA8"/>
                </a:solidFill>
                <a:latin typeface="Courier"/>
              </a:rPr>
              <a:t>FUNDRAISING</a:t>
            </a:r>
            <a:endParaRPr lang="de-DE" sz="75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4" name="Header rule 4"/>
          <p:cNvSpPr/>
          <p:nvPr/>
        </p:nvSpPr>
        <p:spPr>
          <a:xfrm>
            <a:off x="566928" y="658368"/>
            <a:ext cx="11045952" cy="5486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/>
      </p:sp>
      <p:sp>
        <p:nvSpPr>
          <p:cNvPr id="5" name="Text 5"/>
          <p:cNvSpPr txBox="1"/>
          <p:nvPr/>
        </p:nvSpPr>
        <p:spPr>
          <a:xfrm>
            <a:off x="566928" y="804672"/>
            <a:ext cx="10058400" cy="53035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2400" b="1" dirty="0">
                <a:solidFill>
                  <a:srgbClr val="0A0A0F"/>
                </a:solidFill>
                <a:latin typeface="Helvetica"/>
              </a:rPr>
              <a:t>Use of Proceeds wird in konkrete Werttreiber uebersetzt</a:t>
            </a:r>
            <a:endParaRPr lang="de-DE" sz="24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6" name="Footer rule 6"/>
          <p:cNvSpPr/>
          <p:nvPr/>
        </p:nvSpPr>
        <p:spPr>
          <a:xfrm>
            <a:off x="566928" y="6419088"/>
            <a:ext cx="11045952" cy="5486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/>
      </p:sp>
      <p:sp>
        <p:nvSpPr>
          <p:cNvPr id="7" name="Text 7"/>
          <p:cNvSpPr txBox="1"/>
          <p:nvPr/>
        </p:nvSpPr>
        <p:spPr>
          <a:xfrm>
            <a:off x="566928" y="6510528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680" dirty="0">
                <a:solidFill>
                  <a:srgbClr val="9B9BA8"/>
                </a:solidFill>
                <a:latin typeface="Courier"/>
              </a:rPr>
              <a:t>CAREVO VC / CONSULTING TEMPLATE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8" name="Text 8"/>
          <p:cNvSpPr txBox="1"/>
          <p:nvPr/>
        </p:nvSpPr>
        <p:spPr>
          <a:xfrm>
            <a:off x="4572000" y="6510528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680" dirty="0">
                <a:solidFill>
                  <a:srgbClr val="9B9BA8"/>
                </a:solidFill>
                <a:latin typeface="Courier"/>
              </a:rPr>
              <a:t>CONFIDENTIAL - TEMPLATE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9" name="Text 9"/>
          <p:cNvSpPr txBox="1"/>
          <p:nvPr/>
        </p:nvSpPr>
        <p:spPr>
          <a:xfrm>
            <a:off x="11018520" y="6510528"/>
            <a:ext cx="59436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r"/>
            <a:r>
              <a:rPr lang="de-DE" sz="680" dirty="0">
                <a:solidFill>
                  <a:srgbClr val="9B9BA8"/>
                </a:solidFill>
                <a:latin typeface="Courier"/>
              </a:rPr>
              <a:t>31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10" name="Shape 10"/>
          <p:cNvSpPr/>
          <p:nvPr/>
        </p:nvSpPr>
        <p:spPr>
          <a:xfrm>
            <a:off x="914400" y="2103120"/>
            <a:ext cx="2501798" cy="475488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11" name="Text 11"/>
          <p:cNvSpPr txBox="1"/>
          <p:nvPr/>
        </p:nvSpPr>
        <p:spPr>
          <a:xfrm>
            <a:off x="914400" y="2743200"/>
            <a:ext cx="2501798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730" dirty="0">
                <a:solidFill>
                  <a:srgbClr val="4A4A4F"/>
                </a:solidFill>
                <a:latin typeface="Courier"/>
              </a:rPr>
              <a:t>Product</a:t>
            </a:r>
            <a:endParaRPr lang="de-DE" sz="730" dirty="0">
              <a:solidFill>
                <a:srgbClr val="4A4A4F"/>
              </a:solidFill>
              <a:latin typeface="Courier"/>
            </a:endParaRPr>
          </a:p>
          <a:p>
            <a:pPr algn="ctr"/>
            <a:r>
              <a:rPr lang="de-DE" sz="730" dirty="0">
                <a:solidFill>
                  <a:srgbClr val="4A4A4F"/>
                </a:solidFill>
                <a:latin typeface="Courier"/>
              </a:rPr>
              <a:t>38%</a:t>
            </a:r>
            <a:endParaRPr lang="de-DE" sz="730" dirty="0">
              <a:solidFill>
                <a:srgbClr val="4A4A4F"/>
              </a:solidFill>
              <a:latin typeface="Courier"/>
            </a:endParaRPr>
          </a:p>
        </p:txBody>
      </p:sp>
      <p:sp>
        <p:nvSpPr>
          <p:cNvPr id="12" name="Shape 12"/>
          <p:cNvSpPr/>
          <p:nvPr/>
        </p:nvSpPr>
        <p:spPr>
          <a:xfrm>
            <a:off x="3416198" y="2103120"/>
            <a:ext cx="1580083" cy="475488"/>
          </a:xfrm>
          <a:prstGeom prst="rect">
            <a:avLst/>
          </a:prstGeom>
          <a:solidFill>
            <a:srgbClr val="4A4A4F"/>
          </a:solidFill>
          <a:ln>
            <a:noFill/>
          </a:ln>
        </p:spPr>
        <p:style/>
      </p:sp>
      <p:sp>
        <p:nvSpPr>
          <p:cNvPr id="13" name="Text 13"/>
          <p:cNvSpPr txBox="1"/>
          <p:nvPr/>
        </p:nvSpPr>
        <p:spPr>
          <a:xfrm>
            <a:off x="3416198" y="2743200"/>
            <a:ext cx="1580083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730" dirty="0">
                <a:solidFill>
                  <a:srgbClr val="4A4A4F"/>
                </a:solidFill>
                <a:latin typeface="Courier"/>
              </a:rPr>
              <a:t>Clinical Quality</a:t>
            </a:r>
            <a:endParaRPr lang="de-DE" sz="730" dirty="0">
              <a:solidFill>
                <a:srgbClr val="4A4A4F"/>
              </a:solidFill>
              <a:latin typeface="Courier"/>
            </a:endParaRPr>
          </a:p>
          <a:p>
            <a:pPr algn="ctr"/>
            <a:r>
              <a:rPr lang="de-DE" sz="730" dirty="0">
                <a:solidFill>
                  <a:srgbClr val="4A4A4F"/>
                </a:solidFill>
                <a:latin typeface="Courier"/>
              </a:rPr>
              <a:t>24%</a:t>
            </a:r>
            <a:endParaRPr lang="de-DE" sz="730" dirty="0">
              <a:solidFill>
                <a:srgbClr val="4A4A4F"/>
              </a:solidFill>
              <a:latin typeface="Courier"/>
            </a:endParaRPr>
          </a:p>
        </p:txBody>
      </p:sp>
      <p:sp>
        <p:nvSpPr>
          <p:cNvPr id="14" name="Shape 14"/>
          <p:cNvSpPr/>
          <p:nvPr/>
        </p:nvSpPr>
        <p:spPr>
          <a:xfrm>
            <a:off x="4996282" y="2103120"/>
            <a:ext cx="1185062" cy="475488"/>
          </a:xfrm>
          <a:prstGeom prst="rect">
            <a:avLst/>
          </a:prstGeom>
          <a:solidFill>
            <a:srgbClr val="9B9BA8"/>
          </a:solidFill>
          <a:ln>
            <a:noFill/>
          </a:ln>
        </p:spPr>
        <p:style/>
      </p:sp>
      <p:sp>
        <p:nvSpPr>
          <p:cNvPr id="15" name="Text 15"/>
          <p:cNvSpPr txBox="1"/>
          <p:nvPr/>
        </p:nvSpPr>
        <p:spPr>
          <a:xfrm>
            <a:off x="4996282" y="2743200"/>
            <a:ext cx="1185062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730" dirty="0">
                <a:solidFill>
                  <a:srgbClr val="4A4A4F"/>
                </a:solidFill>
                <a:latin typeface="Courier"/>
              </a:rPr>
              <a:t>Security</a:t>
            </a:r>
            <a:endParaRPr lang="de-DE" sz="730" dirty="0">
              <a:solidFill>
                <a:srgbClr val="4A4A4F"/>
              </a:solidFill>
              <a:latin typeface="Courier"/>
            </a:endParaRPr>
          </a:p>
          <a:p>
            <a:pPr algn="ctr"/>
            <a:r>
              <a:rPr lang="de-DE" sz="730" dirty="0">
                <a:solidFill>
                  <a:srgbClr val="4A4A4F"/>
                </a:solidFill>
                <a:latin typeface="Courier"/>
              </a:rPr>
              <a:t>18%</a:t>
            </a:r>
            <a:endParaRPr lang="de-DE" sz="730" dirty="0">
              <a:solidFill>
                <a:srgbClr val="4A4A4F"/>
              </a:solidFill>
              <a:latin typeface="Courier"/>
            </a:endParaRPr>
          </a:p>
        </p:txBody>
      </p:sp>
      <p:sp>
        <p:nvSpPr>
          <p:cNvPr id="16" name="Shape 16"/>
          <p:cNvSpPr/>
          <p:nvPr/>
        </p:nvSpPr>
        <p:spPr>
          <a:xfrm>
            <a:off x="6181344" y="2103120"/>
            <a:ext cx="1316736" cy="475488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/>
      </p:sp>
      <p:sp>
        <p:nvSpPr>
          <p:cNvPr id="17" name="Text 17"/>
          <p:cNvSpPr txBox="1"/>
          <p:nvPr/>
        </p:nvSpPr>
        <p:spPr>
          <a:xfrm>
            <a:off x="6181344" y="2743200"/>
            <a:ext cx="1316736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730" dirty="0">
                <a:solidFill>
                  <a:srgbClr val="4A4A4F"/>
                </a:solidFill>
                <a:latin typeface="Courier"/>
              </a:rPr>
              <a:t>GTM</a:t>
            </a:r>
            <a:endParaRPr lang="de-DE" sz="730" dirty="0">
              <a:solidFill>
                <a:srgbClr val="4A4A4F"/>
              </a:solidFill>
              <a:latin typeface="Courier"/>
            </a:endParaRPr>
          </a:p>
          <a:p>
            <a:pPr algn="ctr"/>
            <a:r>
              <a:rPr lang="de-DE" sz="730" dirty="0">
                <a:solidFill>
                  <a:srgbClr val="4A4A4F"/>
                </a:solidFill>
                <a:latin typeface="Courier"/>
              </a:rPr>
              <a:t>20%</a:t>
            </a:r>
            <a:endParaRPr lang="de-DE" sz="730" dirty="0">
              <a:solidFill>
                <a:srgbClr val="4A4A4F"/>
              </a:solidFill>
              <a:latin typeface="Courier"/>
            </a:endParaRPr>
          </a:p>
        </p:txBody>
      </p:sp>
      <p:sp>
        <p:nvSpPr>
          <p:cNvPr id="18" name="Shape 18"/>
          <p:cNvSpPr/>
          <p:nvPr/>
        </p:nvSpPr>
        <p:spPr>
          <a:xfrm>
            <a:off x="8092440" y="1645920"/>
            <a:ext cx="25146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19" name="Text 19"/>
          <p:cNvSpPr txBox="1"/>
          <p:nvPr/>
        </p:nvSpPr>
        <p:spPr>
          <a:xfrm>
            <a:off x="8321040" y="1874520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1300" b="1" dirty="0">
                <a:solidFill>
                  <a:srgbClr val="0A0A0F"/>
                </a:solidFill>
                <a:latin typeface="Helvetica"/>
              </a:rPr>
              <a:t>Milestones</a:t>
            </a:r>
            <a:endParaRPr lang="de-DE" sz="13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20" name="Bullets 20"/>
          <p:cNvSpPr txBox="1"/>
          <p:nvPr/>
        </p:nvSpPr>
        <p:spPr>
          <a:xfrm>
            <a:off x="8321040" y="2286000"/>
            <a:ext cx="1920240" cy="8229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" rIns="9144" tIns="9144" bIns="9144"/>
          <a:lstStyle/>
          <a:p>
            <a:pPr algn="l" marL="171450" indent="-114300">
              <a:buChar char="•"/>
            </a:pPr>
            <a:r>
              <a:rPr lang="de-DE" sz="880" dirty="0">
                <a:solidFill>
                  <a:srgbClr val="4A4A4F"/>
                </a:solidFill>
                <a:latin typeface="Helvetica"/>
              </a:rPr>
              <a:t>10 design partners</a:t>
            </a:r>
            <a:endParaRPr lang="de-DE" sz="880" dirty="0">
              <a:solidFill>
                <a:srgbClr val="4A4A4F"/>
              </a:solidFill>
              <a:latin typeface="Helvetica"/>
            </a:endParaRPr>
          </a:p>
          <a:p>
            <a:pPr algn="l" marL="171450" indent="-114300">
              <a:buChar char="•"/>
            </a:pPr>
            <a:r>
              <a:rPr lang="de-DE" sz="880" dirty="0">
                <a:solidFill>
                  <a:srgbClr val="4A4A4F"/>
                </a:solidFill>
                <a:latin typeface="Helvetica"/>
              </a:rPr>
              <a:t>Quality baseline</a:t>
            </a:r>
            <a:endParaRPr lang="de-DE" sz="880" dirty="0">
              <a:solidFill>
                <a:srgbClr val="4A4A4F"/>
              </a:solidFill>
              <a:latin typeface="Helvetica"/>
            </a:endParaRPr>
          </a:p>
          <a:p>
            <a:pPr algn="l" marL="171450" indent="-114300">
              <a:buChar char="•"/>
            </a:pPr>
            <a:r>
              <a:rPr lang="de-DE" sz="880" dirty="0">
                <a:solidFill>
                  <a:srgbClr val="4A4A4F"/>
                </a:solidFill>
                <a:latin typeface="Helvetica"/>
              </a:rPr>
              <a:t>Repeatable pilot</a:t>
            </a:r>
            <a:endParaRPr lang="de-DE" sz="880" dirty="0">
              <a:solidFill>
                <a:srgbClr val="4A4A4F"/>
              </a:solidFill>
              <a:latin typeface="Helvetica"/>
            </a:endParaRPr>
          </a:p>
          <a:p>
            <a:pPr algn="l" marL="171450" indent="-114300">
              <a:buChar char="•"/>
            </a:pPr>
            <a:r>
              <a:rPr lang="de-DE" sz="880" dirty="0">
                <a:solidFill>
                  <a:srgbClr val="4A4A4F"/>
                </a:solidFill>
                <a:latin typeface="Helvetica"/>
              </a:rPr>
              <a:t>Enterprise path</a:t>
            </a:r>
            <a:endParaRPr lang="de-DE" sz="88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21" name="Text 21"/>
          <p:cNvSpPr txBox="1"/>
          <p:nvPr/>
        </p:nvSpPr>
        <p:spPr>
          <a:xfrm>
            <a:off x="914400" y="4937760"/>
            <a:ext cx="795528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50" dirty="0">
                <a:solidFill>
                  <a:srgbClr val="9B9BA8"/>
                </a:solidFill>
                <a:latin typeface="Courier"/>
              </a:rPr>
              <a:t>Betrag und Runway als Platzhalter einsetzen.</a:t>
            </a:r>
            <a:endParaRPr lang="de-DE" sz="750" dirty="0">
              <a:solidFill>
                <a:srgbClr val="9B9BA8"/>
              </a:solidFill>
              <a:latin typeface="Courier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isk Regi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EVO accent bar 2"/>
          <p:cNvSpPr/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3" name="Text 3"/>
          <p:cNvSpPr txBox="1"/>
          <p:nvPr/>
        </p:nvSpPr>
        <p:spPr>
          <a:xfrm>
            <a:off x="566928" y="292608"/>
            <a:ext cx="429768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50" b="1" dirty="0">
                <a:solidFill>
                  <a:srgbClr val="9B9BA8"/>
                </a:solidFill>
                <a:latin typeface="Courier"/>
              </a:rPr>
              <a:t>RISIKEN</a:t>
            </a:r>
            <a:endParaRPr lang="de-DE" sz="75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4" name="Header rule 4"/>
          <p:cNvSpPr/>
          <p:nvPr/>
        </p:nvSpPr>
        <p:spPr>
          <a:xfrm>
            <a:off x="566928" y="658368"/>
            <a:ext cx="11045952" cy="5486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/>
      </p:sp>
      <p:sp>
        <p:nvSpPr>
          <p:cNvPr id="5" name="Text 5"/>
          <p:cNvSpPr txBox="1"/>
          <p:nvPr/>
        </p:nvSpPr>
        <p:spPr>
          <a:xfrm>
            <a:off x="566928" y="804672"/>
            <a:ext cx="10058400" cy="53035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2400" b="1" dirty="0">
                <a:solidFill>
                  <a:srgbClr val="0A0A0F"/>
                </a:solidFill>
                <a:latin typeface="Helvetica"/>
              </a:rPr>
              <a:t>Gute VC-Folien zeigen Risiken frueh und operativ beherrschbar</a:t>
            </a:r>
            <a:endParaRPr lang="de-DE" sz="24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6" name="Footer rule 6"/>
          <p:cNvSpPr/>
          <p:nvPr/>
        </p:nvSpPr>
        <p:spPr>
          <a:xfrm>
            <a:off x="566928" y="6419088"/>
            <a:ext cx="11045952" cy="5486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/>
      </p:sp>
      <p:sp>
        <p:nvSpPr>
          <p:cNvPr id="7" name="Text 7"/>
          <p:cNvSpPr txBox="1"/>
          <p:nvPr/>
        </p:nvSpPr>
        <p:spPr>
          <a:xfrm>
            <a:off x="566928" y="6510528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680" dirty="0">
                <a:solidFill>
                  <a:srgbClr val="9B9BA8"/>
                </a:solidFill>
                <a:latin typeface="Courier"/>
              </a:rPr>
              <a:t>CAREVO VC / CONSULTING TEMPLATE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8" name="Text 8"/>
          <p:cNvSpPr txBox="1"/>
          <p:nvPr/>
        </p:nvSpPr>
        <p:spPr>
          <a:xfrm>
            <a:off x="4572000" y="6510528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680" dirty="0">
                <a:solidFill>
                  <a:srgbClr val="9B9BA8"/>
                </a:solidFill>
                <a:latin typeface="Courier"/>
              </a:rPr>
              <a:t>CONFIDENTIAL - TEMPLATE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9" name="Text 9"/>
          <p:cNvSpPr txBox="1"/>
          <p:nvPr/>
        </p:nvSpPr>
        <p:spPr>
          <a:xfrm>
            <a:off x="11018520" y="6510528"/>
            <a:ext cx="59436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r"/>
            <a:r>
              <a:rPr lang="de-DE" sz="680" dirty="0">
                <a:solidFill>
                  <a:srgbClr val="9B9BA8"/>
                </a:solidFill>
                <a:latin typeface="Courier"/>
              </a:rPr>
              <a:t>32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10" name="Table header 10"/>
          <p:cNvSpPr/>
          <p:nvPr/>
        </p:nvSpPr>
        <p:spPr>
          <a:xfrm>
            <a:off x="749808" y="1572768"/>
            <a:ext cx="9326880" cy="438912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/>
      </p:sp>
      <p:sp>
        <p:nvSpPr>
          <p:cNvPr id="11" name="Text 11"/>
          <p:cNvSpPr txBox="1"/>
          <p:nvPr/>
        </p:nvSpPr>
        <p:spPr>
          <a:xfrm>
            <a:off x="822960" y="1664208"/>
            <a:ext cx="1682496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40" b="1" dirty="0">
                <a:solidFill>
                  <a:srgbClr val="FFFFFF"/>
                </a:solidFill>
                <a:latin typeface="Courier"/>
              </a:rPr>
              <a:t>Risiko</a:t>
            </a:r>
            <a:endParaRPr lang="de-DE" sz="740" dirty="0">
              <a:solidFill>
                <a:srgbClr val="FFFFFF"/>
              </a:solidFill>
              <a:latin typeface="Courier"/>
            </a:endParaRPr>
          </a:p>
        </p:txBody>
      </p:sp>
      <p:sp>
        <p:nvSpPr>
          <p:cNvPr id="12" name="Text 12"/>
          <p:cNvSpPr txBox="1"/>
          <p:nvPr/>
        </p:nvSpPr>
        <p:spPr>
          <a:xfrm>
            <a:off x="2651760" y="1664208"/>
            <a:ext cx="2048256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40" b="1" dirty="0">
                <a:solidFill>
                  <a:srgbClr val="FFFFFF"/>
                </a:solidFill>
                <a:latin typeface="Courier"/>
              </a:rPr>
              <a:t>Signal</a:t>
            </a:r>
            <a:endParaRPr lang="de-DE" sz="740" dirty="0">
              <a:solidFill>
                <a:srgbClr val="FFFFFF"/>
              </a:solidFill>
              <a:latin typeface="Courier"/>
            </a:endParaRPr>
          </a:p>
        </p:txBody>
      </p:sp>
      <p:sp>
        <p:nvSpPr>
          <p:cNvPr id="13" name="Text 13"/>
          <p:cNvSpPr txBox="1"/>
          <p:nvPr/>
        </p:nvSpPr>
        <p:spPr>
          <a:xfrm>
            <a:off x="4846320" y="1664208"/>
            <a:ext cx="2048256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40" b="1" dirty="0">
                <a:solidFill>
                  <a:srgbClr val="FFFFFF"/>
                </a:solidFill>
                <a:latin typeface="Courier"/>
              </a:rPr>
              <a:t>Mitigation</a:t>
            </a:r>
            <a:endParaRPr lang="de-DE" sz="740" dirty="0">
              <a:solidFill>
                <a:srgbClr val="FFFFFF"/>
              </a:solidFill>
              <a:latin typeface="Courier"/>
            </a:endParaRPr>
          </a:p>
        </p:txBody>
      </p:sp>
      <p:sp>
        <p:nvSpPr>
          <p:cNvPr id="14" name="Text 14"/>
          <p:cNvSpPr txBox="1"/>
          <p:nvPr/>
        </p:nvSpPr>
        <p:spPr>
          <a:xfrm>
            <a:off x="7040880" y="1664208"/>
            <a:ext cx="1682496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40" b="1" dirty="0">
                <a:solidFill>
                  <a:srgbClr val="FFFFFF"/>
                </a:solidFill>
                <a:latin typeface="Courier"/>
              </a:rPr>
              <a:t>Owner</a:t>
            </a:r>
            <a:endParaRPr lang="de-DE" sz="740" dirty="0">
              <a:solidFill>
                <a:srgbClr val="FFFFFF"/>
              </a:solidFill>
              <a:latin typeface="Courier"/>
            </a:endParaRPr>
          </a:p>
        </p:txBody>
      </p:sp>
      <p:sp>
        <p:nvSpPr>
          <p:cNvPr id="15" name="Text 15"/>
          <p:cNvSpPr txBox="1"/>
          <p:nvPr/>
        </p:nvSpPr>
        <p:spPr>
          <a:xfrm>
            <a:off x="8869680" y="1664208"/>
            <a:ext cx="1133856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40" b="1" dirty="0">
                <a:solidFill>
                  <a:srgbClr val="FFFFFF"/>
                </a:solidFill>
                <a:latin typeface="Courier"/>
              </a:rPr>
              <a:t>Status</a:t>
            </a:r>
            <a:endParaRPr lang="de-DE" sz="740" dirty="0">
              <a:solidFill>
                <a:srgbClr val="FFFFFF"/>
              </a:solidFill>
              <a:latin typeface="Courier"/>
            </a:endParaRPr>
          </a:p>
        </p:txBody>
      </p:sp>
      <p:sp>
        <p:nvSpPr>
          <p:cNvPr id="16" name="Table cell 16"/>
          <p:cNvSpPr/>
          <p:nvPr/>
        </p:nvSpPr>
        <p:spPr>
          <a:xfrm>
            <a:off x="749808" y="2011680"/>
            <a:ext cx="1828800" cy="438912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17" name="Text 17"/>
          <p:cNvSpPr txBox="1"/>
          <p:nvPr/>
        </p:nvSpPr>
        <p:spPr>
          <a:xfrm>
            <a:off x="822960" y="2112264"/>
            <a:ext cx="1682496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0A0A0F"/>
                </a:solidFill>
                <a:latin typeface="Helvetica"/>
              </a:rPr>
              <a:t>Clinical quality</a:t>
            </a:r>
            <a:endParaRPr lang="de-DE" sz="76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18" name="Table cell 18"/>
          <p:cNvSpPr/>
          <p:nvPr/>
        </p:nvSpPr>
        <p:spPr>
          <a:xfrm>
            <a:off x="2578608" y="2011680"/>
            <a:ext cx="2194560" cy="438912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19" name="Text 19"/>
          <p:cNvSpPr txBox="1"/>
          <p:nvPr/>
        </p:nvSpPr>
        <p:spPr>
          <a:xfrm>
            <a:off x="2651760" y="2112264"/>
            <a:ext cx="2048256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Nacharbeit steigt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20" name="Table cell 20"/>
          <p:cNvSpPr/>
          <p:nvPr/>
        </p:nvSpPr>
        <p:spPr>
          <a:xfrm>
            <a:off x="4773168" y="2011680"/>
            <a:ext cx="2194560" cy="438912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21" name="Text 21"/>
          <p:cNvSpPr txBox="1"/>
          <p:nvPr/>
        </p:nvSpPr>
        <p:spPr>
          <a:xfrm>
            <a:off x="4846320" y="2112264"/>
            <a:ext cx="2048256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Validation + review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22" name="Table cell 22"/>
          <p:cNvSpPr/>
          <p:nvPr/>
        </p:nvSpPr>
        <p:spPr>
          <a:xfrm>
            <a:off x="6967728" y="2011680"/>
            <a:ext cx="1828800" cy="438912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23" name="Text 23"/>
          <p:cNvSpPr txBox="1"/>
          <p:nvPr/>
        </p:nvSpPr>
        <p:spPr>
          <a:xfrm>
            <a:off x="7040880" y="2112264"/>
            <a:ext cx="1682496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Clinical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24" name="Table cell 24"/>
          <p:cNvSpPr/>
          <p:nvPr/>
        </p:nvSpPr>
        <p:spPr>
          <a:xfrm>
            <a:off x="8796528" y="2011680"/>
            <a:ext cx="1280160" cy="438912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25" name="Text 25"/>
          <p:cNvSpPr txBox="1"/>
          <p:nvPr/>
        </p:nvSpPr>
        <p:spPr>
          <a:xfrm>
            <a:off x="8869680" y="2112264"/>
            <a:ext cx="1133856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amber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26" name="Table cell 26"/>
          <p:cNvSpPr/>
          <p:nvPr/>
        </p:nvSpPr>
        <p:spPr>
          <a:xfrm>
            <a:off x="749808" y="2450592"/>
            <a:ext cx="1828800" cy="438912"/>
          </a:xfrm>
          <a:prstGeom prst="rect">
            <a:avLst/>
          </a:prstGeom>
          <a:solidFill>
            <a:srgbClr val="FFFFFF"/>
          </a:solidFill>
          <a:ln w="4445">
            <a:solidFill>
              <a:srgbClr val="E8E8EC"/>
            </a:solidFill>
          </a:ln>
        </p:spPr>
        <p:style/>
      </p:sp>
      <p:sp>
        <p:nvSpPr>
          <p:cNvPr id="27" name="Text 27"/>
          <p:cNvSpPr txBox="1"/>
          <p:nvPr/>
        </p:nvSpPr>
        <p:spPr>
          <a:xfrm>
            <a:off x="822960" y="2551176"/>
            <a:ext cx="1682496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0A0A0F"/>
                </a:solidFill>
                <a:latin typeface="Helvetica"/>
              </a:rPr>
              <a:t>Sales cycle</a:t>
            </a:r>
            <a:endParaRPr lang="de-DE" sz="76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28" name="Table cell 28"/>
          <p:cNvSpPr/>
          <p:nvPr/>
        </p:nvSpPr>
        <p:spPr>
          <a:xfrm>
            <a:off x="2578608" y="2450592"/>
            <a:ext cx="2194560" cy="438912"/>
          </a:xfrm>
          <a:prstGeom prst="rect">
            <a:avLst/>
          </a:prstGeom>
          <a:solidFill>
            <a:srgbClr val="FFFFFF"/>
          </a:solidFill>
          <a:ln w="4445">
            <a:solidFill>
              <a:srgbClr val="E8E8EC"/>
            </a:solidFill>
          </a:ln>
        </p:spPr>
        <p:style/>
      </p:sp>
      <p:sp>
        <p:nvSpPr>
          <p:cNvPr id="29" name="Text 29"/>
          <p:cNvSpPr txBox="1"/>
          <p:nvPr/>
        </p:nvSpPr>
        <p:spPr>
          <a:xfrm>
            <a:off x="2651760" y="2551176"/>
            <a:ext cx="2048256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Pilot stagniert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30" name="Table cell 30"/>
          <p:cNvSpPr/>
          <p:nvPr/>
        </p:nvSpPr>
        <p:spPr>
          <a:xfrm>
            <a:off x="4773168" y="2450592"/>
            <a:ext cx="2194560" cy="438912"/>
          </a:xfrm>
          <a:prstGeom prst="rect">
            <a:avLst/>
          </a:prstGeom>
          <a:solidFill>
            <a:srgbClr val="FFFFFF"/>
          </a:solidFill>
          <a:ln w="4445">
            <a:solidFill>
              <a:srgbClr val="E8E8EC"/>
            </a:solidFill>
          </a:ln>
        </p:spPr>
        <p:style/>
      </p:sp>
      <p:sp>
        <p:nvSpPr>
          <p:cNvPr id="31" name="Text 31"/>
          <p:cNvSpPr txBox="1"/>
          <p:nvPr/>
        </p:nvSpPr>
        <p:spPr>
          <a:xfrm>
            <a:off x="4846320" y="2551176"/>
            <a:ext cx="2048256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Gate metrics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32" name="Table cell 32"/>
          <p:cNvSpPr/>
          <p:nvPr/>
        </p:nvSpPr>
        <p:spPr>
          <a:xfrm>
            <a:off x="6967728" y="2450592"/>
            <a:ext cx="1828800" cy="438912"/>
          </a:xfrm>
          <a:prstGeom prst="rect">
            <a:avLst/>
          </a:prstGeom>
          <a:solidFill>
            <a:srgbClr val="FFFFFF"/>
          </a:solidFill>
          <a:ln w="4445">
            <a:solidFill>
              <a:srgbClr val="E8E8EC"/>
            </a:solidFill>
          </a:ln>
        </p:spPr>
        <p:style/>
      </p:sp>
      <p:sp>
        <p:nvSpPr>
          <p:cNvPr id="33" name="Text 33"/>
          <p:cNvSpPr txBox="1"/>
          <p:nvPr/>
        </p:nvSpPr>
        <p:spPr>
          <a:xfrm>
            <a:off x="7040880" y="2551176"/>
            <a:ext cx="1682496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GTM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34" name="Table cell 34"/>
          <p:cNvSpPr/>
          <p:nvPr/>
        </p:nvSpPr>
        <p:spPr>
          <a:xfrm>
            <a:off x="8796528" y="2450592"/>
            <a:ext cx="1280160" cy="438912"/>
          </a:xfrm>
          <a:prstGeom prst="rect">
            <a:avLst/>
          </a:prstGeom>
          <a:solidFill>
            <a:srgbClr val="FFFFFF"/>
          </a:solidFill>
          <a:ln w="4445">
            <a:solidFill>
              <a:srgbClr val="E8E8EC"/>
            </a:solidFill>
          </a:ln>
        </p:spPr>
        <p:style/>
      </p:sp>
      <p:sp>
        <p:nvSpPr>
          <p:cNvPr id="35" name="Text 35"/>
          <p:cNvSpPr txBox="1"/>
          <p:nvPr/>
        </p:nvSpPr>
        <p:spPr>
          <a:xfrm>
            <a:off x="8869680" y="2551176"/>
            <a:ext cx="1133856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open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36" name="Table cell 36"/>
          <p:cNvSpPr/>
          <p:nvPr/>
        </p:nvSpPr>
        <p:spPr>
          <a:xfrm>
            <a:off x="749808" y="2889504"/>
            <a:ext cx="1828800" cy="438912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37" name="Text 37"/>
          <p:cNvSpPr txBox="1"/>
          <p:nvPr/>
        </p:nvSpPr>
        <p:spPr>
          <a:xfrm>
            <a:off x="822960" y="2990088"/>
            <a:ext cx="1682496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0A0A0F"/>
                </a:solidFill>
                <a:latin typeface="Helvetica"/>
              </a:rPr>
              <a:t>Integration</a:t>
            </a:r>
            <a:endParaRPr lang="de-DE" sz="76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38" name="Table cell 38"/>
          <p:cNvSpPr/>
          <p:nvPr/>
        </p:nvSpPr>
        <p:spPr>
          <a:xfrm>
            <a:off x="2578608" y="2889504"/>
            <a:ext cx="2194560" cy="438912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39" name="Text 39"/>
          <p:cNvSpPr txBox="1"/>
          <p:nvPr/>
        </p:nvSpPr>
        <p:spPr>
          <a:xfrm>
            <a:off x="2651760" y="2990088"/>
            <a:ext cx="2048256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Export blockiert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40" name="Table cell 40"/>
          <p:cNvSpPr/>
          <p:nvPr/>
        </p:nvSpPr>
        <p:spPr>
          <a:xfrm>
            <a:off x="4773168" y="2889504"/>
            <a:ext cx="2194560" cy="438912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41" name="Text 41"/>
          <p:cNvSpPr txBox="1"/>
          <p:nvPr/>
        </p:nvSpPr>
        <p:spPr>
          <a:xfrm>
            <a:off x="4846320" y="2990088"/>
            <a:ext cx="2048256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API roadmap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42" name="Table cell 42"/>
          <p:cNvSpPr/>
          <p:nvPr/>
        </p:nvSpPr>
        <p:spPr>
          <a:xfrm>
            <a:off x="6967728" y="2889504"/>
            <a:ext cx="1828800" cy="438912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43" name="Text 43"/>
          <p:cNvSpPr txBox="1"/>
          <p:nvPr/>
        </p:nvSpPr>
        <p:spPr>
          <a:xfrm>
            <a:off x="7040880" y="2990088"/>
            <a:ext cx="1682496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CTO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44" name="Table cell 44"/>
          <p:cNvSpPr/>
          <p:nvPr/>
        </p:nvSpPr>
        <p:spPr>
          <a:xfrm>
            <a:off x="8796528" y="2889504"/>
            <a:ext cx="1280160" cy="438912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45" name="Text 45"/>
          <p:cNvSpPr txBox="1"/>
          <p:nvPr/>
        </p:nvSpPr>
        <p:spPr>
          <a:xfrm>
            <a:off x="8869680" y="2990088"/>
            <a:ext cx="1133856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planned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46" name="Table cell 46"/>
          <p:cNvSpPr/>
          <p:nvPr/>
        </p:nvSpPr>
        <p:spPr>
          <a:xfrm>
            <a:off x="749808" y="3328416"/>
            <a:ext cx="1828800" cy="438912"/>
          </a:xfrm>
          <a:prstGeom prst="rect">
            <a:avLst/>
          </a:prstGeom>
          <a:solidFill>
            <a:srgbClr val="FFFFFF"/>
          </a:solidFill>
          <a:ln w="4445">
            <a:solidFill>
              <a:srgbClr val="E8E8EC"/>
            </a:solidFill>
          </a:ln>
        </p:spPr>
        <p:style/>
      </p:sp>
      <p:sp>
        <p:nvSpPr>
          <p:cNvPr id="47" name="Text 47"/>
          <p:cNvSpPr txBox="1"/>
          <p:nvPr/>
        </p:nvSpPr>
        <p:spPr>
          <a:xfrm>
            <a:off x="822960" y="3429000"/>
            <a:ext cx="1682496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0A0A0F"/>
                </a:solidFill>
                <a:latin typeface="Helvetica"/>
              </a:rPr>
              <a:t>Trust</a:t>
            </a:r>
            <a:endParaRPr lang="de-DE" sz="76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48" name="Table cell 48"/>
          <p:cNvSpPr/>
          <p:nvPr/>
        </p:nvSpPr>
        <p:spPr>
          <a:xfrm>
            <a:off x="2578608" y="3328416"/>
            <a:ext cx="2194560" cy="438912"/>
          </a:xfrm>
          <a:prstGeom prst="rect">
            <a:avLst/>
          </a:prstGeom>
          <a:solidFill>
            <a:srgbClr val="FFFFFF"/>
          </a:solidFill>
          <a:ln w="4445">
            <a:solidFill>
              <a:srgbClr val="E8E8EC"/>
            </a:solidFill>
          </a:ln>
        </p:spPr>
        <p:style/>
      </p:sp>
      <p:sp>
        <p:nvSpPr>
          <p:cNvPr id="49" name="Text 49"/>
          <p:cNvSpPr txBox="1"/>
          <p:nvPr/>
        </p:nvSpPr>
        <p:spPr>
          <a:xfrm>
            <a:off x="2651760" y="3429000"/>
            <a:ext cx="2048256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AI Skepsis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50" name="Table cell 50"/>
          <p:cNvSpPr/>
          <p:nvPr/>
        </p:nvSpPr>
        <p:spPr>
          <a:xfrm>
            <a:off x="4773168" y="3328416"/>
            <a:ext cx="2194560" cy="438912"/>
          </a:xfrm>
          <a:prstGeom prst="rect">
            <a:avLst/>
          </a:prstGeom>
          <a:solidFill>
            <a:srgbClr val="FFFFFF"/>
          </a:solidFill>
          <a:ln w="4445">
            <a:solidFill>
              <a:srgbClr val="E8E8EC"/>
            </a:solidFill>
          </a:ln>
        </p:spPr>
        <p:style/>
      </p:sp>
      <p:sp>
        <p:nvSpPr>
          <p:cNvPr id="51" name="Text 51"/>
          <p:cNvSpPr txBox="1"/>
          <p:nvPr/>
        </p:nvSpPr>
        <p:spPr>
          <a:xfrm>
            <a:off x="4846320" y="3429000"/>
            <a:ext cx="2048256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Human-in-loop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52" name="Table cell 52"/>
          <p:cNvSpPr/>
          <p:nvPr/>
        </p:nvSpPr>
        <p:spPr>
          <a:xfrm>
            <a:off x="6967728" y="3328416"/>
            <a:ext cx="1828800" cy="438912"/>
          </a:xfrm>
          <a:prstGeom prst="rect">
            <a:avLst/>
          </a:prstGeom>
          <a:solidFill>
            <a:srgbClr val="FFFFFF"/>
          </a:solidFill>
          <a:ln w="4445">
            <a:solidFill>
              <a:srgbClr val="E8E8EC"/>
            </a:solidFill>
          </a:ln>
        </p:spPr>
        <p:style/>
      </p:sp>
      <p:sp>
        <p:nvSpPr>
          <p:cNvPr id="53" name="Text 53"/>
          <p:cNvSpPr txBox="1"/>
          <p:nvPr/>
        </p:nvSpPr>
        <p:spPr>
          <a:xfrm>
            <a:off x="7040880" y="3429000"/>
            <a:ext cx="1682496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Product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54" name="Table cell 54"/>
          <p:cNvSpPr/>
          <p:nvPr/>
        </p:nvSpPr>
        <p:spPr>
          <a:xfrm>
            <a:off x="8796528" y="3328416"/>
            <a:ext cx="1280160" cy="438912"/>
          </a:xfrm>
          <a:prstGeom prst="rect">
            <a:avLst/>
          </a:prstGeom>
          <a:solidFill>
            <a:srgbClr val="FFFFFF"/>
          </a:solidFill>
          <a:ln w="4445">
            <a:solidFill>
              <a:srgbClr val="E8E8EC"/>
            </a:solidFill>
          </a:ln>
        </p:spPr>
        <p:style/>
      </p:sp>
      <p:sp>
        <p:nvSpPr>
          <p:cNvPr id="55" name="Text 55"/>
          <p:cNvSpPr txBox="1"/>
          <p:nvPr/>
        </p:nvSpPr>
        <p:spPr>
          <a:xfrm>
            <a:off x="8869680" y="3429000"/>
            <a:ext cx="1133856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ready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56" name="Table cell 56"/>
          <p:cNvSpPr/>
          <p:nvPr/>
        </p:nvSpPr>
        <p:spPr>
          <a:xfrm>
            <a:off x="749808" y="3767328"/>
            <a:ext cx="1828800" cy="438912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57" name="Text 57"/>
          <p:cNvSpPr txBox="1"/>
          <p:nvPr/>
        </p:nvSpPr>
        <p:spPr>
          <a:xfrm>
            <a:off x="822960" y="3867912"/>
            <a:ext cx="1682496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0A0A0F"/>
                </a:solidFill>
                <a:latin typeface="Helvetica"/>
              </a:rPr>
              <a:t>Compliance</a:t>
            </a:r>
            <a:endParaRPr lang="de-DE" sz="76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58" name="Table cell 58"/>
          <p:cNvSpPr/>
          <p:nvPr/>
        </p:nvSpPr>
        <p:spPr>
          <a:xfrm>
            <a:off x="2578608" y="3767328"/>
            <a:ext cx="2194560" cy="438912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59" name="Text 59"/>
          <p:cNvSpPr txBox="1"/>
          <p:nvPr/>
        </p:nvSpPr>
        <p:spPr>
          <a:xfrm>
            <a:off x="2651760" y="3867912"/>
            <a:ext cx="2048256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Audit gap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60" name="Table cell 60"/>
          <p:cNvSpPr/>
          <p:nvPr/>
        </p:nvSpPr>
        <p:spPr>
          <a:xfrm>
            <a:off x="4773168" y="3767328"/>
            <a:ext cx="2194560" cy="438912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61" name="Text 61"/>
          <p:cNvSpPr txBox="1"/>
          <p:nvPr/>
        </p:nvSpPr>
        <p:spPr>
          <a:xfrm>
            <a:off x="4846320" y="3867912"/>
            <a:ext cx="2048256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Operating model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62" name="Table cell 62"/>
          <p:cNvSpPr/>
          <p:nvPr/>
        </p:nvSpPr>
        <p:spPr>
          <a:xfrm>
            <a:off x="6967728" y="3767328"/>
            <a:ext cx="1828800" cy="438912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63" name="Text 63"/>
          <p:cNvSpPr txBox="1"/>
          <p:nvPr/>
        </p:nvSpPr>
        <p:spPr>
          <a:xfrm>
            <a:off x="7040880" y="3867912"/>
            <a:ext cx="1682496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Ops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64" name="Table cell 64"/>
          <p:cNvSpPr/>
          <p:nvPr/>
        </p:nvSpPr>
        <p:spPr>
          <a:xfrm>
            <a:off x="8796528" y="3767328"/>
            <a:ext cx="1280160" cy="438912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65" name="Text 65"/>
          <p:cNvSpPr txBox="1"/>
          <p:nvPr/>
        </p:nvSpPr>
        <p:spPr>
          <a:xfrm>
            <a:off x="8869680" y="3867912"/>
            <a:ext cx="1133856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open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cenario Planning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EVO accent bar 2"/>
          <p:cNvSpPr/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3" name="Text 3"/>
          <p:cNvSpPr txBox="1"/>
          <p:nvPr/>
        </p:nvSpPr>
        <p:spPr>
          <a:xfrm>
            <a:off x="566928" y="292608"/>
            <a:ext cx="429768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50" b="1" dirty="0">
                <a:solidFill>
                  <a:srgbClr val="9B9BA8"/>
                </a:solidFill>
                <a:latin typeface="Courier"/>
              </a:rPr>
              <a:t>SZENARIEN</a:t>
            </a:r>
            <a:endParaRPr lang="de-DE" sz="75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4" name="Header rule 4"/>
          <p:cNvSpPr/>
          <p:nvPr/>
        </p:nvSpPr>
        <p:spPr>
          <a:xfrm>
            <a:off x="566928" y="658368"/>
            <a:ext cx="11045952" cy="5486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/>
      </p:sp>
      <p:sp>
        <p:nvSpPr>
          <p:cNvPr id="5" name="Text 5"/>
          <p:cNvSpPr txBox="1"/>
          <p:nvPr/>
        </p:nvSpPr>
        <p:spPr>
          <a:xfrm>
            <a:off x="566928" y="804672"/>
            <a:ext cx="10058400" cy="53035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2400" b="1" dirty="0">
                <a:solidFill>
                  <a:srgbClr val="0A0A0F"/>
                </a:solidFill>
                <a:latin typeface="Helvetica"/>
              </a:rPr>
              <a:t>Szenario-Folien machen Annahmen sichtbar und entscheidbar</a:t>
            </a:r>
            <a:endParaRPr lang="de-DE" sz="24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6" name="Footer rule 6"/>
          <p:cNvSpPr/>
          <p:nvPr/>
        </p:nvSpPr>
        <p:spPr>
          <a:xfrm>
            <a:off x="566928" y="6419088"/>
            <a:ext cx="11045952" cy="5486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/>
      </p:sp>
      <p:sp>
        <p:nvSpPr>
          <p:cNvPr id="7" name="Text 7"/>
          <p:cNvSpPr txBox="1"/>
          <p:nvPr/>
        </p:nvSpPr>
        <p:spPr>
          <a:xfrm>
            <a:off x="566928" y="6510528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680" dirty="0">
                <a:solidFill>
                  <a:srgbClr val="9B9BA8"/>
                </a:solidFill>
                <a:latin typeface="Courier"/>
              </a:rPr>
              <a:t>CAREVO VC / CONSULTING TEMPLATE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8" name="Text 8"/>
          <p:cNvSpPr txBox="1"/>
          <p:nvPr/>
        </p:nvSpPr>
        <p:spPr>
          <a:xfrm>
            <a:off x="4572000" y="6510528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680" dirty="0">
                <a:solidFill>
                  <a:srgbClr val="9B9BA8"/>
                </a:solidFill>
                <a:latin typeface="Courier"/>
              </a:rPr>
              <a:t>CONFIDENTIAL - TEMPLATE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9" name="Text 9"/>
          <p:cNvSpPr txBox="1"/>
          <p:nvPr/>
        </p:nvSpPr>
        <p:spPr>
          <a:xfrm>
            <a:off x="11018520" y="6510528"/>
            <a:ext cx="59436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r"/>
            <a:r>
              <a:rPr lang="de-DE" sz="680" dirty="0">
                <a:solidFill>
                  <a:srgbClr val="9B9BA8"/>
                </a:solidFill>
                <a:latin typeface="Courier"/>
              </a:rPr>
              <a:t>33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10" name="Table header 10"/>
          <p:cNvSpPr/>
          <p:nvPr/>
        </p:nvSpPr>
        <p:spPr>
          <a:xfrm>
            <a:off x="749808" y="1609344"/>
            <a:ext cx="8686800" cy="50292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/>
      </p:sp>
      <p:sp>
        <p:nvSpPr>
          <p:cNvPr id="11" name="Text 11"/>
          <p:cNvSpPr txBox="1"/>
          <p:nvPr/>
        </p:nvSpPr>
        <p:spPr>
          <a:xfrm>
            <a:off x="822960" y="1700784"/>
            <a:ext cx="1682496" cy="3749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40" b="1" dirty="0">
                <a:solidFill>
                  <a:srgbClr val="FFFFFF"/>
                </a:solidFill>
                <a:latin typeface="Courier"/>
              </a:rPr>
              <a:t>Szenario</a:t>
            </a:r>
            <a:endParaRPr lang="de-DE" sz="740" dirty="0">
              <a:solidFill>
                <a:srgbClr val="FFFFFF"/>
              </a:solidFill>
              <a:latin typeface="Courier"/>
            </a:endParaRPr>
          </a:p>
        </p:txBody>
      </p:sp>
      <p:sp>
        <p:nvSpPr>
          <p:cNvPr id="12" name="Text 12"/>
          <p:cNvSpPr txBox="1"/>
          <p:nvPr/>
        </p:nvSpPr>
        <p:spPr>
          <a:xfrm>
            <a:off x="2651760" y="1700784"/>
            <a:ext cx="2139696" cy="3749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40" b="1" dirty="0">
                <a:solidFill>
                  <a:srgbClr val="FFFFFF"/>
                </a:solidFill>
                <a:latin typeface="Courier"/>
              </a:rPr>
              <a:t>Trigger</a:t>
            </a:r>
            <a:endParaRPr lang="de-DE" sz="740" dirty="0">
              <a:solidFill>
                <a:srgbClr val="FFFFFF"/>
              </a:solidFill>
              <a:latin typeface="Courier"/>
            </a:endParaRPr>
          </a:p>
        </p:txBody>
      </p:sp>
      <p:sp>
        <p:nvSpPr>
          <p:cNvPr id="13" name="Text 13"/>
          <p:cNvSpPr txBox="1"/>
          <p:nvPr/>
        </p:nvSpPr>
        <p:spPr>
          <a:xfrm>
            <a:off x="4937760" y="1700784"/>
            <a:ext cx="2139696" cy="3749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40" b="1" dirty="0">
                <a:solidFill>
                  <a:srgbClr val="FFFFFF"/>
                </a:solidFill>
                <a:latin typeface="Courier"/>
              </a:rPr>
              <a:t>Outcome</a:t>
            </a:r>
            <a:endParaRPr lang="de-DE" sz="740" dirty="0">
              <a:solidFill>
                <a:srgbClr val="FFFFFF"/>
              </a:solidFill>
              <a:latin typeface="Courier"/>
            </a:endParaRPr>
          </a:p>
        </p:txBody>
      </p:sp>
      <p:sp>
        <p:nvSpPr>
          <p:cNvPr id="14" name="Text 14"/>
          <p:cNvSpPr txBox="1"/>
          <p:nvPr/>
        </p:nvSpPr>
        <p:spPr>
          <a:xfrm>
            <a:off x="7223760" y="1700784"/>
            <a:ext cx="2139696" cy="3749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40" b="1" dirty="0">
                <a:solidFill>
                  <a:srgbClr val="FFFFFF"/>
                </a:solidFill>
                <a:latin typeface="Courier"/>
              </a:rPr>
              <a:t>Board Action</a:t>
            </a:r>
            <a:endParaRPr lang="de-DE" sz="740" dirty="0">
              <a:solidFill>
                <a:srgbClr val="FFFFFF"/>
              </a:solidFill>
              <a:latin typeface="Courier"/>
            </a:endParaRPr>
          </a:p>
        </p:txBody>
      </p:sp>
      <p:sp>
        <p:nvSpPr>
          <p:cNvPr id="15" name="Table cell 15"/>
          <p:cNvSpPr/>
          <p:nvPr/>
        </p:nvSpPr>
        <p:spPr>
          <a:xfrm>
            <a:off x="749808" y="2112264"/>
            <a:ext cx="1828800" cy="502920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16" name="Text 16"/>
          <p:cNvSpPr txBox="1"/>
          <p:nvPr/>
        </p:nvSpPr>
        <p:spPr>
          <a:xfrm>
            <a:off x="822960" y="2212848"/>
            <a:ext cx="1682496" cy="3749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0A0A0F"/>
                </a:solidFill>
                <a:latin typeface="Helvetica"/>
              </a:rPr>
              <a:t>Base</a:t>
            </a:r>
            <a:endParaRPr lang="de-DE" sz="76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17" name="Table cell 17"/>
          <p:cNvSpPr/>
          <p:nvPr/>
        </p:nvSpPr>
        <p:spPr>
          <a:xfrm>
            <a:off x="2578608" y="2112264"/>
            <a:ext cx="2286000" cy="502920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18" name="Text 18"/>
          <p:cNvSpPr txBox="1"/>
          <p:nvPr/>
        </p:nvSpPr>
        <p:spPr>
          <a:xfrm>
            <a:off x="2651760" y="2212848"/>
            <a:ext cx="2139696" cy="3749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Pilot repeatable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19" name="Table cell 19"/>
          <p:cNvSpPr/>
          <p:nvPr/>
        </p:nvSpPr>
        <p:spPr>
          <a:xfrm>
            <a:off x="4864608" y="2112264"/>
            <a:ext cx="2286000" cy="502920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20" name="Text 20"/>
          <p:cNvSpPr txBox="1"/>
          <p:nvPr/>
        </p:nvSpPr>
        <p:spPr>
          <a:xfrm>
            <a:off x="4937760" y="2212848"/>
            <a:ext cx="2139696" cy="3749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Seed-ready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21" name="Table cell 21"/>
          <p:cNvSpPr/>
          <p:nvPr/>
        </p:nvSpPr>
        <p:spPr>
          <a:xfrm>
            <a:off x="7150608" y="2112264"/>
            <a:ext cx="2286000" cy="502920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22" name="Text 22"/>
          <p:cNvSpPr txBox="1"/>
          <p:nvPr/>
        </p:nvSpPr>
        <p:spPr>
          <a:xfrm>
            <a:off x="7223760" y="2212848"/>
            <a:ext cx="2139696" cy="3749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Fundraise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23" name="Table cell 23"/>
          <p:cNvSpPr/>
          <p:nvPr/>
        </p:nvSpPr>
        <p:spPr>
          <a:xfrm>
            <a:off x="749808" y="2615184"/>
            <a:ext cx="1828800" cy="502920"/>
          </a:xfrm>
          <a:prstGeom prst="rect">
            <a:avLst/>
          </a:prstGeom>
          <a:solidFill>
            <a:srgbClr val="FFFFFF"/>
          </a:solidFill>
          <a:ln w="4445">
            <a:solidFill>
              <a:srgbClr val="E8E8EC"/>
            </a:solidFill>
          </a:ln>
        </p:spPr>
        <p:style/>
      </p:sp>
      <p:sp>
        <p:nvSpPr>
          <p:cNvPr id="24" name="Text 24"/>
          <p:cNvSpPr txBox="1"/>
          <p:nvPr/>
        </p:nvSpPr>
        <p:spPr>
          <a:xfrm>
            <a:off x="822960" y="2715768"/>
            <a:ext cx="1682496" cy="3749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0A0A0F"/>
                </a:solidFill>
                <a:latin typeface="Helvetica"/>
              </a:rPr>
              <a:t>Upside</a:t>
            </a:r>
            <a:endParaRPr lang="de-DE" sz="76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25" name="Table cell 25"/>
          <p:cNvSpPr/>
          <p:nvPr/>
        </p:nvSpPr>
        <p:spPr>
          <a:xfrm>
            <a:off x="2578608" y="2615184"/>
            <a:ext cx="2286000" cy="502920"/>
          </a:xfrm>
          <a:prstGeom prst="rect">
            <a:avLst/>
          </a:prstGeom>
          <a:solidFill>
            <a:srgbClr val="FFFFFF"/>
          </a:solidFill>
          <a:ln w="4445">
            <a:solidFill>
              <a:srgbClr val="E8E8EC"/>
            </a:solidFill>
          </a:ln>
        </p:spPr>
        <p:style/>
      </p:sp>
      <p:sp>
        <p:nvSpPr>
          <p:cNvPr id="26" name="Text 26"/>
          <p:cNvSpPr txBox="1"/>
          <p:nvPr/>
        </p:nvSpPr>
        <p:spPr>
          <a:xfrm>
            <a:off x="2651760" y="2715768"/>
            <a:ext cx="2139696" cy="3749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Enterprise pull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27" name="Table cell 27"/>
          <p:cNvSpPr/>
          <p:nvPr/>
        </p:nvSpPr>
        <p:spPr>
          <a:xfrm>
            <a:off x="4864608" y="2615184"/>
            <a:ext cx="2286000" cy="502920"/>
          </a:xfrm>
          <a:prstGeom prst="rect">
            <a:avLst/>
          </a:prstGeom>
          <a:solidFill>
            <a:srgbClr val="FFFFFF"/>
          </a:solidFill>
          <a:ln w="4445">
            <a:solidFill>
              <a:srgbClr val="E8E8EC"/>
            </a:solidFill>
          </a:ln>
        </p:spPr>
        <p:style/>
      </p:sp>
      <p:sp>
        <p:nvSpPr>
          <p:cNvPr id="28" name="Text 28"/>
          <p:cNvSpPr txBox="1"/>
          <p:nvPr/>
        </p:nvSpPr>
        <p:spPr>
          <a:xfrm>
            <a:off x="4937760" y="2715768"/>
            <a:ext cx="2139696" cy="3749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Higher ACV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29" name="Table cell 29"/>
          <p:cNvSpPr/>
          <p:nvPr/>
        </p:nvSpPr>
        <p:spPr>
          <a:xfrm>
            <a:off x="7150608" y="2615184"/>
            <a:ext cx="2286000" cy="502920"/>
          </a:xfrm>
          <a:prstGeom prst="rect">
            <a:avLst/>
          </a:prstGeom>
          <a:solidFill>
            <a:srgbClr val="FFFFFF"/>
          </a:solidFill>
          <a:ln w="4445">
            <a:solidFill>
              <a:srgbClr val="E8E8EC"/>
            </a:solidFill>
          </a:ln>
        </p:spPr>
        <p:style/>
      </p:sp>
      <p:sp>
        <p:nvSpPr>
          <p:cNvPr id="30" name="Text 30"/>
          <p:cNvSpPr txBox="1"/>
          <p:nvPr/>
        </p:nvSpPr>
        <p:spPr>
          <a:xfrm>
            <a:off x="7223760" y="2715768"/>
            <a:ext cx="2139696" cy="3749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Accelerate GTM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31" name="Table cell 31"/>
          <p:cNvSpPr/>
          <p:nvPr/>
        </p:nvSpPr>
        <p:spPr>
          <a:xfrm>
            <a:off x="749808" y="3118104"/>
            <a:ext cx="1828800" cy="502920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32" name="Text 32"/>
          <p:cNvSpPr txBox="1"/>
          <p:nvPr/>
        </p:nvSpPr>
        <p:spPr>
          <a:xfrm>
            <a:off x="822960" y="3218688"/>
            <a:ext cx="1682496" cy="3749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0A0A0F"/>
                </a:solidFill>
                <a:latin typeface="Helvetica"/>
              </a:rPr>
              <a:t>Downside</a:t>
            </a:r>
            <a:endParaRPr lang="de-DE" sz="76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33" name="Table cell 33"/>
          <p:cNvSpPr/>
          <p:nvPr/>
        </p:nvSpPr>
        <p:spPr>
          <a:xfrm>
            <a:off x="2578608" y="3118104"/>
            <a:ext cx="2286000" cy="502920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34" name="Text 34"/>
          <p:cNvSpPr txBox="1"/>
          <p:nvPr/>
        </p:nvSpPr>
        <p:spPr>
          <a:xfrm>
            <a:off x="2651760" y="3218688"/>
            <a:ext cx="2139696" cy="3749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Quality variance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35" name="Table cell 35"/>
          <p:cNvSpPr/>
          <p:nvPr/>
        </p:nvSpPr>
        <p:spPr>
          <a:xfrm>
            <a:off x="4864608" y="3118104"/>
            <a:ext cx="2286000" cy="502920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36" name="Text 36"/>
          <p:cNvSpPr txBox="1"/>
          <p:nvPr/>
        </p:nvSpPr>
        <p:spPr>
          <a:xfrm>
            <a:off x="4937760" y="3218688"/>
            <a:ext cx="2139696" cy="3749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Longer pilots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37" name="Table cell 37"/>
          <p:cNvSpPr/>
          <p:nvPr/>
        </p:nvSpPr>
        <p:spPr>
          <a:xfrm>
            <a:off x="7150608" y="3118104"/>
            <a:ext cx="2286000" cy="502920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38" name="Text 38"/>
          <p:cNvSpPr txBox="1"/>
          <p:nvPr/>
        </p:nvSpPr>
        <p:spPr>
          <a:xfrm>
            <a:off x="7223760" y="3218688"/>
            <a:ext cx="2139696" cy="3749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Narrow segment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39" name="Table cell 39"/>
          <p:cNvSpPr/>
          <p:nvPr/>
        </p:nvSpPr>
        <p:spPr>
          <a:xfrm>
            <a:off x="749808" y="3621024"/>
            <a:ext cx="1828800" cy="502920"/>
          </a:xfrm>
          <a:prstGeom prst="rect">
            <a:avLst/>
          </a:prstGeom>
          <a:solidFill>
            <a:srgbClr val="FFFFFF"/>
          </a:solidFill>
          <a:ln w="4445">
            <a:solidFill>
              <a:srgbClr val="E8E8EC"/>
            </a:solidFill>
          </a:ln>
        </p:spPr>
        <p:style/>
      </p:sp>
      <p:sp>
        <p:nvSpPr>
          <p:cNvPr id="40" name="Text 40"/>
          <p:cNvSpPr txBox="1"/>
          <p:nvPr/>
        </p:nvSpPr>
        <p:spPr>
          <a:xfrm>
            <a:off x="822960" y="3721608"/>
            <a:ext cx="1682496" cy="3749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0A0A0F"/>
                </a:solidFill>
                <a:latin typeface="Helvetica"/>
              </a:rPr>
              <a:t>Pivot</a:t>
            </a:r>
            <a:endParaRPr lang="de-DE" sz="76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41" name="Table cell 41"/>
          <p:cNvSpPr/>
          <p:nvPr/>
        </p:nvSpPr>
        <p:spPr>
          <a:xfrm>
            <a:off x="2578608" y="3621024"/>
            <a:ext cx="2286000" cy="502920"/>
          </a:xfrm>
          <a:prstGeom prst="rect">
            <a:avLst/>
          </a:prstGeom>
          <a:solidFill>
            <a:srgbClr val="FFFFFF"/>
          </a:solidFill>
          <a:ln w="4445">
            <a:solidFill>
              <a:srgbClr val="E8E8EC"/>
            </a:solidFill>
          </a:ln>
        </p:spPr>
        <p:style/>
      </p:sp>
      <p:sp>
        <p:nvSpPr>
          <p:cNvPr id="42" name="Text 42"/>
          <p:cNvSpPr txBox="1"/>
          <p:nvPr/>
        </p:nvSpPr>
        <p:spPr>
          <a:xfrm>
            <a:off x="2651760" y="3721608"/>
            <a:ext cx="2139696" cy="3749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Integration demand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43" name="Table cell 43"/>
          <p:cNvSpPr/>
          <p:nvPr/>
        </p:nvSpPr>
        <p:spPr>
          <a:xfrm>
            <a:off x="4864608" y="3621024"/>
            <a:ext cx="2286000" cy="502920"/>
          </a:xfrm>
          <a:prstGeom prst="rect">
            <a:avLst/>
          </a:prstGeom>
          <a:solidFill>
            <a:srgbClr val="FFFFFF"/>
          </a:solidFill>
          <a:ln w="4445">
            <a:solidFill>
              <a:srgbClr val="E8E8EC"/>
            </a:solidFill>
          </a:ln>
        </p:spPr>
        <p:style/>
      </p:sp>
      <p:sp>
        <p:nvSpPr>
          <p:cNvPr id="44" name="Text 44"/>
          <p:cNvSpPr txBox="1"/>
          <p:nvPr/>
        </p:nvSpPr>
        <p:spPr>
          <a:xfrm>
            <a:off x="4937760" y="3721608"/>
            <a:ext cx="2139696" cy="3749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Platform motion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45" name="Table cell 45"/>
          <p:cNvSpPr/>
          <p:nvPr/>
        </p:nvSpPr>
        <p:spPr>
          <a:xfrm>
            <a:off x="7150608" y="3621024"/>
            <a:ext cx="2286000" cy="502920"/>
          </a:xfrm>
          <a:prstGeom prst="rect">
            <a:avLst/>
          </a:prstGeom>
          <a:solidFill>
            <a:srgbClr val="FFFFFF"/>
          </a:solidFill>
          <a:ln w="4445">
            <a:solidFill>
              <a:srgbClr val="E8E8EC"/>
            </a:solidFill>
          </a:ln>
        </p:spPr>
        <p:style/>
      </p:sp>
      <p:sp>
        <p:nvSpPr>
          <p:cNvPr id="46" name="Text 46"/>
          <p:cNvSpPr txBox="1"/>
          <p:nvPr/>
        </p:nvSpPr>
        <p:spPr>
          <a:xfrm>
            <a:off x="7223760" y="3721608"/>
            <a:ext cx="2139696" cy="3749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Partner channel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ppendix Divider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3" name="Text 3"/>
          <p:cNvSpPr txBox="1"/>
          <p:nvPr/>
        </p:nvSpPr>
        <p:spPr>
          <a:xfrm>
            <a:off x="749808" y="713232"/>
            <a:ext cx="2194560" cy="182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800" b="1" dirty="0">
                <a:solidFill>
                  <a:srgbClr val="9B9BA8"/>
                </a:solidFill>
                <a:latin typeface="Courier"/>
              </a:rPr>
              <a:t>APPENDIX</a:t>
            </a:r>
            <a:endParaRPr lang="de-DE" sz="80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4" name="Text 4"/>
          <p:cNvSpPr txBox="1"/>
          <p:nvPr/>
        </p:nvSpPr>
        <p:spPr>
          <a:xfrm>
            <a:off x="749808" y="2029968"/>
            <a:ext cx="6675120" cy="10515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4200" b="1" dirty="0">
                <a:solidFill>
                  <a:srgbClr val="FFFFFF"/>
                </a:solidFill>
                <a:latin typeface="Helvetica"/>
              </a:rPr>
              <a:t>Designsystem,</a:t>
            </a:r>
            <a:endParaRPr lang="de-DE" sz="4200" dirty="0">
              <a:solidFill>
                <a:srgbClr val="FFFFFF"/>
              </a:solidFill>
              <a:latin typeface="Helvetica"/>
            </a:endParaRPr>
          </a:p>
          <a:p>
            <a:pPr algn="l"/>
            <a:r>
              <a:rPr lang="de-DE" sz="4200" b="1" dirty="0">
                <a:solidFill>
                  <a:srgbClr val="FFFFFF"/>
                </a:solidFill>
                <a:latin typeface="Helvetica"/>
              </a:rPr>
              <a:t>Master und Bausteine.</a:t>
            </a:r>
            <a:endParaRPr lang="de-DE" sz="4200" dirty="0">
              <a:solidFill>
                <a:srgbClr val="FFFFFF"/>
              </a:solidFill>
              <a:latin typeface="Helvetica"/>
            </a:endParaRPr>
          </a:p>
        </p:txBody>
      </p:sp>
      <p:sp>
        <p:nvSpPr>
          <p:cNvPr id="5" name="Shape 5"/>
          <p:cNvSpPr/>
          <p:nvPr/>
        </p:nvSpPr>
        <p:spPr>
          <a:xfrm>
            <a:off x="749808" y="3703320"/>
            <a:ext cx="4206240" cy="18288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6" name="Text 6"/>
          <p:cNvSpPr txBox="1"/>
          <p:nvPr/>
        </p:nvSpPr>
        <p:spPr>
          <a:xfrm>
            <a:off x="749808" y="4041648"/>
            <a:ext cx="6217920" cy="38404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1400" dirty="0">
                <a:solidFill>
                  <a:srgbClr val="9B9BA8"/>
                </a:solidFill>
                <a:latin typeface="Helvetica"/>
              </a:rPr>
              <a:t>Backup-Folien fuer Brand, Farben, Typografie, Grid und Komponenten.</a:t>
            </a:r>
            <a:endParaRPr lang="de-DE" sz="1400" dirty="0">
              <a:solidFill>
                <a:srgbClr val="9B9BA8"/>
              </a:solidFill>
              <a:latin typeface="Helvetica"/>
            </a:endParaRPr>
          </a:p>
        </p:txBody>
      </p:sp>
      <p:sp>
        <p:nvSpPr>
          <p:cNvPr id="7" name="Footer rule 7"/>
          <p:cNvSpPr/>
          <p:nvPr/>
        </p:nvSpPr>
        <p:spPr>
          <a:xfrm>
            <a:off x="566928" y="6419088"/>
            <a:ext cx="11045952" cy="5486"/>
          </a:xfrm>
          <a:prstGeom prst="rect">
            <a:avLst/>
          </a:prstGeom>
          <a:solidFill>
            <a:srgbClr val="4A4A4F"/>
          </a:solidFill>
          <a:ln>
            <a:noFill/>
          </a:ln>
        </p:spPr>
        <p:style/>
      </p:sp>
      <p:sp>
        <p:nvSpPr>
          <p:cNvPr id="8" name="Text 8"/>
          <p:cNvSpPr txBox="1"/>
          <p:nvPr/>
        </p:nvSpPr>
        <p:spPr>
          <a:xfrm>
            <a:off x="566928" y="6510528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680" dirty="0">
                <a:solidFill>
                  <a:srgbClr val="9B9BA8"/>
                </a:solidFill>
                <a:latin typeface="Courier"/>
              </a:rPr>
              <a:t>CAREVO VC / CONSULTING TEMPLATE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9" name="Text 9"/>
          <p:cNvSpPr txBox="1"/>
          <p:nvPr/>
        </p:nvSpPr>
        <p:spPr>
          <a:xfrm>
            <a:off x="4572000" y="6510528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680" dirty="0">
                <a:solidFill>
                  <a:srgbClr val="9B9BA8"/>
                </a:solidFill>
                <a:latin typeface="Courier"/>
              </a:rPr>
              <a:t>CONFIDENTIAL - TEMPLATE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10" name="Text 10"/>
          <p:cNvSpPr txBox="1"/>
          <p:nvPr/>
        </p:nvSpPr>
        <p:spPr>
          <a:xfrm>
            <a:off x="11018520" y="6510528"/>
            <a:ext cx="59436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r"/>
            <a:r>
              <a:rPr lang="de-DE" sz="680" dirty="0">
                <a:solidFill>
                  <a:srgbClr val="9B9BA8"/>
                </a:solidFill>
                <a:latin typeface="Courier"/>
              </a:rPr>
              <a:t>34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lor Syste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EVO accent bar 2"/>
          <p:cNvSpPr/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3" name="Text 3"/>
          <p:cNvSpPr txBox="1"/>
          <p:nvPr/>
        </p:nvSpPr>
        <p:spPr>
          <a:xfrm>
            <a:off x="566928" y="292608"/>
            <a:ext cx="429768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50" b="1" dirty="0">
                <a:solidFill>
                  <a:srgbClr val="9B9BA8"/>
                </a:solidFill>
                <a:latin typeface="Courier"/>
              </a:rPr>
              <a:t>APPENDIX</a:t>
            </a:r>
            <a:endParaRPr lang="de-DE" sz="75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4" name="Header rule 4"/>
          <p:cNvSpPr/>
          <p:nvPr/>
        </p:nvSpPr>
        <p:spPr>
          <a:xfrm>
            <a:off x="566928" y="658368"/>
            <a:ext cx="11045952" cy="5486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/>
      </p:sp>
      <p:sp>
        <p:nvSpPr>
          <p:cNvPr id="5" name="Text 5"/>
          <p:cNvSpPr txBox="1"/>
          <p:nvPr/>
        </p:nvSpPr>
        <p:spPr>
          <a:xfrm>
            <a:off x="566928" y="804672"/>
            <a:ext cx="10058400" cy="53035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2400" b="1" dirty="0">
                <a:solidFill>
                  <a:srgbClr val="0A0A0F"/>
                </a:solidFill>
                <a:latin typeface="Helvetica"/>
              </a:rPr>
              <a:t>Farben sind exakt aus den CAREVO Design-Dateien uebernommen</a:t>
            </a:r>
            <a:endParaRPr lang="de-DE" sz="24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6" name="Footer rule 6"/>
          <p:cNvSpPr/>
          <p:nvPr/>
        </p:nvSpPr>
        <p:spPr>
          <a:xfrm>
            <a:off x="566928" y="6419088"/>
            <a:ext cx="11045952" cy="5486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/>
      </p:sp>
      <p:sp>
        <p:nvSpPr>
          <p:cNvPr id="7" name="Text 7"/>
          <p:cNvSpPr txBox="1"/>
          <p:nvPr/>
        </p:nvSpPr>
        <p:spPr>
          <a:xfrm>
            <a:off x="566928" y="6510528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680" dirty="0">
                <a:solidFill>
                  <a:srgbClr val="9B9BA8"/>
                </a:solidFill>
                <a:latin typeface="Courier"/>
              </a:rPr>
              <a:t>CAREVO VC / CONSULTING TEMPLATE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8" name="Text 8"/>
          <p:cNvSpPr txBox="1"/>
          <p:nvPr/>
        </p:nvSpPr>
        <p:spPr>
          <a:xfrm>
            <a:off x="4572000" y="6510528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680" dirty="0">
                <a:solidFill>
                  <a:srgbClr val="9B9BA8"/>
                </a:solidFill>
                <a:latin typeface="Courier"/>
              </a:rPr>
              <a:t>CONFIDENTIAL - TEMPLATE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9" name="Text 9"/>
          <p:cNvSpPr txBox="1"/>
          <p:nvPr/>
        </p:nvSpPr>
        <p:spPr>
          <a:xfrm>
            <a:off x="11018520" y="6510528"/>
            <a:ext cx="59436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r"/>
            <a:r>
              <a:rPr lang="de-DE" sz="680" dirty="0">
                <a:solidFill>
                  <a:srgbClr val="9B9BA8"/>
                </a:solidFill>
                <a:latin typeface="Courier"/>
              </a:rPr>
              <a:t>35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10" name="Shape 10"/>
          <p:cNvSpPr/>
          <p:nvPr/>
        </p:nvSpPr>
        <p:spPr>
          <a:xfrm>
            <a:off x="749808" y="1627632"/>
            <a:ext cx="2057400" cy="713232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/>
      </p:sp>
      <p:sp>
        <p:nvSpPr>
          <p:cNvPr id="11" name="Text 11"/>
          <p:cNvSpPr txBox="1"/>
          <p:nvPr/>
        </p:nvSpPr>
        <p:spPr>
          <a:xfrm>
            <a:off x="749808" y="2505456"/>
            <a:ext cx="205740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00" dirty="0">
                <a:solidFill>
                  <a:srgbClr val="9B9BA8"/>
                </a:solidFill>
                <a:latin typeface="Courier"/>
              </a:rPr>
              <a:t>#0A0A0F</a:t>
            </a:r>
            <a:endParaRPr lang="de-DE" sz="70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12" name="Text 12"/>
          <p:cNvSpPr txBox="1"/>
          <p:nvPr/>
        </p:nvSpPr>
        <p:spPr>
          <a:xfrm>
            <a:off x="749808" y="2724912"/>
            <a:ext cx="205740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1000" b="1" dirty="0">
                <a:solidFill>
                  <a:srgbClr val="0A0A0F"/>
                </a:solidFill>
                <a:latin typeface="Helvetica"/>
              </a:rPr>
              <a:t>Tiefschwarz</a:t>
            </a:r>
            <a:endParaRPr lang="de-DE" sz="10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13" name="Text 13"/>
          <p:cNvSpPr txBox="1"/>
          <p:nvPr/>
        </p:nvSpPr>
        <p:spPr>
          <a:xfrm>
            <a:off x="749808" y="2926080"/>
            <a:ext cx="2057400" cy="1371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650" dirty="0">
                <a:solidFill>
                  <a:srgbClr val="9B9BA8"/>
                </a:solidFill>
                <a:latin typeface="Courier"/>
              </a:rPr>
              <a:t>Primaer / Verantwortung</a:t>
            </a:r>
            <a:endParaRPr lang="de-DE" sz="65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14" name="Shape 14"/>
          <p:cNvSpPr/>
          <p:nvPr/>
        </p:nvSpPr>
        <p:spPr>
          <a:xfrm>
            <a:off x="3264408" y="1627632"/>
            <a:ext cx="20574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15" name="Text 15"/>
          <p:cNvSpPr txBox="1"/>
          <p:nvPr/>
        </p:nvSpPr>
        <p:spPr>
          <a:xfrm>
            <a:off x="3264408" y="2505456"/>
            <a:ext cx="205740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00" dirty="0">
                <a:solidFill>
                  <a:srgbClr val="9B9BA8"/>
                </a:solidFill>
                <a:latin typeface="Courier"/>
              </a:rPr>
              <a:t>#FFFFFF</a:t>
            </a:r>
            <a:endParaRPr lang="de-DE" sz="70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16" name="Text 16"/>
          <p:cNvSpPr txBox="1"/>
          <p:nvPr/>
        </p:nvSpPr>
        <p:spPr>
          <a:xfrm>
            <a:off x="3264408" y="2724912"/>
            <a:ext cx="205740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1000" b="1" dirty="0">
                <a:solidFill>
                  <a:srgbClr val="0A0A0F"/>
                </a:solidFill>
                <a:latin typeface="Helvetica"/>
              </a:rPr>
              <a:t>Reinweiss</a:t>
            </a:r>
            <a:endParaRPr lang="de-DE" sz="10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17" name="Text 17"/>
          <p:cNvSpPr txBox="1"/>
          <p:nvPr/>
        </p:nvSpPr>
        <p:spPr>
          <a:xfrm>
            <a:off x="3264408" y="2926080"/>
            <a:ext cx="2057400" cy="1371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650" dirty="0">
                <a:solidFill>
                  <a:srgbClr val="9B9BA8"/>
                </a:solidFill>
                <a:latin typeface="Courier"/>
              </a:rPr>
              <a:t>Hintergrund / Klarheit</a:t>
            </a:r>
            <a:endParaRPr lang="de-DE" sz="65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18" name="Shape 18"/>
          <p:cNvSpPr/>
          <p:nvPr/>
        </p:nvSpPr>
        <p:spPr>
          <a:xfrm>
            <a:off x="5779008" y="1627632"/>
            <a:ext cx="2057400" cy="713232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19" name="Text 19"/>
          <p:cNvSpPr txBox="1"/>
          <p:nvPr/>
        </p:nvSpPr>
        <p:spPr>
          <a:xfrm>
            <a:off x="5779008" y="2505456"/>
            <a:ext cx="205740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00" dirty="0">
                <a:solidFill>
                  <a:srgbClr val="9B9BA8"/>
                </a:solidFill>
                <a:latin typeface="Courier"/>
              </a:rPr>
              <a:t>#1E6B72</a:t>
            </a:r>
            <a:endParaRPr lang="de-DE" sz="70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20" name="Text 20"/>
          <p:cNvSpPr txBox="1"/>
          <p:nvPr/>
        </p:nvSpPr>
        <p:spPr>
          <a:xfrm>
            <a:off x="5779008" y="2724912"/>
            <a:ext cx="205740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1000" b="1" dirty="0">
                <a:solidFill>
                  <a:srgbClr val="0A0A0F"/>
                </a:solidFill>
                <a:latin typeface="Helvetica"/>
              </a:rPr>
              <a:t>Medizinblaugruen</a:t>
            </a:r>
            <a:endParaRPr lang="de-DE" sz="10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21" name="Text 21"/>
          <p:cNvSpPr txBox="1"/>
          <p:nvPr/>
        </p:nvSpPr>
        <p:spPr>
          <a:xfrm>
            <a:off x="5779008" y="2926080"/>
            <a:ext cx="2057400" cy="1371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650" dirty="0">
                <a:solidFill>
                  <a:srgbClr val="9B9BA8"/>
                </a:solidFill>
                <a:latin typeface="Courier"/>
              </a:rPr>
              <a:t>Akzent / Aktion</a:t>
            </a:r>
            <a:endParaRPr lang="de-DE" sz="65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22" name="Shape 22"/>
          <p:cNvSpPr/>
          <p:nvPr/>
        </p:nvSpPr>
        <p:spPr>
          <a:xfrm>
            <a:off x="8293608" y="1627632"/>
            <a:ext cx="2057400" cy="713232"/>
          </a:xfrm>
          <a:prstGeom prst="rect">
            <a:avLst/>
          </a:prstGeom>
          <a:solidFill>
            <a:srgbClr val="F4F4F6"/>
          </a:solidFill>
          <a:ln>
            <a:noFill/>
          </a:ln>
        </p:spPr>
        <p:style/>
      </p:sp>
      <p:sp>
        <p:nvSpPr>
          <p:cNvPr id="23" name="Text 23"/>
          <p:cNvSpPr txBox="1"/>
          <p:nvPr/>
        </p:nvSpPr>
        <p:spPr>
          <a:xfrm>
            <a:off x="8293608" y="2505456"/>
            <a:ext cx="205740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00" dirty="0">
                <a:solidFill>
                  <a:srgbClr val="9B9BA8"/>
                </a:solidFill>
                <a:latin typeface="Courier"/>
              </a:rPr>
              <a:t>#F4F4F6</a:t>
            </a:r>
            <a:endParaRPr lang="de-DE" sz="70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24" name="Text 24"/>
          <p:cNvSpPr txBox="1"/>
          <p:nvPr/>
        </p:nvSpPr>
        <p:spPr>
          <a:xfrm>
            <a:off x="8293608" y="2724912"/>
            <a:ext cx="205740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1000" b="1" dirty="0">
                <a:solidFill>
                  <a:srgbClr val="0A0A0F"/>
                </a:solidFill>
                <a:latin typeface="Helvetica"/>
              </a:rPr>
              <a:t>Surface</a:t>
            </a:r>
            <a:endParaRPr lang="de-DE" sz="10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25" name="Text 25"/>
          <p:cNvSpPr txBox="1"/>
          <p:nvPr/>
        </p:nvSpPr>
        <p:spPr>
          <a:xfrm>
            <a:off x="8293608" y="2926080"/>
            <a:ext cx="2057400" cy="1371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650" dirty="0">
                <a:solidFill>
                  <a:srgbClr val="9B9BA8"/>
                </a:solidFill>
                <a:latin typeface="Courier"/>
              </a:rPr>
              <a:t>Flaechen</a:t>
            </a:r>
            <a:endParaRPr lang="de-DE" sz="65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26" name="Shape 26"/>
          <p:cNvSpPr/>
          <p:nvPr/>
        </p:nvSpPr>
        <p:spPr>
          <a:xfrm>
            <a:off x="749808" y="3227832"/>
            <a:ext cx="2057400" cy="713232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/>
      </p:sp>
      <p:sp>
        <p:nvSpPr>
          <p:cNvPr id="27" name="Text 27"/>
          <p:cNvSpPr txBox="1"/>
          <p:nvPr/>
        </p:nvSpPr>
        <p:spPr>
          <a:xfrm>
            <a:off x="749808" y="4105656"/>
            <a:ext cx="205740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00" dirty="0">
                <a:solidFill>
                  <a:srgbClr val="9B9BA8"/>
                </a:solidFill>
                <a:latin typeface="Courier"/>
              </a:rPr>
              <a:t>#E8E8EC</a:t>
            </a:r>
            <a:endParaRPr lang="de-DE" sz="70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28" name="Text 28"/>
          <p:cNvSpPr txBox="1"/>
          <p:nvPr/>
        </p:nvSpPr>
        <p:spPr>
          <a:xfrm>
            <a:off x="749808" y="4325112"/>
            <a:ext cx="205740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1000" b="1" dirty="0">
                <a:solidFill>
                  <a:srgbClr val="0A0A0F"/>
                </a:solidFill>
                <a:latin typeface="Helvetica"/>
              </a:rPr>
              <a:t>Border</a:t>
            </a:r>
            <a:endParaRPr lang="de-DE" sz="10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29" name="Text 29"/>
          <p:cNvSpPr txBox="1"/>
          <p:nvPr/>
        </p:nvSpPr>
        <p:spPr>
          <a:xfrm>
            <a:off x="749808" y="4526280"/>
            <a:ext cx="2057400" cy="1371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650" dirty="0">
                <a:solidFill>
                  <a:srgbClr val="9B9BA8"/>
                </a:solidFill>
                <a:latin typeface="Courier"/>
              </a:rPr>
              <a:t>Linien</a:t>
            </a:r>
            <a:endParaRPr lang="de-DE" sz="65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30" name="Shape 30"/>
          <p:cNvSpPr/>
          <p:nvPr/>
        </p:nvSpPr>
        <p:spPr>
          <a:xfrm>
            <a:off x="3264408" y="3227832"/>
            <a:ext cx="2057400" cy="713232"/>
          </a:xfrm>
          <a:prstGeom prst="rect">
            <a:avLst/>
          </a:prstGeom>
          <a:solidFill>
            <a:srgbClr val="9B9BA8"/>
          </a:solidFill>
          <a:ln>
            <a:noFill/>
          </a:ln>
        </p:spPr>
        <p:style/>
      </p:sp>
      <p:sp>
        <p:nvSpPr>
          <p:cNvPr id="31" name="Text 31"/>
          <p:cNvSpPr txBox="1"/>
          <p:nvPr/>
        </p:nvSpPr>
        <p:spPr>
          <a:xfrm>
            <a:off x="3264408" y="4105656"/>
            <a:ext cx="205740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00" dirty="0">
                <a:solidFill>
                  <a:srgbClr val="9B9BA8"/>
                </a:solidFill>
                <a:latin typeface="Courier"/>
              </a:rPr>
              <a:t>#9B9BA8</a:t>
            </a:r>
            <a:endParaRPr lang="de-DE" sz="70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32" name="Text 32"/>
          <p:cNvSpPr txBox="1"/>
          <p:nvPr/>
        </p:nvSpPr>
        <p:spPr>
          <a:xfrm>
            <a:off x="3264408" y="4325112"/>
            <a:ext cx="205740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1000" b="1" dirty="0">
                <a:solidFill>
                  <a:srgbClr val="0A0A0F"/>
                </a:solidFill>
                <a:latin typeface="Helvetica"/>
              </a:rPr>
              <a:t>Muted</a:t>
            </a:r>
            <a:endParaRPr lang="de-DE" sz="10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33" name="Text 33"/>
          <p:cNvSpPr txBox="1"/>
          <p:nvPr/>
        </p:nvSpPr>
        <p:spPr>
          <a:xfrm>
            <a:off x="3264408" y="4526280"/>
            <a:ext cx="2057400" cy="1371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650" dirty="0">
                <a:solidFill>
                  <a:srgbClr val="9B9BA8"/>
                </a:solidFill>
                <a:latin typeface="Courier"/>
              </a:rPr>
              <a:t>Hilfstext</a:t>
            </a:r>
            <a:endParaRPr lang="de-DE" sz="65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34" name="Shape 34"/>
          <p:cNvSpPr/>
          <p:nvPr/>
        </p:nvSpPr>
        <p:spPr>
          <a:xfrm>
            <a:off x="5779008" y="3227832"/>
            <a:ext cx="2057400" cy="713232"/>
          </a:xfrm>
          <a:prstGeom prst="rect">
            <a:avLst/>
          </a:prstGeom>
          <a:solidFill>
            <a:srgbClr val="4A4A4F"/>
          </a:solidFill>
          <a:ln>
            <a:noFill/>
          </a:ln>
        </p:spPr>
        <p:style/>
      </p:sp>
      <p:sp>
        <p:nvSpPr>
          <p:cNvPr id="35" name="Text 35"/>
          <p:cNvSpPr txBox="1"/>
          <p:nvPr/>
        </p:nvSpPr>
        <p:spPr>
          <a:xfrm>
            <a:off x="5779008" y="4105656"/>
            <a:ext cx="205740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00" dirty="0">
                <a:solidFill>
                  <a:srgbClr val="9B9BA8"/>
                </a:solidFill>
                <a:latin typeface="Courier"/>
              </a:rPr>
              <a:t>#4A4A4F</a:t>
            </a:r>
            <a:endParaRPr lang="de-DE" sz="70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36" name="Text 36"/>
          <p:cNvSpPr txBox="1"/>
          <p:nvPr/>
        </p:nvSpPr>
        <p:spPr>
          <a:xfrm>
            <a:off x="5779008" y="4325112"/>
            <a:ext cx="205740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1000" b="1" dirty="0">
                <a:solidFill>
                  <a:srgbClr val="0A0A0F"/>
                </a:solidFill>
                <a:latin typeface="Helvetica"/>
              </a:rPr>
              <a:t>Secondary</a:t>
            </a:r>
            <a:endParaRPr lang="de-DE" sz="10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37" name="Text 37"/>
          <p:cNvSpPr txBox="1"/>
          <p:nvPr/>
        </p:nvSpPr>
        <p:spPr>
          <a:xfrm>
            <a:off x="5779008" y="4526280"/>
            <a:ext cx="2057400" cy="1371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650" dirty="0">
                <a:solidFill>
                  <a:srgbClr val="9B9BA8"/>
                </a:solidFill>
                <a:latin typeface="Courier"/>
              </a:rPr>
              <a:t>Body / Labels</a:t>
            </a:r>
            <a:endParaRPr lang="de-DE" sz="65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38" name="Shape 38"/>
          <p:cNvSpPr/>
          <p:nvPr/>
        </p:nvSpPr>
        <p:spPr>
          <a:xfrm>
            <a:off x="8293608" y="3227832"/>
            <a:ext cx="2057400" cy="713232"/>
          </a:xfrm>
          <a:prstGeom prst="rect">
            <a:avLst/>
          </a:prstGeom>
          <a:solidFill>
            <a:srgbClr val="CC2929"/>
          </a:solidFill>
          <a:ln>
            <a:noFill/>
          </a:ln>
        </p:spPr>
        <p:style/>
      </p:sp>
      <p:sp>
        <p:nvSpPr>
          <p:cNvPr id="39" name="Text 39"/>
          <p:cNvSpPr txBox="1"/>
          <p:nvPr/>
        </p:nvSpPr>
        <p:spPr>
          <a:xfrm>
            <a:off x="8293608" y="4105656"/>
            <a:ext cx="205740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00" dirty="0">
                <a:solidFill>
                  <a:srgbClr val="9B9BA8"/>
                </a:solidFill>
                <a:latin typeface="Courier"/>
              </a:rPr>
              <a:t>#CC2929</a:t>
            </a:r>
            <a:endParaRPr lang="de-DE" sz="70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40" name="Text 40"/>
          <p:cNvSpPr txBox="1"/>
          <p:nvPr/>
        </p:nvSpPr>
        <p:spPr>
          <a:xfrm>
            <a:off x="8293608" y="4325112"/>
            <a:ext cx="205740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1000" b="1" dirty="0">
                <a:solidFill>
                  <a:srgbClr val="0A0A0F"/>
                </a:solidFill>
                <a:latin typeface="Helvetica"/>
              </a:rPr>
              <a:t>Error</a:t>
            </a:r>
            <a:endParaRPr lang="de-DE" sz="10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41" name="Text 41"/>
          <p:cNvSpPr txBox="1"/>
          <p:nvPr/>
        </p:nvSpPr>
        <p:spPr>
          <a:xfrm>
            <a:off x="8293608" y="4526280"/>
            <a:ext cx="2057400" cy="1371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650" dirty="0">
                <a:solidFill>
                  <a:srgbClr val="9B9BA8"/>
                </a:solidFill>
                <a:latin typeface="Courier"/>
              </a:rPr>
              <a:t>Kritisch</a:t>
            </a:r>
            <a:endParaRPr lang="de-DE" sz="650" dirty="0">
              <a:solidFill>
                <a:srgbClr val="9B9BA8"/>
              </a:solidFill>
              <a:latin typeface="Courier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ypography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EVO accent bar 2"/>
          <p:cNvSpPr/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3" name="Text 3"/>
          <p:cNvSpPr txBox="1"/>
          <p:nvPr/>
        </p:nvSpPr>
        <p:spPr>
          <a:xfrm>
            <a:off x="566928" y="292608"/>
            <a:ext cx="429768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50" b="1" dirty="0">
                <a:solidFill>
                  <a:srgbClr val="9B9BA8"/>
                </a:solidFill>
                <a:latin typeface="Courier"/>
              </a:rPr>
              <a:t>APPENDIX</a:t>
            </a:r>
            <a:endParaRPr lang="de-DE" sz="75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4" name="Header rule 4"/>
          <p:cNvSpPr/>
          <p:nvPr/>
        </p:nvSpPr>
        <p:spPr>
          <a:xfrm>
            <a:off x="566928" y="658368"/>
            <a:ext cx="11045952" cy="5486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/>
      </p:sp>
      <p:sp>
        <p:nvSpPr>
          <p:cNvPr id="5" name="Text 5"/>
          <p:cNvSpPr txBox="1"/>
          <p:nvPr/>
        </p:nvSpPr>
        <p:spPr>
          <a:xfrm>
            <a:off x="566928" y="804672"/>
            <a:ext cx="10058400" cy="53035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2400" b="1" dirty="0">
                <a:solidFill>
                  <a:srgbClr val="0A0A0F"/>
                </a:solidFill>
                <a:latin typeface="Helvetica"/>
              </a:rPr>
              <a:t>Typografie nutzt Helvetica und Courier als PowerPoint-sichere Brand-Umsetzung</a:t>
            </a:r>
            <a:endParaRPr lang="de-DE" sz="24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6" name="Footer rule 6"/>
          <p:cNvSpPr/>
          <p:nvPr/>
        </p:nvSpPr>
        <p:spPr>
          <a:xfrm>
            <a:off x="566928" y="6419088"/>
            <a:ext cx="11045952" cy="5486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/>
      </p:sp>
      <p:sp>
        <p:nvSpPr>
          <p:cNvPr id="7" name="Text 7"/>
          <p:cNvSpPr txBox="1"/>
          <p:nvPr/>
        </p:nvSpPr>
        <p:spPr>
          <a:xfrm>
            <a:off x="566928" y="6510528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680" dirty="0">
                <a:solidFill>
                  <a:srgbClr val="9B9BA8"/>
                </a:solidFill>
                <a:latin typeface="Courier"/>
              </a:rPr>
              <a:t>CAREVO VC / CONSULTING TEMPLATE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8" name="Text 8"/>
          <p:cNvSpPr txBox="1"/>
          <p:nvPr/>
        </p:nvSpPr>
        <p:spPr>
          <a:xfrm>
            <a:off x="4572000" y="6510528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680" dirty="0">
                <a:solidFill>
                  <a:srgbClr val="9B9BA8"/>
                </a:solidFill>
                <a:latin typeface="Courier"/>
              </a:rPr>
              <a:t>CONFIDENTIAL - TEMPLATE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9" name="Text 9"/>
          <p:cNvSpPr txBox="1"/>
          <p:nvPr/>
        </p:nvSpPr>
        <p:spPr>
          <a:xfrm>
            <a:off x="11018520" y="6510528"/>
            <a:ext cx="59436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r"/>
            <a:r>
              <a:rPr lang="de-DE" sz="680" dirty="0">
                <a:solidFill>
                  <a:srgbClr val="9B9BA8"/>
                </a:solidFill>
                <a:latin typeface="Courier"/>
              </a:rPr>
              <a:t>36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10" name="Shape 10"/>
          <p:cNvSpPr/>
          <p:nvPr/>
        </p:nvSpPr>
        <p:spPr>
          <a:xfrm>
            <a:off x="749808" y="1600200"/>
            <a:ext cx="4663440" cy="1143000"/>
          </a:xfrm>
          <a:prstGeom prst="rect">
            <a:avLst/>
          </a:prstGeom>
          <a:solidFill>
            <a:srgbClr val="F4F4F6"/>
          </a:solidFill>
          <a:ln w="6350">
            <a:solidFill>
              <a:srgbClr val="E8E8EC"/>
            </a:solidFill>
          </a:ln>
        </p:spPr>
        <p:style/>
      </p:sp>
      <p:sp>
        <p:nvSpPr>
          <p:cNvPr id="11" name="Text 11"/>
          <p:cNvSpPr txBox="1"/>
          <p:nvPr/>
        </p:nvSpPr>
        <p:spPr>
          <a:xfrm>
            <a:off x="960120" y="1874520"/>
            <a:ext cx="4023360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2200" b="1" dirty="0">
                <a:solidFill>
                  <a:srgbClr val="0A0A0F"/>
                </a:solidFill>
                <a:latin typeface="Helvetica"/>
              </a:rPr>
              <a:t>Helvetica</a:t>
            </a:r>
            <a:endParaRPr lang="de-DE" sz="22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12" name="Text 12"/>
          <p:cNvSpPr txBox="1"/>
          <p:nvPr/>
        </p:nvSpPr>
        <p:spPr>
          <a:xfrm>
            <a:off x="960120" y="2304288"/>
            <a:ext cx="4023360" cy="1463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50" dirty="0">
                <a:solidFill>
                  <a:srgbClr val="9B9BA8"/>
                </a:solidFill>
                <a:latin typeface="Courier"/>
              </a:rPr>
              <a:t>Primaere Schrift - alle Interface- und Pitch-Texte</a:t>
            </a:r>
            <a:endParaRPr lang="de-DE" sz="75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13" name="Shape 13"/>
          <p:cNvSpPr/>
          <p:nvPr/>
        </p:nvSpPr>
        <p:spPr>
          <a:xfrm>
            <a:off x="5806440" y="1600200"/>
            <a:ext cx="4663440" cy="1143000"/>
          </a:xfrm>
          <a:prstGeom prst="rect">
            <a:avLst/>
          </a:prstGeom>
          <a:solidFill>
            <a:srgbClr val="F4F4F6"/>
          </a:solidFill>
          <a:ln w="6350">
            <a:solidFill>
              <a:srgbClr val="E8E8EC"/>
            </a:solidFill>
          </a:ln>
        </p:spPr>
        <p:style/>
      </p:sp>
      <p:sp>
        <p:nvSpPr>
          <p:cNvPr id="14" name="Text 14"/>
          <p:cNvSpPr txBox="1"/>
          <p:nvPr/>
        </p:nvSpPr>
        <p:spPr>
          <a:xfrm>
            <a:off x="6016752" y="1874520"/>
            <a:ext cx="4023360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2200" b="1" dirty="0">
                <a:solidFill>
                  <a:srgbClr val="0A0A0F"/>
                </a:solidFill>
                <a:latin typeface="Courier"/>
              </a:rPr>
              <a:t>Courier</a:t>
            </a:r>
            <a:endParaRPr lang="de-DE" sz="2200" dirty="0">
              <a:solidFill>
                <a:srgbClr val="0A0A0F"/>
              </a:solidFill>
              <a:latin typeface="Courier"/>
            </a:endParaRPr>
          </a:p>
        </p:txBody>
      </p:sp>
      <p:sp>
        <p:nvSpPr>
          <p:cNvPr id="15" name="Text 15"/>
          <p:cNvSpPr txBox="1"/>
          <p:nvPr/>
        </p:nvSpPr>
        <p:spPr>
          <a:xfrm>
            <a:off x="6016752" y="2304288"/>
            <a:ext cx="4023360" cy="1463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50" dirty="0">
                <a:solidFill>
                  <a:srgbClr val="9B9BA8"/>
                </a:solidFill>
                <a:latin typeface="Courier"/>
              </a:rPr>
              <a:t>Monospace - Daten, Hex-Codes und Labels</a:t>
            </a:r>
            <a:endParaRPr lang="de-DE" sz="75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16" name="Text 16"/>
          <p:cNvSpPr txBox="1"/>
          <p:nvPr/>
        </p:nvSpPr>
        <p:spPr>
          <a:xfrm>
            <a:off x="822960" y="3246120"/>
            <a:ext cx="91440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00" b="1" dirty="0">
                <a:solidFill>
                  <a:srgbClr val="1E6B72"/>
                </a:solidFill>
                <a:latin typeface="Courier"/>
              </a:rPr>
              <a:t>72px</a:t>
            </a:r>
            <a:endParaRPr lang="de-DE" sz="700" dirty="0">
              <a:solidFill>
                <a:srgbClr val="1E6B72"/>
              </a:solidFill>
              <a:latin typeface="Courier"/>
            </a:endParaRPr>
          </a:p>
        </p:txBody>
      </p:sp>
      <p:sp>
        <p:nvSpPr>
          <p:cNvPr id="17" name="Text 17"/>
          <p:cNvSpPr txBox="1"/>
          <p:nvPr/>
        </p:nvSpPr>
        <p:spPr>
          <a:xfrm>
            <a:off x="1828800" y="3218688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2000" b="1" dirty="0">
                <a:solidFill>
                  <a:srgbClr val="0A0A0F"/>
                </a:solidFill>
                <a:latin typeface="Helvetica"/>
              </a:rPr>
              <a:t>Scale sample</a:t>
            </a:r>
            <a:endParaRPr lang="de-DE" sz="20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18" name="Text 18"/>
          <p:cNvSpPr txBox="1"/>
          <p:nvPr/>
        </p:nvSpPr>
        <p:spPr>
          <a:xfrm>
            <a:off x="822960" y="3566160"/>
            <a:ext cx="91440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00" b="1" dirty="0">
                <a:solidFill>
                  <a:srgbClr val="1E6B72"/>
                </a:solidFill>
                <a:latin typeface="Courier"/>
              </a:rPr>
              <a:t>48px</a:t>
            </a:r>
            <a:endParaRPr lang="de-DE" sz="700" dirty="0">
              <a:solidFill>
                <a:srgbClr val="1E6B72"/>
              </a:solidFill>
              <a:latin typeface="Courier"/>
            </a:endParaRPr>
          </a:p>
        </p:txBody>
      </p:sp>
      <p:sp>
        <p:nvSpPr>
          <p:cNvPr id="19" name="Text 19"/>
          <p:cNvSpPr txBox="1"/>
          <p:nvPr/>
        </p:nvSpPr>
        <p:spPr>
          <a:xfrm>
            <a:off x="1828800" y="3538728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1344" b="1" dirty="0">
                <a:solidFill>
                  <a:srgbClr val="0A0A0F"/>
                </a:solidFill>
                <a:latin typeface="Helvetica"/>
              </a:rPr>
              <a:t>Scale sample</a:t>
            </a:r>
            <a:endParaRPr lang="de-DE" sz="1344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20" name="Text 20"/>
          <p:cNvSpPr txBox="1"/>
          <p:nvPr/>
        </p:nvSpPr>
        <p:spPr>
          <a:xfrm>
            <a:off x="822960" y="3886200"/>
            <a:ext cx="91440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00" b="1" dirty="0">
                <a:solidFill>
                  <a:srgbClr val="1E6B72"/>
                </a:solidFill>
                <a:latin typeface="Courier"/>
              </a:rPr>
              <a:t>32px</a:t>
            </a:r>
            <a:endParaRPr lang="de-DE" sz="700" dirty="0">
              <a:solidFill>
                <a:srgbClr val="1E6B72"/>
              </a:solidFill>
              <a:latin typeface="Courier"/>
            </a:endParaRPr>
          </a:p>
        </p:txBody>
      </p:sp>
      <p:sp>
        <p:nvSpPr>
          <p:cNvPr id="21" name="Text 21"/>
          <p:cNvSpPr txBox="1"/>
          <p:nvPr/>
        </p:nvSpPr>
        <p:spPr>
          <a:xfrm>
            <a:off x="1828800" y="3858768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896" b="1" dirty="0">
                <a:solidFill>
                  <a:srgbClr val="0A0A0F"/>
                </a:solidFill>
                <a:latin typeface="Helvetica"/>
              </a:rPr>
              <a:t>Scale sample</a:t>
            </a:r>
            <a:endParaRPr lang="de-DE" sz="896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22" name="Text 22"/>
          <p:cNvSpPr txBox="1"/>
          <p:nvPr/>
        </p:nvSpPr>
        <p:spPr>
          <a:xfrm>
            <a:off x="822960" y="4206240"/>
            <a:ext cx="91440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00" b="1" dirty="0">
                <a:solidFill>
                  <a:srgbClr val="1E6B72"/>
                </a:solidFill>
                <a:latin typeface="Courier"/>
              </a:rPr>
              <a:t>22px</a:t>
            </a:r>
            <a:endParaRPr lang="de-DE" sz="700" dirty="0">
              <a:solidFill>
                <a:srgbClr val="1E6B72"/>
              </a:solidFill>
              <a:latin typeface="Courier"/>
            </a:endParaRPr>
          </a:p>
        </p:txBody>
      </p:sp>
      <p:sp>
        <p:nvSpPr>
          <p:cNvPr id="23" name="Text 23"/>
          <p:cNvSpPr txBox="1"/>
          <p:nvPr/>
        </p:nvSpPr>
        <p:spPr>
          <a:xfrm>
            <a:off x="1828800" y="4178808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616" b="1" dirty="0">
                <a:solidFill>
                  <a:srgbClr val="0A0A0F"/>
                </a:solidFill>
                <a:latin typeface="Helvetica"/>
              </a:rPr>
              <a:t>Scale sample</a:t>
            </a:r>
            <a:endParaRPr lang="de-DE" sz="616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24" name="Text 24"/>
          <p:cNvSpPr txBox="1"/>
          <p:nvPr/>
        </p:nvSpPr>
        <p:spPr>
          <a:xfrm>
            <a:off x="822960" y="4526280"/>
            <a:ext cx="91440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00" b="1" dirty="0">
                <a:solidFill>
                  <a:srgbClr val="1E6B72"/>
                </a:solidFill>
                <a:latin typeface="Courier"/>
              </a:rPr>
              <a:t>16px</a:t>
            </a:r>
            <a:endParaRPr lang="de-DE" sz="700" dirty="0">
              <a:solidFill>
                <a:srgbClr val="1E6B72"/>
              </a:solidFill>
              <a:latin typeface="Courier"/>
            </a:endParaRPr>
          </a:p>
        </p:txBody>
      </p:sp>
      <p:sp>
        <p:nvSpPr>
          <p:cNvPr id="25" name="Text 25"/>
          <p:cNvSpPr txBox="1"/>
          <p:nvPr/>
        </p:nvSpPr>
        <p:spPr>
          <a:xfrm>
            <a:off x="1828800" y="4498848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448" b="1" dirty="0">
                <a:solidFill>
                  <a:srgbClr val="0A0A0F"/>
                </a:solidFill>
                <a:latin typeface="Helvetica"/>
              </a:rPr>
              <a:t>Scale sample</a:t>
            </a:r>
            <a:endParaRPr lang="de-DE" sz="448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26" name="Text 26"/>
          <p:cNvSpPr txBox="1"/>
          <p:nvPr/>
        </p:nvSpPr>
        <p:spPr>
          <a:xfrm>
            <a:off x="822960" y="4846320"/>
            <a:ext cx="91440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00" b="1" dirty="0">
                <a:solidFill>
                  <a:srgbClr val="1E6B72"/>
                </a:solidFill>
                <a:latin typeface="Courier"/>
              </a:rPr>
              <a:t>13px</a:t>
            </a:r>
            <a:endParaRPr lang="de-DE" sz="700" dirty="0">
              <a:solidFill>
                <a:srgbClr val="1E6B72"/>
              </a:solidFill>
              <a:latin typeface="Courier"/>
            </a:endParaRPr>
          </a:p>
        </p:txBody>
      </p:sp>
      <p:sp>
        <p:nvSpPr>
          <p:cNvPr id="27" name="Text 27"/>
          <p:cNvSpPr txBox="1"/>
          <p:nvPr/>
        </p:nvSpPr>
        <p:spPr>
          <a:xfrm>
            <a:off x="1828800" y="4818888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364" b="1" dirty="0">
                <a:solidFill>
                  <a:srgbClr val="0A0A0F"/>
                </a:solidFill>
                <a:latin typeface="Helvetica"/>
              </a:rPr>
              <a:t>Scale sample</a:t>
            </a:r>
            <a:endParaRPr lang="de-DE" sz="364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28" name="Text 28"/>
          <p:cNvSpPr txBox="1"/>
          <p:nvPr/>
        </p:nvSpPr>
        <p:spPr>
          <a:xfrm>
            <a:off x="822960" y="5166360"/>
            <a:ext cx="91440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00" b="1" dirty="0">
                <a:solidFill>
                  <a:srgbClr val="1E6B72"/>
                </a:solidFill>
                <a:latin typeface="Courier"/>
              </a:rPr>
              <a:t>11px</a:t>
            </a:r>
            <a:endParaRPr lang="de-DE" sz="700" dirty="0">
              <a:solidFill>
                <a:srgbClr val="1E6B72"/>
              </a:solidFill>
              <a:latin typeface="Courier"/>
            </a:endParaRPr>
          </a:p>
        </p:txBody>
      </p:sp>
      <p:sp>
        <p:nvSpPr>
          <p:cNvPr id="29" name="Text 29"/>
          <p:cNvSpPr txBox="1"/>
          <p:nvPr/>
        </p:nvSpPr>
        <p:spPr>
          <a:xfrm>
            <a:off x="1828800" y="5138928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308" b="1" dirty="0">
                <a:solidFill>
                  <a:srgbClr val="0A0A0F"/>
                </a:solidFill>
                <a:latin typeface="Helvetica"/>
              </a:rPr>
              <a:t>Scale sample</a:t>
            </a:r>
            <a:endParaRPr lang="de-DE" sz="308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30" name="Shape 30"/>
          <p:cNvSpPr/>
          <p:nvPr/>
        </p:nvSpPr>
        <p:spPr>
          <a:xfrm>
            <a:off x="6583680" y="3246120"/>
            <a:ext cx="33832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31" name="Text 31"/>
          <p:cNvSpPr txBox="1"/>
          <p:nvPr/>
        </p:nvSpPr>
        <p:spPr>
          <a:xfrm>
            <a:off x="6812280" y="3493008"/>
            <a:ext cx="283464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1400" b="1" dirty="0">
                <a:solidFill>
                  <a:srgbClr val="0A0A0F"/>
                </a:solidFill>
                <a:latin typeface="Helvetica"/>
              </a:rPr>
              <a:t>8px Raster</a:t>
            </a:r>
            <a:endParaRPr lang="de-DE" sz="14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32" name="Text 32"/>
          <p:cNvSpPr txBox="1"/>
          <p:nvPr/>
        </p:nvSpPr>
        <p:spPr>
          <a:xfrm>
            <a:off x="6812280" y="388620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900" dirty="0">
                <a:solidFill>
                  <a:srgbClr val="4A4A4F"/>
                </a:solidFill>
                <a:latin typeface="Helvetica"/>
              </a:rPr>
              <a:t>Abstaende in Vielfachen von 8px; im Deck als konsistenter Punkt-/Inch-Rhythmus umgesetzt.</a:t>
            </a:r>
            <a:endParaRPr lang="de-DE" sz="900" dirty="0">
              <a:solidFill>
                <a:srgbClr val="4A4A4F"/>
              </a:solidFill>
              <a:latin typeface="Helvetic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nent Libr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EVO accent bar 2"/>
          <p:cNvSpPr/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3" name="Text 3"/>
          <p:cNvSpPr txBox="1"/>
          <p:nvPr/>
        </p:nvSpPr>
        <p:spPr>
          <a:xfrm>
            <a:off x="566928" y="292608"/>
            <a:ext cx="429768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50" b="1" dirty="0">
                <a:solidFill>
                  <a:srgbClr val="9B9BA8"/>
                </a:solidFill>
                <a:latin typeface="Courier"/>
              </a:rPr>
              <a:t>APPENDIX</a:t>
            </a:r>
            <a:endParaRPr lang="de-DE" sz="75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4" name="Header rule 4"/>
          <p:cNvSpPr/>
          <p:nvPr/>
        </p:nvSpPr>
        <p:spPr>
          <a:xfrm>
            <a:off x="566928" y="658368"/>
            <a:ext cx="11045952" cy="5486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/>
      </p:sp>
      <p:sp>
        <p:nvSpPr>
          <p:cNvPr id="5" name="Text 5"/>
          <p:cNvSpPr txBox="1"/>
          <p:nvPr/>
        </p:nvSpPr>
        <p:spPr>
          <a:xfrm>
            <a:off x="566928" y="804672"/>
            <a:ext cx="10058400" cy="53035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2400" b="1" dirty="0">
                <a:solidFill>
                  <a:srgbClr val="0A0A0F"/>
                </a:solidFill>
                <a:latin typeface="Helvetica"/>
              </a:rPr>
              <a:t>Komponenten bleiben ruhig: Buttons, Karten, Tabellen und Status</a:t>
            </a:r>
            <a:endParaRPr lang="de-DE" sz="24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6" name="Footer rule 6"/>
          <p:cNvSpPr/>
          <p:nvPr/>
        </p:nvSpPr>
        <p:spPr>
          <a:xfrm>
            <a:off x="566928" y="6419088"/>
            <a:ext cx="11045952" cy="5486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/>
      </p:sp>
      <p:sp>
        <p:nvSpPr>
          <p:cNvPr id="7" name="Text 7"/>
          <p:cNvSpPr txBox="1"/>
          <p:nvPr/>
        </p:nvSpPr>
        <p:spPr>
          <a:xfrm>
            <a:off x="566928" y="6510528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680" dirty="0">
                <a:solidFill>
                  <a:srgbClr val="9B9BA8"/>
                </a:solidFill>
                <a:latin typeface="Courier"/>
              </a:rPr>
              <a:t>CAREVO VC / CONSULTING TEMPLATE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8" name="Text 8"/>
          <p:cNvSpPr txBox="1"/>
          <p:nvPr/>
        </p:nvSpPr>
        <p:spPr>
          <a:xfrm>
            <a:off x="4572000" y="6510528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680" dirty="0">
                <a:solidFill>
                  <a:srgbClr val="9B9BA8"/>
                </a:solidFill>
                <a:latin typeface="Courier"/>
              </a:rPr>
              <a:t>CONFIDENTIAL - TEMPLATE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9" name="Text 9"/>
          <p:cNvSpPr txBox="1"/>
          <p:nvPr/>
        </p:nvSpPr>
        <p:spPr>
          <a:xfrm>
            <a:off x="11018520" y="6510528"/>
            <a:ext cx="59436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r"/>
            <a:r>
              <a:rPr lang="de-DE" sz="680" dirty="0">
                <a:solidFill>
                  <a:srgbClr val="9B9BA8"/>
                </a:solidFill>
                <a:latin typeface="Courier"/>
              </a:rPr>
              <a:t>37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10" name="Shape 10"/>
          <p:cNvSpPr/>
          <p:nvPr/>
        </p:nvSpPr>
        <p:spPr>
          <a:xfrm>
            <a:off x="822960" y="1783080"/>
            <a:ext cx="1463040" cy="347472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11" name="Text 11"/>
          <p:cNvSpPr txBox="1"/>
          <p:nvPr/>
        </p:nvSpPr>
        <p:spPr>
          <a:xfrm>
            <a:off x="1005840" y="1883664"/>
            <a:ext cx="1097280" cy="10972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750" b="1" dirty="0">
                <a:solidFill>
                  <a:srgbClr val="FFFFFF"/>
                </a:solidFill>
                <a:latin typeface="Helvetica"/>
              </a:rPr>
              <a:t>Primary CTA</a:t>
            </a:r>
            <a:endParaRPr lang="de-DE" sz="750" dirty="0">
              <a:solidFill>
                <a:srgbClr val="FFFFFF"/>
              </a:solidFill>
              <a:latin typeface="Helvetica"/>
            </a:endParaRPr>
          </a:p>
        </p:txBody>
      </p:sp>
      <p:sp>
        <p:nvSpPr>
          <p:cNvPr id="12" name="Shape 12"/>
          <p:cNvSpPr/>
          <p:nvPr/>
        </p:nvSpPr>
        <p:spPr>
          <a:xfrm>
            <a:off x="2560320" y="1783080"/>
            <a:ext cx="1417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0A0A0F"/>
            </a:solidFill>
          </a:ln>
        </p:spPr>
        <p:style/>
      </p:sp>
      <p:sp>
        <p:nvSpPr>
          <p:cNvPr id="13" name="Text 13"/>
          <p:cNvSpPr txBox="1"/>
          <p:nvPr/>
        </p:nvSpPr>
        <p:spPr>
          <a:xfrm>
            <a:off x="2761488" y="1883664"/>
            <a:ext cx="1005840" cy="10972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750" dirty="0">
                <a:solidFill>
                  <a:srgbClr val="0A0A0F"/>
                </a:solidFill>
                <a:latin typeface="Helvetica"/>
              </a:rPr>
              <a:t>Secondary</a:t>
            </a:r>
            <a:endParaRPr lang="de-DE" sz="75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14" name="Shape 14"/>
          <p:cNvSpPr/>
          <p:nvPr/>
        </p:nvSpPr>
        <p:spPr>
          <a:xfrm>
            <a:off x="4251960" y="1783080"/>
            <a:ext cx="14173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15" name="Text 15"/>
          <p:cNvSpPr txBox="1"/>
          <p:nvPr/>
        </p:nvSpPr>
        <p:spPr>
          <a:xfrm>
            <a:off x="4462272" y="1883664"/>
            <a:ext cx="960120" cy="10972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750" dirty="0">
                <a:solidFill>
                  <a:srgbClr val="4A4A4F"/>
                </a:solidFill>
                <a:latin typeface="Helvetica"/>
              </a:rPr>
              <a:t>Ghost</a:t>
            </a:r>
            <a:endParaRPr lang="de-DE" sz="75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16" name="Card 16"/>
          <p:cNvSpPr/>
          <p:nvPr/>
        </p:nvSpPr>
        <p:spPr>
          <a:xfrm>
            <a:off x="822960" y="2670048"/>
            <a:ext cx="28346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17" name="Card marker 17"/>
          <p:cNvSpPr/>
          <p:nvPr/>
        </p:nvSpPr>
        <p:spPr>
          <a:xfrm>
            <a:off x="969264" y="2834640"/>
            <a:ext cx="36576" cy="36576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18" name="Text 18"/>
          <p:cNvSpPr txBox="1"/>
          <p:nvPr/>
        </p:nvSpPr>
        <p:spPr>
          <a:xfrm>
            <a:off x="969264" y="2953512"/>
            <a:ext cx="2542032" cy="1463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680" b="1" dirty="0">
                <a:solidFill>
                  <a:srgbClr val="9B9BA8"/>
                </a:solidFill>
                <a:latin typeface="Courier"/>
              </a:rPr>
              <a:t>FEATURE CARD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19" name="Text 19"/>
          <p:cNvSpPr txBox="1"/>
          <p:nvPr/>
        </p:nvSpPr>
        <p:spPr>
          <a:xfrm>
            <a:off x="969264" y="3172968"/>
            <a:ext cx="2542032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1300" b="1" dirty="0">
                <a:solidFill>
                  <a:srgbClr val="0A0A0F"/>
                </a:solidFill>
                <a:latin typeface="Helvetica"/>
              </a:rPr>
              <a:t>Beratungsdoku</a:t>
            </a:r>
            <a:endParaRPr lang="de-DE" sz="13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20" name="Text 20"/>
          <p:cNvSpPr txBox="1"/>
          <p:nvPr/>
        </p:nvSpPr>
        <p:spPr>
          <a:xfrm>
            <a:off x="969264" y="3566160"/>
            <a:ext cx="2542032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920" dirty="0">
                <a:solidFill>
                  <a:srgbClr val="4A4A4F"/>
                </a:solidFill>
                <a:latin typeface="Helvetica"/>
              </a:rPr>
              <a:t>Audio -&gt; Entwurf -&gt; Freigabe in einem pruefbaren Flow.</a:t>
            </a:r>
            <a:endParaRPr lang="de-DE" sz="92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21" name="Table header 21"/>
          <p:cNvSpPr/>
          <p:nvPr/>
        </p:nvSpPr>
        <p:spPr>
          <a:xfrm>
            <a:off x="4160520" y="2670048"/>
            <a:ext cx="5029200" cy="36576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/>
      </p:sp>
      <p:sp>
        <p:nvSpPr>
          <p:cNvPr id="22" name="Text 22"/>
          <p:cNvSpPr txBox="1"/>
          <p:nvPr/>
        </p:nvSpPr>
        <p:spPr>
          <a:xfrm>
            <a:off x="4233672" y="2761488"/>
            <a:ext cx="1225296" cy="23774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40" b="1" dirty="0">
                <a:solidFill>
                  <a:srgbClr val="FFFFFF"/>
                </a:solidFill>
                <a:latin typeface="Courier"/>
              </a:rPr>
              <a:t>Item</a:t>
            </a:r>
            <a:endParaRPr lang="de-DE" sz="740" dirty="0">
              <a:solidFill>
                <a:srgbClr val="FFFFFF"/>
              </a:solidFill>
              <a:latin typeface="Courier"/>
            </a:endParaRPr>
          </a:p>
        </p:txBody>
      </p:sp>
      <p:sp>
        <p:nvSpPr>
          <p:cNvPr id="23" name="Text 23"/>
          <p:cNvSpPr txBox="1"/>
          <p:nvPr/>
        </p:nvSpPr>
        <p:spPr>
          <a:xfrm>
            <a:off x="5605272" y="2761488"/>
            <a:ext cx="1088136" cy="23774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40" b="1" dirty="0">
                <a:solidFill>
                  <a:srgbClr val="FFFFFF"/>
                </a:solidFill>
                <a:latin typeface="Courier"/>
              </a:rPr>
              <a:t>Status</a:t>
            </a:r>
            <a:endParaRPr lang="de-DE" sz="740" dirty="0">
              <a:solidFill>
                <a:srgbClr val="FFFFFF"/>
              </a:solidFill>
              <a:latin typeface="Courier"/>
            </a:endParaRPr>
          </a:p>
        </p:txBody>
      </p:sp>
      <p:sp>
        <p:nvSpPr>
          <p:cNvPr id="24" name="Text 24"/>
          <p:cNvSpPr txBox="1"/>
          <p:nvPr/>
        </p:nvSpPr>
        <p:spPr>
          <a:xfrm>
            <a:off x="6839712" y="2761488"/>
            <a:ext cx="1088136" cy="23774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40" b="1" dirty="0">
                <a:solidFill>
                  <a:srgbClr val="FFFFFF"/>
                </a:solidFill>
                <a:latin typeface="Courier"/>
              </a:rPr>
              <a:t>Owner</a:t>
            </a:r>
            <a:endParaRPr lang="de-DE" sz="740" dirty="0">
              <a:solidFill>
                <a:srgbClr val="FFFFFF"/>
              </a:solidFill>
              <a:latin typeface="Courier"/>
            </a:endParaRPr>
          </a:p>
        </p:txBody>
      </p:sp>
      <p:sp>
        <p:nvSpPr>
          <p:cNvPr id="25" name="Text 25"/>
          <p:cNvSpPr txBox="1"/>
          <p:nvPr/>
        </p:nvSpPr>
        <p:spPr>
          <a:xfrm>
            <a:off x="8074152" y="2761488"/>
            <a:ext cx="1042416" cy="23774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40" b="1" dirty="0">
                <a:solidFill>
                  <a:srgbClr val="FFFFFF"/>
                </a:solidFill>
                <a:latin typeface="Courier"/>
              </a:rPr>
              <a:t>Date</a:t>
            </a:r>
            <a:endParaRPr lang="de-DE" sz="740" dirty="0">
              <a:solidFill>
                <a:srgbClr val="FFFFFF"/>
              </a:solidFill>
              <a:latin typeface="Courier"/>
            </a:endParaRPr>
          </a:p>
        </p:txBody>
      </p:sp>
      <p:sp>
        <p:nvSpPr>
          <p:cNvPr id="26" name="Table cell 26"/>
          <p:cNvSpPr/>
          <p:nvPr/>
        </p:nvSpPr>
        <p:spPr>
          <a:xfrm>
            <a:off x="4160520" y="3035808"/>
            <a:ext cx="1371600" cy="365760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27" name="Text 27"/>
          <p:cNvSpPr txBox="1"/>
          <p:nvPr/>
        </p:nvSpPr>
        <p:spPr>
          <a:xfrm>
            <a:off x="4233672" y="3136392"/>
            <a:ext cx="1225296" cy="23774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0A0A0F"/>
                </a:solidFill>
                <a:latin typeface="Helvetica"/>
              </a:rPr>
              <a:t>Draft</a:t>
            </a:r>
            <a:endParaRPr lang="de-DE" sz="76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28" name="Table cell 28"/>
          <p:cNvSpPr/>
          <p:nvPr/>
        </p:nvSpPr>
        <p:spPr>
          <a:xfrm>
            <a:off x="5532120" y="3035808"/>
            <a:ext cx="1234440" cy="365760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29" name="Text 29"/>
          <p:cNvSpPr txBox="1"/>
          <p:nvPr/>
        </p:nvSpPr>
        <p:spPr>
          <a:xfrm>
            <a:off x="5605272" y="3136392"/>
            <a:ext cx="1088136" cy="23774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open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30" name="Table cell 30"/>
          <p:cNvSpPr/>
          <p:nvPr/>
        </p:nvSpPr>
        <p:spPr>
          <a:xfrm>
            <a:off x="6766560" y="3035808"/>
            <a:ext cx="1234440" cy="365760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31" name="Text 31"/>
          <p:cNvSpPr txBox="1"/>
          <p:nvPr/>
        </p:nvSpPr>
        <p:spPr>
          <a:xfrm>
            <a:off x="6839712" y="3136392"/>
            <a:ext cx="1088136" cy="23774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Ops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32" name="Table cell 32"/>
          <p:cNvSpPr/>
          <p:nvPr/>
        </p:nvSpPr>
        <p:spPr>
          <a:xfrm>
            <a:off x="8001000" y="3035808"/>
            <a:ext cx="1188720" cy="365760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33" name="Text 33"/>
          <p:cNvSpPr txBox="1"/>
          <p:nvPr/>
        </p:nvSpPr>
        <p:spPr>
          <a:xfrm>
            <a:off x="8074152" y="3136392"/>
            <a:ext cx="1042416" cy="23774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T+1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34" name="Table cell 34"/>
          <p:cNvSpPr/>
          <p:nvPr/>
        </p:nvSpPr>
        <p:spPr>
          <a:xfrm>
            <a:off x="4160520" y="3401568"/>
            <a:ext cx="1371600" cy="365760"/>
          </a:xfrm>
          <a:prstGeom prst="rect">
            <a:avLst/>
          </a:prstGeom>
          <a:solidFill>
            <a:srgbClr val="FFFFFF"/>
          </a:solidFill>
          <a:ln w="4445">
            <a:solidFill>
              <a:srgbClr val="E8E8EC"/>
            </a:solidFill>
          </a:ln>
        </p:spPr>
        <p:style/>
      </p:sp>
      <p:sp>
        <p:nvSpPr>
          <p:cNvPr id="35" name="Text 35"/>
          <p:cNvSpPr txBox="1"/>
          <p:nvPr/>
        </p:nvSpPr>
        <p:spPr>
          <a:xfrm>
            <a:off x="4233672" y="3502152"/>
            <a:ext cx="1225296" cy="23774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0A0A0F"/>
                </a:solidFill>
                <a:latin typeface="Helvetica"/>
              </a:rPr>
              <a:t>Review</a:t>
            </a:r>
            <a:endParaRPr lang="de-DE" sz="76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36" name="Table cell 36"/>
          <p:cNvSpPr/>
          <p:nvPr/>
        </p:nvSpPr>
        <p:spPr>
          <a:xfrm>
            <a:off x="5532120" y="3401568"/>
            <a:ext cx="1234440" cy="365760"/>
          </a:xfrm>
          <a:prstGeom prst="rect">
            <a:avLst/>
          </a:prstGeom>
          <a:solidFill>
            <a:srgbClr val="FFFFFF"/>
          </a:solidFill>
          <a:ln w="4445">
            <a:solidFill>
              <a:srgbClr val="E8E8EC"/>
            </a:solidFill>
          </a:ln>
        </p:spPr>
        <p:style/>
      </p:sp>
      <p:sp>
        <p:nvSpPr>
          <p:cNvPr id="37" name="Text 37"/>
          <p:cNvSpPr txBox="1"/>
          <p:nvPr/>
        </p:nvSpPr>
        <p:spPr>
          <a:xfrm>
            <a:off x="5605272" y="3502152"/>
            <a:ext cx="1088136" cy="23774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ready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38" name="Table cell 38"/>
          <p:cNvSpPr/>
          <p:nvPr/>
        </p:nvSpPr>
        <p:spPr>
          <a:xfrm>
            <a:off x="6766560" y="3401568"/>
            <a:ext cx="1234440" cy="365760"/>
          </a:xfrm>
          <a:prstGeom prst="rect">
            <a:avLst/>
          </a:prstGeom>
          <a:solidFill>
            <a:srgbClr val="FFFFFF"/>
          </a:solidFill>
          <a:ln w="4445">
            <a:solidFill>
              <a:srgbClr val="E8E8EC"/>
            </a:solidFill>
          </a:ln>
        </p:spPr>
        <p:style/>
      </p:sp>
      <p:sp>
        <p:nvSpPr>
          <p:cNvPr id="39" name="Text 39"/>
          <p:cNvSpPr txBox="1"/>
          <p:nvPr/>
        </p:nvSpPr>
        <p:spPr>
          <a:xfrm>
            <a:off x="6839712" y="3502152"/>
            <a:ext cx="1088136" cy="23774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Clinical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40" name="Table cell 40"/>
          <p:cNvSpPr/>
          <p:nvPr/>
        </p:nvSpPr>
        <p:spPr>
          <a:xfrm>
            <a:off x="8001000" y="3401568"/>
            <a:ext cx="1188720" cy="365760"/>
          </a:xfrm>
          <a:prstGeom prst="rect">
            <a:avLst/>
          </a:prstGeom>
          <a:solidFill>
            <a:srgbClr val="FFFFFF"/>
          </a:solidFill>
          <a:ln w="4445">
            <a:solidFill>
              <a:srgbClr val="E8E8EC"/>
            </a:solidFill>
          </a:ln>
        </p:spPr>
        <p:style/>
      </p:sp>
      <p:sp>
        <p:nvSpPr>
          <p:cNvPr id="41" name="Text 41"/>
          <p:cNvSpPr txBox="1"/>
          <p:nvPr/>
        </p:nvSpPr>
        <p:spPr>
          <a:xfrm>
            <a:off x="8074152" y="3502152"/>
            <a:ext cx="1042416" cy="23774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T+3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42" name="Table cell 42"/>
          <p:cNvSpPr/>
          <p:nvPr/>
        </p:nvSpPr>
        <p:spPr>
          <a:xfrm>
            <a:off x="4160520" y="3767328"/>
            <a:ext cx="1371600" cy="365760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43" name="Text 43"/>
          <p:cNvSpPr txBox="1"/>
          <p:nvPr/>
        </p:nvSpPr>
        <p:spPr>
          <a:xfrm>
            <a:off x="4233672" y="3867912"/>
            <a:ext cx="1225296" cy="23774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0A0A0F"/>
                </a:solidFill>
                <a:latin typeface="Helvetica"/>
              </a:rPr>
              <a:t>Export</a:t>
            </a:r>
            <a:endParaRPr lang="de-DE" sz="76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44" name="Table cell 44"/>
          <p:cNvSpPr/>
          <p:nvPr/>
        </p:nvSpPr>
        <p:spPr>
          <a:xfrm>
            <a:off x="5532120" y="3767328"/>
            <a:ext cx="1234440" cy="365760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45" name="Text 45"/>
          <p:cNvSpPr txBox="1"/>
          <p:nvPr/>
        </p:nvSpPr>
        <p:spPr>
          <a:xfrm>
            <a:off x="5605272" y="3867912"/>
            <a:ext cx="1088136" cy="23774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blocked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46" name="Table cell 46"/>
          <p:cNvSpPr/>
          <p:nvPr/>
        </p:nvSpPr>
        <p:spPr>
          <a:xfrm>
            <a:off x="6766560" y="3767328"/>
            <a:ext cx="1234440" cy="365760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47" name="Text 47"/>
          <p:cNvSpPr txBox="1"/>
          <p:nvPr/>
        </p:nvSpPr>
        <p:spPr>
          <a:xfrm>
            <a:off x="6839712" y="3867912"/>
            <a:ext cx="1088136" cy="23774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IT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48" name="Table cell 48"/>
          <p:cNvSpPr/>
          <p:nvPr/>
        </p:nvSpPr>
        <p:spPr>
          <a:xfrm>
            <a:off x="8001000" y="3767328"/>
            <a:ext cx="1188720" cy="365760"/>
          </a:xfrm>
          <a:prstGeom prst="rect">
            <a:avLst/>
          </a:prstGeom>
          <a:solidFill>
            <a:srgbClr val="F4F4F6"/>
          </a:solidFill>
          <a:ln w="4445">
            <a:solidFill>
              <a:srgbClr val="E8E8EC"/>
            </a:solidFill>
          </a:ln>
        </p:spPr>
        <p:style/>
      </p:sp>
      <p:sp>
        <p:nvSpPr>
          <p:cNvPr id="49" name="Text 49"/>
          <p:cNvSpPr txBox="1"/>
          <p:nvPr/>
        </p:nvSpPr>
        <p:spPr>
          <a:xfrm>
            <a:off x="8074152" y="3867912"/>
            <a:ext cx="1042416" cy="23774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60" dirty="0">
                <a:solidFill>
                  <a:srgbClr val="4A4A4F"/>
                </a:solidFill>
                <a:latin typeface="Helvetica"/>
              </a:rPr>
              <a:t>T+5</a:t>
            </a:r>
            <a:endParaRPr lang="de-DE" sz="760" dirty="0">
              <a:solidFill>
                <a:srgbClr val="4A4A4F"/>
              </a:solidFill>
              <a:latin typeface="Helvetic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aster Us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EVO accent bar 2"/>
          <p:cNvSpPr/>
          <p:nvPr/>
        </p:nvSpPr>
        <p:spPr>
          <a:xfrm>
            <a:off x="0" y="0"/>
            <a:ext cx="41148" cy="6858000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3" name="Text 3"/>
          <p:cNvSpPr txBox="1"/>
          <p:nvPr/>
        </p:nvSpPr>
        <p:spPr>
          <a:xfrm>
            <a:off x="566928" y="292608"/>
            <a:ext cx="429768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750" b="1" dirty="0">
                <a:solidFill>
                  <a:srgbClr val="9B9BA8"/>
                </a:solidFill>
                <a:latin typeface="Courier"/>
              </a:rPr>
              <a:t>APPENDIX</a:t>
            </a:r>
            <a:endParaRPr lang="de-DE" sz="75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4" name="Header rule 4"/>
          <p:cNvSpPr/>
          <p:nvPr/>
        </p:nvSpPr>
        <p:spPr>
          <a:xfrm>
            <a:off x="566928" y="658368"/>
            <a:ext cx="11045952" cy="5486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/>
      </p:sp>
      <p:sp>
        <p:nvSpPr>
          <p:cNvPr id="5" name="Text 5"/>
          <p:cNvSpPr txBox="1"/>
          <p:nvPr/>
        </p:nvSpPr>
        <p:spPr>
          <a:xfrm>
            <a:off x="566928" y="804672"/>
            <a:ext cx="10058400" cy="53035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2400" b="1" dirty="0">
                <a:solidFill>
                  <a:srgbClr val="0A0A0F"/>
                </a:solidFill>
                <a:latin typeface="Helvetica"/>
              </a:rPr>
              <a:t>So werden die Master-Folien im Arbeitsalltag genutzt</a:t>
            </a:r>
            <a:endParaRPr lang="de-DE" sz="24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6" name="Footer rule 6"/>
          <p:cNvSpPr/>
          <p:nvPr/>
        </p:nvSpPr>
        <p:spPr>
          <a:xfrm>
            <a:off x="566928" y="6419088"/>
            <a:ext cx="11045952" cy="5486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/>
      </p:sp>
      <p:sp>
        <p:nvSpPr>
          <p:cNvPr id="7" name="Text 7"/>
          <p:cNvSpPr txBox="1"/>
          <p:nvPr/>
        </p:nvSpPr>
        <p:spPr>
          <a:xfrm>
            <a:off x="566928" y="6510528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680" dirty="0">
                <a:solidFill>
                  <a:srgbClr val="9B9BA8"/>
                </a:solidFill>
                <a:latin typeface="Courier"/>
              </a:rPr>
              <a:t>CAREVO VC / CONSULTING TEMPLATE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8" name="Text 8"/>
          <p:cNvSpPr txBox="1"/>
          <p:nvPr/>
        </p:nvSpPr>
        <p:spPr>
          <a:xfrm>
            <a:off x="4572000" y="6510528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680" dirty="0">
                <a:solidFill>
                  <a:srgbClr val="9B9BA8"/>
                </a:solidFill>
                <a:latin typeface="Courier"/>
              </a:rPr>
              <a:t>CONFIDENTIAL - TEMPLATE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9" name="Text 9"/>
          <p:cNvSpPr txBox="1"/>
          <p:nvPr/>
        </p:nvSpPr>
        <p:spPr>
          <a:xfrm>
            <a:off x="11018520" y="6510528"/>
            <a:ext cx="59436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r"/>
            <a:r>
              <a:rPr lang="de-DE" sz="680" dirty="0">
                <a:solidFill>
                  <a:srgbClr val="9B9BA8"/>
                </a:solidFill>
                <a:latin typeface="Courier"/>
              </a:rPr>
              <a:t>38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10" name="Shape 10"/>
          <p:cNvSpPr/>
          <p:nvPr/>
        </p:nvSpPr>
        <p:spPr>
          <a:xfrm>
            <a:off x="822960" y="1691640"/>
            <a:ext cx="448056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11" name="Text 11"/>
          <p:cNvSpPr txBox="1"/>
          <p:nvPr/>
        </p:nvSpPr>
        <p:spPr>
          <a:xfrm>
            <a:off x="1051560" y="1938528"/>
            <a:ext cx="4023360" cy="21945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1500" b="1" dirty="0">
                <a:solidFill>
                  <a:srgbClr val="0A0A0F"/>
                </a:solidFill>
                <a:latin typeface="Helvetica"/>
              </a:rPr>
              <a:t>Do</a:t>
            </a:r>
            <a:endParaRPr lang="de-DE" sz="15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12" name="Bullets 12"/>
          <p:cNvSpPr txBox="1"/>
          <p:nvPr/>
        </p:nvSpPr>
        <p:spPr>
          <a:xfrm>
            <a:off x="1051560" y="2359152"/>
            <a:ext cx="3657600" cy="12344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" rIns="9144" tIns="9144" bIns="9144"/>
          <a:lstStyle/>
          <a:p>
            <a:pPr algn="l" marL="171450" indent="-114300">
              <a:buChar char="•"/>
            </a:pPr>
            <a:r>
              <a:rPr lang="de-DE" sz="950" dirty="0">
                <a:solidFill>
                  <a:srgbClr val="4A4A4F"/>
                </a:solidFill>
                <a:latin typeface="Helvetica"/>
              </a:rPr>
              <a:t>Takeaway-Headlines schreiben.</a:t>
            </a:r>
            <a:endParaRPr lang="de-DE" sz="950" dirty="0">
              <a:solidFill>
                <a:srgbClr val="4A4A4F"/>
              </a:solidFill>
              <a:latin typeface="Helvetica"/>
            </a:endParaRPr>
          </a:p>
          <a:p>
            <a:pPr algn="l" marL="171450" indent="-114300">
              <a:buChar char="•"/>
            </a:pPr>
            <a:r>
              <a:rPr lang="de-DE" sz="950" dirty="0">
                <a:solidFill>
                  <a:srgbClr val="4A4A4F"/>
                </a:solidFill>
                <a:latin typeface="Helvetica"/>
              </a:rPr>
              <a:t>Nur CAREVO Farben nutzen.</a:t>
            </a:r>
            <a:endParaRPr lang="de-DE" sz="950" dirty="0">
              <a:solidFill>
                <a:srgbClr val="4A4A4F"/>
              </a:solidFill>
              <a:latin typeface="Helvetica"/>
            </a:endParaRPr>
          </a:p>
          <a:p>
            <a:pPr algn="l" marL="171450" indent="-114300">
              <a:buChar char="•"/>
            </a:pPr>
            <a:r>
              <a:rPr lang="de-DE" sz="950" dirty="0">
                <a:solidFill>
                  <a:srgbClr val="4A4A4F"/>
                </a:solidFill>
                <a:latin typeface="Helvetica"/>
              </a:rPr>
              <a:t>Fussnoten und Quellen sauber platzieren.</a:t>
            </a:r>
            <a:endParaRPr lang="de-DE" sz="950" dirty="0">
              <a:solidFill>
                <a:srgbClr val="4A4A4F"/>
              </a:solidFill>
              <a:latin typeface="Helvetica"/>
            </a:endParaRPr>
          </a:p>
          <a:p>
            <a:pPr algn="l" marL="171450" indent="-114300">
              <a:buChar char="•"/>
            </a:pPr>
            <a:r>
              <a:rPr lang="de-DE" sz="950" dirty="0">
                <a:solidFill>
                  <a:srgbClr val="4A4A4F"/>
                </a:solidFill>
                <a:latin typeface="Helvetica"/>
              </a:rPr>
              <a:t>Tabellen klar statt dekorativ bauen.</a:t>
            </a:r>
            <a:endParaRPr lang="de-DE" sz="95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13" name="Shape 13"/>
          <p:cNvSpPr/>
          <p:nvPr/>
        </p:nvSpPr>
        <p:spPr>
          <a:xfrm>
            <a:off x="5715000" y="1691640"/>
            <a:ext cx="448056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</a:ln>
        </p:spPr>
        <p:style/>
      </p:sp>
      <p:sp>
        <p:nvSpPr>
          <p:cNvPr id="14" name="Text 14"/>
          <p:cNvSpPr txBox="1"/>
          <p:nvPr/>
        </p:nvSpPr>
        <p:spPr>
          <a:xfrm>
            <a:off x="5943600" y="1938528"/>
            <a:ext cx="4023360" cy="21945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1500" b="1" dirty="0">
                <a:solidFill>
                  <a:srgbClr val="0A0A0F"/>
                </a:solidFill>
                <a:latin typeface="Helvetica"/>
              </a:rPr>
              <a:t>Do not</a:t>
            </a:r>
            <a:endParaRPr lang="de-DE" sz="1500" dirty="0">
              <a:solidFill>
                <a:srgbClr val="0A0A0F"/>
              </a:solidFill>
              <a:latin typeface="Helvetica"/>
            </a:endParaRPr>
          </a:p>
        </p:txBody>
      </p:sp>
      <p:sp>
        <p:nvSpPr>
          <p:cNvPr id="15" name="Bullets 15"/>
          <p:cNvSpPr txBox="1"/>
          <p:nvPr/>
        </p:nvSpPr>
        <p:spPr>
          <a:xfrm>
            <a:off x="5943600" y="2359152"/>
            <a:ext cx="3657600" cy="12344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9144" rIns="9144" tIns="9144" bIns="9144"/>
          <a:lstStyle/>
          <a:p>
            <a:pPr algn="l" marL="171450" indent="-114300">
              <a:buChar char="•"/>
            </a:pPr>
            <a:r>
              <a:rPr lang="de-DE" sz="950" dirty="0">
                <a:solidFill>
                  <a:srgbClr val="4A4A4F"/>
                </a:solidFill>
                <a:latin typeface="Helvetica"/>
              </a:rPr>
              <a:t>Keine Gradients oder Schmuckformen.</a:t>
            </a:r>
            <a:endParaRPr lang="de-DE" sz="950" dirty="0">
              <a:solidFill>
                <a:srgbClr val="4A4A4F"/>
              </a:solidFill>
              <a:latin typeface="Helvetica"/>
            </a:endParaRPr>
          </a:p>
          <a:p>
            <a:pPr algn="l" marL="171450" indent="-114300">
              <a:buChar char="•"/>
            </a:pPr>
            <a:r>
              <a:rPr lang="de-DE" sz="950" dirty="0">
                <a:solidFill>
                  <a:srgbClr val="4A4A4F"/>
                </a:solidFill>
                <a:latin typeface="Helvetica"/>
              </a:rPr>
              <a:t>Keine bunten Ersatzpaletten.</a:t>
            </a:r>
            <a:endParaRPr lang="de-DE" sz="950" dirty="0">
              <a:solidFill>
                <a:srgbClr val="4A4A4F"/>
              </a:solidFill>
              <a:latin typeface="Helvetica"/>
            </a:endParaRPr>
          </a:p>
          <a:p>
            <a:pPr algn="l" marL="171450" indent="-114300">
              <a:buChar char="•"/>
            </a:pPr>
            <a:r>
              <a:rPr lang="de-DE" sz="950" dirty="0">
                <a:solidFill>
                  <a:srgbClr val="4A4A4F"/>
                </a:solidFill>
                <a:latin typeface="Helvetica"/>
              </a:rPr>
              <a:t>Keine Stock-Foto-Aesthetik.</a:t>
            </a:r>
            <a:endParaRPr lang="de-DE" sz="950" dirty="0">
              <a:solidFill>
                <a:srgbClr val="4A4A4F"/>
              </a:solidFill>
              <a:latin typeface="Helvetica"/>
            </a:endParaRPr>
          </a:p>
          <a:p>
            <a:pPr algn="l" marL="171450" indent="-114300">
              <a:buChar char="•"/>
            </a:pPr>
            <a:r>
              <a:rPr lang="de-DE" sz="950" dirty="0">
                <a:solidFill>
                  <a:srgbClr val="4A4A4F"/>
                </a:solidFill>
                <a:latin typeface="Helvetica"/>
              </a:rPr>
              <a:t>Keine unklaren AI-Claims ohne Reviewbezug.</a:t>
            </a:r>
            <a:endParaRPr lang="de-DE" sz="950" dirty="0">
              <a:solidFill>
                <a:srgbClr val="4A4A4F"/>
              </a:solidFill>
              <a:latin typeface="Helvetica"/>
            </a:endParaRPr>
          </a:p>
        </p:txBody>
      </p:sp>
      <p:sp>
        <p:nvSpPr>
          <p:cNvPr id="16" name="Shape 16"/>
          <p:cNvSpPr/>
          <p:nvPr/>
        </p:nvSpPr>
        <p:spPr>
          <a:xfrm>
            <a:off x="822960" y="5074920"/>
            <a:ext cx="9372600" cy="402336"/>
          </a:xfrm>
          <a:prstGeom prst="rect">
            <a:avLst/>
          </a:prstGeom>
          <a:solidFill>
            <a:srgbClr val="F4F4F6"/>
          </a:solidFill>
          <a:ln w="6350">
            <a:solidFill>
              <a:srgbClr val="E8E8EC"/>
            </a:solidFill>
          </a:ln>
        </p:spPr>
        <p:style/>
      </p:sp>
      <p:sp>
        <p:nvSpPr>
          <p:cNvPr id="17" name="Text 17"/>
          <p:cNvSpPr txBox="1"/>
          <p:nvPr/>
        </p:nvSpPr>
        <p:spPr>
          <a:xfrm>
            <a:off x="1060704" y="5193792"/>
            <a:ext cx="8869680" cy="12801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800" dirty="0">
                <a:solidFill>
                  <a:srgbClr val="4A4A4F"/>
                </a:solidFill>
                <a:latin typeface="Courier"/>
              </a:rPr>
              <a:t>Die Layouts sind in PowerPoint als Slide Layouts abgelegt und koennen fuer neue Folien genutzt werden.</a:t>
            </a:r>
            <a:endParaRPr lang="de-DE" sz="800" dirty="0">
              <a:solidFill>
                <a:srgbClr val="4A4A4F"/>
              </a:solidFill>
              <a:latin typeface="Courier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losing"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3" name="Text 3"/>
          <p:cNvSpPr txBox="1"/>
          <p:nvPr/>
        </p:nvSpPr>
        <p:spPr>
          <a:xfrm>
            <a:off x="749808" y="630936"/>
            <a:ext cx="219456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2000" b="1" dirty="0">
                <a:solidFill>
                  <a:srgbClr val="1E6B72"/>
                </a:solidFill>
                <a:latin typeface="Helvetica"/>
              </a:rPr>
              <a:t>C</a:t>
            </a:r>
            <a:endParaRPr lang="de-DE" sz="2000" dirty="0">
              <a:solidFill>
                <a:srgbClr val="1E6B72"/>
              </a:solidFill>
              <a:latin typeface="Helvetica"/>
            </a:endParaRPr>
          </a:p>
        </p:txBody>
      </p:sp>
      <p:sp>
        <p:nvSpPr>
          <p:cNvPr id="4" name="Text 4"/>
          <p:cNvSpPr txBox="1"/>
          <p:nvPr/>
        </p:nvSpPr>
        <p:spPr>
          <a:xfrm>
            <a:off x="1060704" y="65836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1200" b="1" dirty="0">
                <a:solidFill>
                  <a:srgbClr val="FFFFFF"/>
                </a:solidFill>
                <a:latin typeface="Helvetica"/>
              </a:rPr>
              <a:t>CAREVO</a:t>
            </a:r>
            <a:endParaRPr lang="de-DE" sz="1200" dirty="0">
              <a:solidFill>
                <a:srgbClr val="FFFFFF"/>
              </a:solidFill>
              <a:latin typeface="Helvetica"/>
            </a:endParaRPr>
          </a:p>
        </p:txBody>
      </p:sp>
      <p:sp>
        <p:nvSpPr>
          <p:cNvPr id="5" name="Text 5"/>
          <p:cNvSpPr txBox="1"/>
          <p:nvPr/>
        </p:nvSpPr>
        <p:spPr>
          <a:xfrm>
            <a:off x="1060704" y="832104"/>
            <a:ext cx="2011680" cy="14630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580" dirty="0">
                <a:solidFill>
                  <a:srgbClr val="9B9BA8"/>
                </a:solidFill>
                <a:latin typeface="Helvetica"/>
              </a:rPr>
              <a:t>Dokumentation fuer Pflege und Versorgung</a:t>
            </a:r>
            <a:endParaRPr lang="de-DE" sz="580" dirty="0">
              <a:solidFill>
                <a:srgbClr val="9B9BA8"/>
              </a:solidFill>
              <a:latin typeface="Helvetica"/>
            </a:endParaRPr>
          </a:p>
        </p:txBody>
      </p:sp>
      <p:sp>
        <p:nvSpPr>
          <p:cNvPr id="6" name="Text 6"/>
          <p:cNvSpPr txBox="1"/>
          <p:nvPr/>
        </p:nvSpPr>
        <p:spPr>
          <a:xfrm>
            <a:off x="749808" y="1874520"/>
            <a:ext cx="7498080" cy="13716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4200" b="1" dirty="0">
                <a:solidFill>
                  <a:srgbClr val="FFFFFF"/>
                </a:solidFill>
                <a:latin typeface="Helvetica"/>
              </a:rPr>
              <a:t>Ruhig im Auftritt.</a:t>
            </a:r>
            <a:endParaRPr lang="de-DE" sz="4200" dirty="0">
              <a:solidFill>
                <a:srgbClr val="FFFFFF"/>
              </a:solidFill>
              <a:latin typeface="Helvetica"/>
            </a:endParaRPr>
          </a:p>
          <a:p>
            <a:pPr algn="l"/>
            <a:r>
              <a:rPr lang="de-DE" sz="4200" b="1" dirty="0">
                <a:solidFill>
                  <a:srgbClr val="FFFFFF"/>
                </a:solidFill>
                <a:latin typeface="Helvetica"/>
              </a:rPr>
              <a:t>Klar in der Verantwortung.</a:t>
            </a:r>
            <a:endParaRPr lang="de-DE" sz="4200" dirty="0">
              <a:solidFill>
                <a:srgbClr val="FFFFFF"/>
              </a:solidFill>
              <a:latin typeface="Helvetica"/>
            </a:endParaRPr>
          </a:p>
        </p:txBody>
      </p:sp>
      <p:sp>
        <p:nvSpPr>
          <p:cNvPr id="7" name="Shape 7"/>
          <p:cNvSpPr/>
          <p:nvPr/>
        </p:nvSpPr>
        <p:spPr>
          <a:xfrm>
            <a:off x="749808" y="4078224"/>
            <a:ext cx="4069080" cy="18288"/>
          </a:xfrm>
          <a:prstGeom prst="rect">
            <a:avLst/>
          </a:prstGeom>
          <a:solidFill>
            <a:srgbClr val="1E6B72"/>
          </a:solidFill>
          <a:ln>
            <a:noFill/>
          </a:ln>
        </p:spPr>
        <p:style/>
      </p:sp>
      <p:sp>
        <p:nvSpPr>
          <p:cNvPr id="8" name="Text 8"/>
          <p:cNvSpPr txBox="1"/>
          <p:nvPr/>
        </p:nvSpPr>
        <p:spPr>
          <a:xfrm>
            <a:off x="749808" y="4462272"/>
            <a:ext cx="603504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1350" dirty="0">
                <a:solidFill>
                  <a:srgbClr val="9B9BA8"/>
                </a:solidFill>
                <a:latin typeface="Helvetica"/>
              </a:rPr>
              <a:t>CAREVO wurde nicht fuer Demos entworfen, sondern fuer Fachkraefte, die jeden Tag unter Dokumentationslast arbeiten.</a:t>
            </a:r>
            <a:endParaRPr lang="de-DE" sz="1350" dirty="0">
              <a:solidFill>
                <a:srgbClr val="9B9BA8"/>
              </a:solidFill>
              <a:latin typeface="Helvetica"/>
            </a:endParaRPr>
          </a:p>
        </p:txBody>
      </p:sp>
      <p:sp>
        <p:nvSpPr>
          <p:cNvPr id="9" name="Footer rule 9"/>
          <p:cNvSpPr/>
          <p:nvPr/>
        </p:nvSpPr>
        <p:spPr>
          <a:xfrm>
            <a:off x="566928" y="6419088"/>
            <a:ext cx="11045952" cy="5486"/>
          </a:xfrm>
          <a:prstGeom prst="rect">
            <a:avLst/>
          </a:prstGeom>
          <a:solidFill>
            <a:srgbClr val="4A4A4F"/>
          </a:solidFill>
          <a:ln>
            <a:noFill/>
          </a:ln>
        </p:spPr>
        <p:style/>
      </p:sp>
      <p:sp>
        <p:nvSpPr>
          <p:cNvPr id="10" name="Text 10"/>
          <p:cNvSpPr txBox="1"/>
          <p:nvPr/>
        </p:nvSpPr>
        <p:spPr>
          <a:xfrm>
            <a:off x="566928" y="6510528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l"/>
            <a:r>
              <a:rPr lang="de-DE" sz="680" dirty="0">
                <a:solidFill>
                  <a:srgbClr val="9B9BA8"/>
                </a:solidFill>
                <a:latin typeface="Courier"/>
              </a:rPr>
              <a:t>CAREVO VC / CONSULTING TEMPLATE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11" name="Text 11"/>
          <p:cNvSpPr txBox="1"/>
          <p:nvPr/>
        </p:nvSpPr>
        <p:spPr>
          <a:xfrm>
            <a:off x="4572000" y="6510528"/>
            <a:ext cx="384048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ctr"/>
            <a:r>
              <a:rPr lang="de-DE" sz="680" dirty="0">
                <a:solidFill>
                  <a:srgbClr val="9B9BA8"/>
                </a:solidFill>
                <a:latin typeface="Courier"/>
              </a:rPr>
              <a:t>CONFIDENTIAL - TEMPLATE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  <p:sp>
        <p:nvSpPr>
          <p:cNvPr id="12" name="Text 12"/>
          <p:cNvSpPr txBox="1"/>
          <p:nvPr/>
        </p:nvSpPr>
        <p:spPr>
          <a:xfrm>
            <a:off x="11018520" y="6510528"/>
            <a:ext cx="59436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lIns="18288" rIns="18288" tIns="18288" bIns="18288"/>
          <a:lstStyle/>
          <a:p>
            <a:pPr algn="r"/>
            <a:r>
              <a:rPr lang="de-DE" sz="680" dirty="0">
                <a:solidFill>
                  <a:srgbClr val="9B9BA8"/>
                </a:solidFill>
                <a:latin typeface="Courier"/>
              </a:rPr>
              <a:t>39</a:t>
            </a:r>
            <a:endParaRPr lang="de-DE" sz="680" dirty="0">
              <a:solidFill>
                <a:srgbClr val="9B9BA8"/>
              </a:solidFill>
              <a:latin typeface="Couri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REVO VC Consulting Theme">
  <a:themeElements>
    <a:clrScheme name="CAREVO">
      <a:dk1>
        <a:srgbClr val="0A0A0F"/>
      </a:dk1>
      <a:lt1>
        <a:srgbClr val="FFFFFF"/>
      </a:lt1>
      <a:dk2>
        <a:srgbClr val="4A4A4F"/>
      </a:dk2>
      <a:lt2>
        <a:srgbClr val="F4F4F6"/>
      </a:lt2>
      <a:accent1>
        <a:srgbClr val="1E6B72"/>
      </a:accent1>
      <a:accent2>
        <a:srgbClr val="9B9BA8"/>
      </a:accent2>
      <a:accent3>
        <a:srgbClr val="E8E8EC"/>
      </a:accent3>
      <a:accent4>
        <a:srgbClr val="CC2929"/>
      </a:accent4>
      <a:accent5>
        <a:srgbClr val="0A0A0F"/>
      </a:accent5>
      <a:accent6>
        <a:srgbClr val="4A4A4F"/>
      </a:accent6>
      <a:hlink>
        <a:srgbClr val="1E6B72"/>
      </a:hlink>
      <a:folHlink>
        <a:srgbClr val="4A4A4F"/>
      </a:folHlink>
    </a:clrScheme>
    <a:fontScheme name="CAREVO Fonts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CAREVO Forma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DocSecurity>0</DocSecurity>
  <ScaleCrop>false</ScaleCrop>
  <Slides>39</Slides>
  <HeadingPairs>
    <vt:vector size="2" baseType="variant">
      <vt:variant>
        <vt:lpstr>Theme</vt:lpstr>
      </vt:variant>
      <vt:variant>
        <vt:i4>1</vt:i4>
      </vt:variant>
    </vt:vector>
  </HeadingPairs>
  <TitlesOfParts>
    <vt:vector size="1" baseType="lpstr">
      <vt:lpstr>CAREVO VC Consulting Theme</vt:lpstr>
    </vt:vector>
  </TitlesOfParts>
  <Company>CAREVO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CAREVO VC and Consulting Style PowerPoint Template</dc:title>
  <dc:subject>CAREVO brand-based VC / board template</dc:subject>
  <dc:creator>Codex</dc:creator>
  <cp:keywords>CAREVO; VC; Consulting; PowerPoint; Template; Slide Master</cp:keywords>
  <dc:description>Built from local CAREVO design files: brand guide, design philosophy, UI spec, CSS and Tailwind tokens.</dc:description>
  <cp:lastModifiedBy>Codex</cp:lastModifiedBy>
  <dcterms:created xsi:type="dcterms:W3CDTF">2026-05-05T18:47:32Z</dcterms:created>
  <dcterms:modified xsi:type="dcterms:W3CDTF">2026-05-05T18:47:32Z</dcterms:modified>
</cp:coreProperties>
</file>